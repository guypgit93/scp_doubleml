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71" r:id="rId11"/>
    <p:sldId id="266" r:id="rId12"/>
    <p:sldId id="265" r:id="rId13"/>
    <p:sldId id="272" r:id="rId14"/>
    <p:sldId id="267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321150"/>
    <a:srgbClr val="111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1295"/>
  </p:normalViewPr>
  <p:slideViewPr>
    <p:cSldViewPr snapToGrid="0" snapToObjects="1">
      <p:cViewPr>
        <p:scale>
          <a:sx n="160" d="100"/>
          <a:sy n="160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0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20 minutes. No completed work required — I'll cover: the question and why it matters, data, methodology, initial descriptives, next steps, and anticipated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gap: Stewart et al. (CASE 2025) found 8-9pp reduction in composite material deprivation. But composite scores mask which items drive the effect. And their linear controls can't capture non-linear relationships between income, family structure and deprivation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staggered rollout is important: the 2021 introduction (under-6s) and 2022 expansion (under-16s) create two treatment cohorts. My main analysis focuses on the 2022 expansion since it's more substantial and affects the full child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I'm filling: Stewart et al. is the closest paper, but uses linear controls and a composite outcome. No paper combines DML with DiD for UK child deprivation, and no paper decomposes SCP effects across individual deprivation items.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Evaluations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GB" sz="1200" dirty="0"/>
              <a:t>Scottish Government (2024): Five Family Payments evaluation — positive self-reported impacts on food insecurity and material deprivation. Perception-based; explicitly calls for objective causal evidence.</a:t>
            </a:r>
            <a:endParaRPr lang="en-US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Stewart et al. (CASE, 2025):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HBAI data — 8–9pp reduction in composite MDCH and food insecurity. Linear controls.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Nesom, Stewart &amp;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Tominey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(IFS, 2025):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FRS data — SCP did not reduce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supply. Confirms policy operates as intended; no cliff-edge effect for most families.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study decomposes effects by deprivation item or tests robustness to flexible covariate adjustment.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Measurement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Townsend (1979): Poverty as relative deprivation — inability to participate in society’s customary activities. Motivates MDCH items beyond income.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Almada, McCarthy &amp;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Tchernis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(2015): Benefit misreporting biases treatment effects — IV estimates exceed nonparametric bounds by 200%+ when misreporting ignored.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Manski (1990): Nonparametric bounds on treatment effects — partial identification when classical ME assumptions fail; frames our robustness checks.</a:t>
            </a:r>
            <a:endParaRPr lang="en-US" sz="1200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 et al. (2023): Synthesis of modern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staggered adoption, conditional parallel trends, pre-testing caution. The methodological landscape for this paper.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Sant’Anna &amp; Zhao (2020): Doubly robust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combines outcome regression and IPW under conditional parallel trends. Direct foundation for our DML extension.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Chernozhukov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(2018) + Chang (2020): DML-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valid inference under flexible ML adjustment.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ethnicity is NOT available in UKDS public-access HBAI (safe room only). The CASE paper included ethnicity as a control — this is a limitation I acknowledge. S_OE_AHC and the family type/tenure variables need to be added to the prep script before the DML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recoding fix was important — the raw TAB file codes 1=has item (not deprived) and 2=lacks item (deprived), opposite to what the original script assumed. Prevalence rates will be shown once the corrected script has been run. Official HBAI stats suggest ~15% material deprivation for all UK children, higher for low-income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Scotland is notably smaller than England — important for power calculations in the DML stage. The 2022/23 England figure is larger due to survey design changes that year. The MDCH module ~99k is the subset with full deprivation data (not all children are asked all items depending on year and eligibility).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stages build on each other. Stage 1 validates. Stage 2 tests robustness of Stage 1 to flexible adjustment. Stage 3 is where the original policy insight comes from — no existing paper has done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parallel trends assumption is the key one to verify. The pre-2022 years are 2016/17, 2017/18, 2018/19, 2019/20 and 2021/22. We have 5 pre-treatment years to test this. Best Start Foods (Scotland only, introduced 2019) is a potential confounder — it provides food vouchers to low-income families, which could affect both food security and material deprivation trends independently of SCP.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CASE paper results are our anchor. If our Stage 1 estimate replicates theirs, that validates our data pipeline. The key question then is whether Stage 2 (DML) differs and what the item-level decomposition shows. Scripts need to be run to fill in TBC cells — priority for the next two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 of DML: by partialling out the effect of X on both Y and D before estimating the treatment effect, we remove confounding from X regardless of how complex that relationship is. The cross-fitting prevents overfitting bias. With ~99k observations and 5 folds, each fold has ~20k — adequate for ML learners with our covariate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substantive issue is the staggered rollout — do I use just the 2022 expansion (cleaner but loses 2021 variation) or try to use both cohorts (more complex, needs Callaway-Sant'Anna)? My plan is to use 2022 as the main analysis and have the staggered version as a robustness check if time allows.</a:t>
            </a:r>
          </a:p>
          <a:p>
            <a:r>
              <a:rPr lang="en-US" dirty="0"/>
              <a:t>I've upgraded the fourth card to "Moderate" risk because the pre-treatment diagnostics (previous slide) turned up real pre-existing divergence on most covariates. I'm treating it as a known limitation rather than a fatal flaw: the covariate-adjusted specification is my preferred estimate for exactly this reason, and the small-sample power caveat is a legitimate, literature-grounded response to a reviewer who pushes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emphasising: (1) the data is clean and ready to run, (2) the methodology is established and well-referenced, (3) the contribution is clear and differentiated from the existing literature. The item-level decomposition is the genuinely new thing — no existing paper has asked which deprivation dimensions £25/week affects.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9333C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5943600"/>
            <a:ext cx="2286000" cy="2286000"/>
          </a:xfrm>
          <a:prstGeom prst="ellipse">
            <a:avLst/>
          </a:prstGeom>
          <a:solidFill>
            <a:srgbClr val="F5A623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Dimensions of Child Deprivation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Scottish Child Payment Reduce?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Double Machine Learning Difference-in-Differences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32004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 Pigott  |  University of Manchester  |  June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HBAI (2016/17–2023/24)  |  Methods: DML-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pays £25/week per child to low-income Scottish families — the largest devolved social security innovation since 2016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GB" sz="1200" dirty="0"/>
              <a:t>Official government evaluation (Scottish Government, 2024) based on self-reported perceptions — explicitly calls for objective causal evidence via data linkage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exist (CASE/LSE 2025) but use composite deprivation outcomes and linear covariate controls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asked: does the choice of hardship measure affect the estimated treatment effect?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932688"/>
            <a:ext cx="3886200" cy="3474720"/>
          </a:xfrm>
          <a:prstGeom prst="roundRect">
            <a:avLst>
              <a:gd name="adj" fmla="val 3158"/>
            </a:avLst>
          </a:prstGeom>
          <a:solidFill>
            <a:srgbClr val="3B006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dimensions of child material deprivation does the Scottish Child Payment reduce, and are these effects robust to flexible covariate adjustment?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contributions: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309067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decomposition of Child Material Deprivation (MDCH – 10 binary indicators)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DML-DiD vs. linear DiD robustness check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error framework: do composite vs. item-level outcomes give systematically different causal estimates?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Background: The Scottish Child Payment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298448"/>
            <a:ext cx="1965960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02920" cy="502920"/>
          </a:xfrm>
          <a:prstGeom prst="ellipse">
            <a:avLst/>
          </a:prstGeom>
          <a:solidFill>
            <a:srgbClr val="933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3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379" y="1623060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2819" y="17419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3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Introduced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819" y="210769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£10/week per child under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&amp; legacy benefits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~100,000 children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298448"/>
            <a:ext cx="1965960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17520" y="1051560"/>
            <a:ext cx="502920" cy="502920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87379" y="1623060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78819" y="17419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to £20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78819" y="210769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doubles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unchanged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965960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0" y="1051560"/>
            <a:ext cx="502920" cy="502920"/>
          </a:xfrm>
          <a:prstGeom prst="ellipse">
            <a:avLst/>
          </a:prstGeom>
          <a:solidFill>
            <a:srgbClr val="3B0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3379" y="1623060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64819" y="17419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Expansion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819" y="210769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all under-16s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to £25/week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 children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05156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69480" y="841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59379" y="1623060"/>
            <a:ext cx="2103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50819" y="17419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£26.70/week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0819" y="210769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Uprated with inflation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 gap vs. England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further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(Currently £27.15)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52044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EDE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63016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identification feature: staggered rollout creates quasi-experimental variation. Scotland (treated) vs. England (control) — same UK macroeconomic environment, same HBAI survey, different treatment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Literature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3B0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51760" cy="155448"/>
          </a:xfrm>
          <a:prstGeom prst="rect">
            <a:avLst/>
          </a:prstGeom>
          <a:solidFill>
            <a:srgbClr val="3B0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Evaluations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" y="1481328"/>
            <a:ext cx="24323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GB" sz="1200" dirty="0"/>
              <a:t>Scottish Government (2024): Five Family Payments evaluation — positive self-reported impacts on food insecurity and material deprivation.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Stewart et al. (CASE, 2025): DiD on HBAI data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Nesom, Stewart &amp; Tominey (IFS, 2025): DiD on FRS data — SCP did not reduce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study decomposes effects by deprivation item or tests robustness to flexible covariate adjustment.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155448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Measurement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4323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Townsend (1979): Motivates material deprivation items beyond income.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Almada, McCarthy &amp; Tchernis (2015): Benefit misreporting biases treatment effects.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Manski (1990): Nonparametric bounds on treatment effects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932688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933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51760" cy="155448"/>
          </a:xfrm>
          <a:prstGeom prst="rect">
            <a:avLst/>
          </a:prstGeom>
          <a:solidFill>
            <a:srgbClr val="933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DiD Methods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0488" y="1481328"/>
            <a:ext cx="24323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 et al. (2023): Synthesis of modern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Sant’Anna &amp; Zhao (2020): Doubly robust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Chernozhukov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(2018) + Chang (2020): DML-DiD for valid inference under flexible ML adjustment.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HBAI Individual Microdata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Coverage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0449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Below Average Income harmonised individual-level microdata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2016/17–2024/25 in constant 2023/24 prices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observation per child — unit of analysis is child-year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weight: GS_INDCH (official HBAI child weight)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0547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Restrictions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0215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 (GVTREGN = 12) and England only — Wales and NI excluded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aged 16 and under (SCP eligibility)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2020/21 excluded — COVID survey disruption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Years: 2016/17 to 2023/24 (7 survey years) – Exclude 2024/25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93268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024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 Indicators (10 binary)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344168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230428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2395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/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715768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FOODSEC (food security, 3-level), LOWINCMDCH (low income + deprivation), mdch_any, mdch_severe</a:t>
            </a:r>
            <a:endParaRPr lang="en-US" sz="10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D57872B-8702-1F5C-F502-813373203300}"/>
              </a:ext>
            </a:extLst>
          </p:cNvPr>
          <p:cNvSpPr/>
          <p:nvPr/>
        </p:nvSpPr>
        <p:spPr>
          <a:xfrm>
            <a:off x="4937760" y="367588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63837D4-0BBE-56BA-302C-F984490CD66F}"/>
              </a:ext>
            </a:extLst>
          </p:cNvPr>
          <p:cNvSpPr/>
          <p:nvPr/>
        </p:nvSpPr>
        <p:spPr>
          <a:xfrm>
            <a:off x="5074920" y="37673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3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Covariates (20)</a:t>
            </a:r>
            <a:endParaRPr lang="en-US" sz="11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2E9B7FD-36FD-E999-DEC4-B2CCD361D421}"/>
              </a:ext>
            </a:extLst>
          </p:cNvPr>
          <p:cNvSpPr/>
          <p:nvPr/>
        </p:nvSpPr>
        <p:spPr>
          <a:xfrm>
            <a:off x="5074920" y="4087368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disability, income, benefits, housing costs &amp; earnings — plus tenure, employment status, region and year fixed effects</a:t>
            </a:r>
            <a:endParaRPr lang="en-US" sz="105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80FAEA5-3C3A-6620-3F05-BE477B7E9CC0}"/>
              </a:ext>
            </a:extLst>
          </p:cNvPr>
          <p:cNvSpPr/>
          <p:nvPr/>
        </p:nvSpPr>
        <p:spPr>
          <a:xfrm>
            <a:off x="5074920" y="125730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basics (bed, coat, school kit), social participation (celebrations, holidays, trips, play) and diet (fruit &amp; veg)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Variables: 10 Binary MDCH Indicators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Material Deprivation Module — HBAI individual files (2010/11–2023/24)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Bed/bedroom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9496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MDCH_BED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87752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97480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6664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15768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MDCH_CEL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64024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73752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02936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coat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MDCH_COAT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0296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50024" y="1280160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79208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equip.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68312" y="1591056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MDCH_EQP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1208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0392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9496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MDCH_HOL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87752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697480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26664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play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15768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MDCH_PLAY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64024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73752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02936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play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MDCH_PLY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40296" y="22677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050024" y="2359152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79208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fruit/veg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68312" y="2670048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MDCH_TEA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" y="3346704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21208" y="3438144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0392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Trips/outings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9496" y="3749040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MDCH_TRP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87752" y="3346704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697480" y="3438144"/>
            <a:ext cx="256032" cy="256032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026664" y="3419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715768" y="3749040"/>
            <a:ext cx="1773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MDCH_VEG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1480" y="4425696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EDE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48640" y="4498848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Coding: 1 = has item → 0 (not deprived)   |   2 = lacks due to cost → 1 (deprived)   |   3 / –9 = N/A → </a:t>
            </a:r>
            <a:r>
              <a:rPr lang="en-US" sz="900" dirty="0" err="1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Statistics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3B006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50,967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Child-year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2016/17–2023/24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2020/21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87752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99,157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87752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 module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7752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full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12-item deprivation data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64024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3B006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6,090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64024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64024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survey years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(treated group)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40296" y="960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0296" y="1078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44,877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40296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0296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survey years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 group)</a:t>
            </a:r>
            <a:endParaRPr lang="en-US" sz="85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A6E06A7-D39F-731C-380D-3DB8FC9A8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723942"/>
              </p:ext>
            </p:extLst>
          </p:nvPr>
        </p:nvGraphicFramePr>
        <p:xfrm>
          <a:off x="1780511" y="2486826"/>
          <a:ext cx="5582977" cy="2594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424">
                  <a:extLst>
                    <a:ext uri="{9D8B030D-6E8A-4147-A177-3AD203B41FA5}">
                      <a16:colId xmlns:a16="http://schemas.microsoft.com/office/drawing/2014/main" val="1479415122"/>
                    </a:ext>
                  </a:extLst>
                </a:gridCol>
                <a:gridCol w="1728632">
                  <a:extLst>
                    <a:ext uri="{9D8B030D-6E8A-4147-A177-3AD203B41FA5}">
                      <a16:colId xmlns:a16="http://schemas.microsoft.com/office/drawing/2014/main" val="309853436"/>
                    </a:ext>
                  </a:extLst>
                </a:gridCol>
                <a:gridCol w="2325921">
                  <a:extLst>
                    <a:ext uri="{9D8B030D-6E8A-4147-A177-3AD203B41FA5}">
                      <a16:colId xmlns:a16="http://schemas.microsoft.com/office/drawing/2014/main" val="2358638400"/>
                    </a:ext>
                  </a:extLst>
                </a:gridCol>
              </a:tblGrid>
              <a:tr h="2542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Characteristic</a:t>
                      </a:r>
                    </a:p>
                  </a:txBody>
                  <a:tcPr marL="12664" marR="12664" marT="12664" marB="12664">
                    <a:solidFill>
                      <a:srgbClr val="3B0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Scotland</a:t>
                      </a:r>
                    </a:p>
                  </a:txBody>
                  <a:tcPr anchor="ctr">
                    <a:solidFill>
                      <a:srgbClr val="3B0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England</a:t>
                      </a:r>
                    </a:p>
                  </a:txBody>
                  <a:tcPr anchor="ctr">
                    <a:solidFill>
                      <a:srgbClr val="3B0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28266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Child material deprivation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0.15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0.205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54285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Food insecure households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0.135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0.151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91477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Larger families (3+ children)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0.252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41559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Lone parent households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0.225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0.224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37511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Young head of household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0.031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0.022</a:t>
                      </a:r>
                    </a:p>
                  </a:txBody>
                  <a:tcPr marL="12664" marR="12664" marT="12664" marB="126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144647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Female head of household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0.427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0.41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6973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Disabled household</a:t>
                      </a:r>
                    </a:p>
                  </a:txBody>
                  <a:tcPr marL="12664" marR="12664" marT="12664" marB="1266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0.365</a:t>
                      </a:r>
                    </a:p>
                  </a:txBody>
                  <a:tcPr marL="12664" marR="12664" marT="12664" marB="1266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0.34</a:t>
                      </a:r>
                    </a:p>
                  </a:txBody>
                  <a:tcPr marL="12664" marR="12664" marT="12664" marB="1266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27253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White households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0.918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0.766</a:t>
                      </a:r>
                    </a:p>
                  </a:txBody>
                  <a:tcPr marL="12664" marR="12664" marT="12664" marB="12664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6637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12664" marR="12664" marT="12664" marB="1266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6090</a:t>
                      </a:r>
                    </a:p>
                  </a:txBody>
                  <a:tcPr marL="12664" marR="12664" marT="12664" marB="1266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44877</a:t>
                      </a:r>
                    </a:p>
                  </a:txBody>
                  <a:tcPr marL="12664" marR="12664" marT="12664" marB="1266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8447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Three-Stage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→ Extension → Decomposition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6072" y="1463040"/>
            <a:ext cx="457200" cy="457200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60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463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10712" y="1463040"/>
            <a:ext cx="457200" cy="457200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1071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59352" y="1463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ML DiD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45352" y="1463040"/>
            <a:ext cx="457200" cy="457200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453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93992" y="1463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Decomposition</a:t>
            </a:r>
            <a:endParaRPr lang="en-US" sz="13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86C3350D-4724-F84E-4CA4-AA8F12B3AE82}"/>
              </a:ext>
            </a:extLst>
          </p:cNvPr>
          <p:cNvSpPr/>
          <p:nvPr/>
        </p:nvSpPr>
        <p:spPr>
          <a:xfrm>
            <a:off x="612648" y="2647189"/>
            <a:ext cx="2286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DiD replicating Stewart et al. (2025) on composite outcomes.</a:t>
            </a:r>
            <a:endParaRPr lang="en-US" sz="11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463A6448-80D1-A88B-F0B6-13C39C718654}"/>
              </a:ext>
            </a:extLst>
          </p:cNvPr>
          <p:cNvSpPr/>
          <p:nvPr/>
        </p:nvSpPr>
        <p:spPr>
          <a:xfrm>
            <a:off x="3447288" y="2647189"/>
            <a:ext cx="2286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outcomes, ML-flexible covariate adjustment (Chang 2020).</a:t>
            </a:r>
            <a:endParaRPr lang="en-US" sz="110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4C2DE95A-45F1-C501-D866-8E37DDF5AB82}"/>
              </a:ext>
            </a:extLst>
          </p:cNvPr>
          <p:cNvSpPr/>
          <p:nvPr/>
        </p:nvSpPr>
        <p:spPr>
          <a:xfrm>
            <a:off x="6080760" y="2080261"/>
            <a:ext cx="2651760" cy="1737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8B7E78D7-FB82-6932-2213-240E255D397C}"/>
              </a:ext>
            </a:extLst>
          </p:cNvPr>
          <p:cNvSpPr/>
          <p:nvPr/>
        </p:nvSpPr>
        <p:spPr>
          <a:xfrm>
            <a:off x="6281928" y="2647189"/>
            <a:ext cx="2286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DML-DiD on each of 12 MDCH items, with FDR correction.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Benchmark DiD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Specification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3B0064"/>
          </a:solidFill>
          <a:ln/>
        </p:spPr>
        <p:txBody>
          <a:bodyPr/>
          <a:lstStyle/>
          <a:p>
            <a:pPr algn="just"/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457200" y="2176272"/>
                <a:ext cx="44805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000" b="1">
                        <a:solidFill>
                          <a:srgbClr val="6600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GB" sz="1000" b="1">
                        <a:solidFill>
                          <a:srgbClr val="6600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treatment effect of interest  |  </a:t>
                </a:r>
                <a:r>
                  <a:rPr lang="en-US" sz="1000" b="1" dirty="0">
                    <a:solidFill>
                      <a:srgbClr val="6600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Post</a:t>
                </a:r>
                <a:r>
                  <a:rPr lang="en-US" sz="10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1 after Nov 2022 expansion  |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000" b="1">
                            <a:solidFill>
                              <a:srgbClr val="660099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GB" sz="1000" b="1">
                            <a:solidFill>
                              <a:srgbClr val="660099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𝑦</m:t>
                        </m:r>
                      </m:e>
                      <m:sub>
                        <m:r>
                          <a:rPr lang="en-GB" sz="1000" b="1">
                            <a:solidFill>
                              <a:srgbClr val="660099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000" b="1" dirty="0">
                    <a:solidFill>
                      <a:srgbClr val="6600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year fixed effects</a:t>
                </a:r>
                <a:endParaRPr lang="en-US" sz="10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76272"/>
                <a:ext cx="4480560" cy="365760"/>
              </a:xfrm>
              <a:prstGeom prst="rect">
                <a:avLst/>
              </a:prstGeom>
              <a:blipFill>
                <a:blip r:embed="rId3"/>
                <a:stretch>
                  <a:fillRect t="-3333" b="-13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457200" y="2606040"/>
                <a:ext cx="448056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b="1" dirty="0">
                    <a:solidFill>
                      <a:srgbClr val="6600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 &amp; Controls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1">
                            <a:solidFill>
                              <a:srgbClr val="660099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 b="1">
                            <a:solidFill>
                              <a:srgbClr val="660099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 b="1">
                            <a:solidFill>
                              <a:srgbClr val="660099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it</m:t>
                        </m:r>
                      </m:sub>
                    </m:sSub>
                  </m:oMath>
                </a14:m>
                <a:r>
                  <a:rPr lang="en-US" sz="1200" b="1" dirty="0">
                    <a:solidFill>
                      <a:srgbClr val="66009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— linear in benchmark:</a:t>
                </a:r>
                <a:endParaRPr lang="en-US" sz="12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06040"/>
                <a:ext cx="4480560" cy="274320"/>
              </a:xfrm>
              <a:prstGeom prst="rect">
                <a:avLst/>
              </a:prstGeom>
              <a:blipFill>
                <a:blip r:embed="rId4"/>
                <a:stretch>
                  <a:fillRect t="-4348" b="-869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304800" y="2680816"/>
            <a:ext cx="44805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Y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any deprivation, deprivation count, severe deprivation, and the official MDCH flag — each modelled separately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family type, tenure, number of children, 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fixed effects — absorb common UK macro shocks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SEs at regional level (Bertrand, Duflo &amp; Mullainathan 2004). Wild Bootstrap used due to low number of clusters.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93268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Assumption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1280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DE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1389888"/>
            <a:ext cx="3291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trends: absent SCP, Scotland and England track together. Testable pre-2022. See next slide.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3090672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AD8FA5-C7E9-D4B3-B231-0304AB97D2DA}"/>
                  </a:ext>
                </a:extLst>
              </p:cNvPr>
              <p:cNvSpPr txBox="1"/>
              <p:nvPr/>
            </p:nvSpPr>
            <p:spPr>
              <a:xfrm>
                <a:off x="411480" y="1481215"/>
                <a:ext cx="4572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smtClean="0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it</m:t>
                          </m:r>
                        </m:sub>
                      </m:sSub>
                      <m: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α</m:t>
                      </m:r>
                      <m: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δ</m:t>
                      </m:r>
                      <m:d>
                        <m:dPr>
                          <m:ctrl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Scotlan</m:t>
                          </m:r>
                          <m:sSub>
                            <m:sSubPr>
                              <m:ctrlPr>
                                <a:rPr lang="en-GB" sz="1600" b="1">
                                  <a:solidFill>
                                    <a:schemeClr val="bg1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 b="1">
                                  <a:solidFill>
                                    <a:schemeClr val="bg1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 b="1">
                                  <a:solidFill>
                                    <a:schemeClr val="bg1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i</m:t>
                              </m:r>
                            </m:sub>
                          </m:sSub>
                          <m: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x</m:t>
                          </m:r>
                          <m: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Pos</m:t>
                          </m:r>
                          <m:sSub>
                            <m:sSubPr>
                              <m:ctrlPr>
                                <a:rPr lang="en-GB" sz="1600" b="1">
                                  <a:solidFill>
                                    <a:schemeClr val="bg1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 b="1">
                                  <a:solidFill>
                                    <a:schemeClr val="bg1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 b="1">
                                  <a:solidFill>
                                    <a:schemeClr val="bg1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β</m:t>
                      </m:r>
                      <m:sSub>
                        <m:sSubPr>
                          <m:ctrl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it</m:t>
                          </m:r>
                        </m:sub>
                      </m:sSub>
                      <m: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t</m:t>
                          </m:r>
                        </m:sub>
                      </m:sSub>
                      <m:r>
                        <a:rPr lang="en-GB" sz="16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1">
                              <a:solidFill>
                                <a:schemeClr val="bg1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m:t>it</m:t>
                          </m:r>
                        </m:sub>
                      </m:sSub>
                    </m:oMath>
                  </m:oMathPara>
                </a14:m>
                <a:endParaRPr lang="en-US" sz="1100" b="1" dirty="0">
                  <a:solidFill>
                    <a:srgbClr val="6600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AD8FA5-C7E9-D4B3-B231-0304AB97D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481215"/>
                <a:ext cx="4572000" cy="338554"/>
              </a:xfrm>
              <a:prstGeom prst="rect">
                <a:avLst/>
              </a:prstGeom>
              <a:blipFill>
                <a:blip r:embed="rId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1">
            <a:extLst>
              <a:ext uri="{FF2B5EF4-FFF2-40B4-BE49-F238E27FC236}">
                <a16:creationId xmlns:a16="http://schemas.microsoft.com/office/drawing/2014/main" id="{478F7CEC-26D4-9C1D-2765-9789D51CA00F}"/>
              </a:ext>
            </a:extLst>
          </p:cNvPr>
          <p:cNvSpPr/>
          <p:nvPr/>
        </p:nvSpPr>
        <p:spPr>
          <a:xfrm>
            <a:off x="5364480" y="2941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Valid Quasi-Experiment</a:t>
            </a:r>
            <a:endParaRPr lang="en-US" sz="11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3687B2C-25FD-FBFC-E103-7B2132E3C6F1}"/>
              </a:ext>
            </a:extLst>
          </p:cNvPr>
          <p:cNvSpPr/>
          <p:nvPr/>
        </p:nvSpPr>
        <p:spPr>
          <a:xfrm>
            <a:off x="5364480" y="3243072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is Scotland-only — England has no equivalent payment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HBAI survey both countries — no measurement discontinuity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rollout (2021, 2022) gives two waves of variation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 Parallel Trends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Caption MDCH Flag"/>
          <p:cNvSpPr/>
          <p:nvPr/>
        </p:nvSpPr>
        <p:spPr>
          <a:xfrm>
            <a:off x="457200" y="900000"/>
            <a:ext cx="39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MDCH: Official DWP flag — Scotland vs. England</a:t>
            </a:r>
            <a:endParaRPr lang="en-US" sz="1000" dirty="0"/>
          </a:p>
        </p:txBody>
      </p:sp>
      <p:pic>
        <p:nvPicPr>
          <p:cNvPr id="5" name="Image MDCH Flag Tr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0" y="1200000"/>
            <a:ext cx="3760000" cy="2350000"/>
          </a:xfrm>
          <a:prstGeom prst="rect">
            <a:avLst/>
          </a:prstGeom>
        </p:spPr>
      </p:pic>
      <p:graphicFrame>
        <p:nvGraphicFramePr>
          <p:cNvPr id="6" name="Coeffici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422582"/>
              </p:ext>
            </p:extLst>
          </p:nvPr>
        </p:nvGraphicFramePr>
        <p:xfrm>
          <a:off x="4607200" y="1145000"/>
          <a:ext cx="4079600" cy="18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Year</a:t>
                      </a:r>
                    </a:p>
                  </a:txBody>
                  <a:tcPr anchor="ctr">
                    <a:solidFill>
                      <a:srgbClr val="3B0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No Controls</a:t>
                      </a:r>
                    </a:p>
                  </a:txBody>
                  <a:tcPr anchor="ctr">
                    <a:solidFill>
                      <a:srgbClr val="3B0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Controls </a:t>
                      </a:r>
                    </a:p>
                  </a:txBody>
                  <a:tcPr anchor="ctr">
                    <a:solidFill>
                      <a:srgbClr val="3B0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2017/18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−0.000 (0.005)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−0.004 (0.006)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2018/19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0.025 (0.017)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0.019 (0.016)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2019/20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660099"/>
                          </a:solidFill>
                          <a:latin typeface="Calibri" pitchFamily="34" charset="0"/>
                        </a:rPr>
                        <a:t>0.038** (0.010)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0.026 (0.012)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2021/22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−0.016 (0.019)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0.002 (0.020)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2022/23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−0.020 (0.016)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−0.019 (0.015)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</a:rPr>
                        <a:t>2023/24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660099"/>
                          </a:solidFill>
                          <a:latin typeface="Calibri" pitchFamily="34" charset="0"/>
                        </a:rPr>
                        <a:t>−0.058** (0.014)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660099"/>
                          </a:solidFill>
                          <a:latin typeface="Calibri" pitchFamily="34" charset="0"/>
                        </a:rPr>
                        <a:t>−0.067*** (0.013)</a:t>
                      </a:r>
                    </a:p>
                  </a:txBody>
                  <a:tcPr anchor="ctr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able Note"/>
          <p:cNvSpPr/>
          <p:nvPr/>
        </p:nvSpPr>
        <p:spPr>
          <a:xfrm>
            <a:off x="4607200" y="3055000"/>
            <a:ext cx="40796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pre-trend Wald test: unadj. p=0.004, adj. p=0.034 (BH-adj. 0.005/0.040) — flagged.</a:t>
            </a:r>
            <a:endParaRPr lang="en-US" sz="800" i="1" dirty="0"/>
          </a:p>
        </p:txBody>
      </p:sp>
      <p:sp>
        <p:nvSpPr>
          <p:cNvPr id="8" name="Mitigation Card BG"/>
          <p:cNvSpPr/>
          <p:nvPr/>
        </p:nvSpPr>
        <p:spPr>
          <a:xfrm>
            <a:off x="457200" y="3650000"/>
            <a:ext cx="8229600" cy="1300000"/>
          </a:xfrm>
          <a:prstGeom prst="roundRect">
            <a:avLst>
              <a:gd name="adj" fmla="val 4000"/>
            </a:avLst>
          </a:prstGeom>
          <a:solidFill>
            <a:srgbClr val="EDE0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Mitigation Title"/>
          <p:cNvSpPr/>
          <p:nvPr/>
        </p:nvSpPr>
        <p:spPr>
          <a:xfrm>
            <a:off x="557200" y="3700000"/>
            <a:ext cx="80296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deal with this</a:t>
            </a:r>
            <a:endParaRPr lang="en-US" sz="1100" dirty="0"/>
          </a:p>
        </p:txBody>
      </p:sp>
      <p:sp>
        <p:nvSpPr>
          <p:cNvPr id="10" name="Mitigation Body"/>
          <p:cNvSpPr/>
          <p:nvPr/>
        </p:nvSpPr>
        <p:spPr>
          <a:xfrm>
            <a:off x="557200" y="3960000"/>
            <a:ext cx="8029600" cy="9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covariates are added, none of the individual pre-2022 year coefficients are significant on their own — only 2024, after the expansion, remains significant in both specifications. The joint test is still marginally flagged (adj. p=0.034, BH-adj. 0.040), a residual caveat rather than a clear violation. We report the adjusted model as preferred (Abadie, 2005), disclose the test rather than hide it, and note ~6,000 Scottish vs ~45,000 English households make these joint tests underpowered by construction (Roth, 2022).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DiD: Initial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1a/1b — unadjusted and covariate-adjusted, year FE, SEs clustered by region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697480"/>
            <a:ext cx="8321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8346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218688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is associated with significant reductions in any deprivation (mdch_any: −5.1pp adjusted) and the official DWP MDCH flag (−5.2pp) — consistent with Stewart et al.’s (CASE 2025) −8 to −9pp range for composite deprivation.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count (mdch_count) also falls significantly, but severe deprivation (3+ items) shows no effect — SCP appears to move families out of mild/moderate deprivation, not severe deprivation.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adjustment increases the mdch_any/mdch_count magnitude but leaves the official flag estimate almost unchanged — controls aren’t simply picking up compositional differences between Scotland and England.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significant effects hold at the 1% level. Sample: N=46,941 (item outcomes), N=50,964 (official flag).</a:t>
            </a:r>
            <a:endParaRPr lang="en-US" sz="11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11480" y="1176020"/>
          <a:ext cx="8321040" cy="13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9144" marB="9144" anchor="ctr">
                    <a:solidFill>
                      <a:srgbClr val="66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Unadjusted</a:t>
                      </a:r>
                    </a:p>
                  </a:txBody>
                  <a:tcPr marL="45720" marR="45720" marT="9144" marB="9144" anchor="ctr">
                    <a:solidFill>
                      <a:srgbClr val="6600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Adjusted (with controls)</a:t>
                      </a:r>
                    </a:p>
                  </a:txBody>
                  <a:tcPr marL="45720" marR="45720" marT="9144" marB="9144" anchor="ctr">
                    <a:solidFill>
                      <a:srgbClr val="66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B0064"/>
                          </a:solidFill>
                          <a:latin typeface="Calibri"/>
                        </a:rPr>
                        <a:t>Any deprivation (mdch_any)</a:t>
                      </a:r>
                    </a:p>
                  </a:txBody>
                  <a:tcPr marL="45720" marR="45720" marT="9144" marB="9144"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−0.0387*** (0.0090)</a:t>
                      </a:r>
                    </a:p>
                  </a:txBody>
                  <a:tcPr marL="45720" marR="45720" marT="9144" marB="9144"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−0.0506*** (0.0095)</a:t>
                      </a:r>
                    </a:p>
                  </a:txBody>
                  <a:tcPr marL="45720" marR="45720" marT="9144" marB="9144" anchor="ctr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B0064"/>
                          </a:solidFill>
                          <a:latin typeface="Calibri"/>
                        </a:rPr>
                        <a:t>Deprivation count (mdch_count)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−0.0613** (0.0207)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−0.0839*** (0.0226)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B0064"/>
                          </a:solidFill>
                          <a:latin typeface="Calibri"/>
                        </a:rPr>
                        <a:t>Severe deprivation (mdch_severe)</a:t>
                      </a:r>
                    </a:p>
                  </a:txBody>
                  <a:tcPr marL="45720" marR="45720" marT="9144" marB="9144"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−0.0002 (0.0053)</a:t>
                      </a:r>
                    </a:p>
                  </a:txBody>
                  <a:tcPr marL="45720" marR="45720" marT="9144" marB="9144" anchor="ctr">
                    <a:solidFill>
                      <a:srgbClr val="EDE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−0.0024 (0.0050)</a:t>
                      </a:r>
                    </a:p>
                  </a:txBody>
                  <a:tcPr marL="45720" marR="45720" marT="9144" marB="9144" anchor="ctr">
                    <a:solidFill>
                      <a:srgbClr val="ED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B0064"/>
                          </a:solidFill>
                          <a:latin typeface="Calibri"/>
                        </a:rPr>
                        <a:t>Official MDCH flag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−0.0480*** (0.0075)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0064"/>
                          </a:solidFill>
                          <a:latin typeface="Calibri"/>
                        </a:rPr>
                        <a:t>−0.0516*** (0.0075)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Double Machine Learning DiD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DML over linear DiD?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controls assume additive, separable effects — likely wrong for income × family type interactions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estimates nuisance functions f(X) and g(X) flexibly using ML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inference despite using ML: Neyman orthogonality + cross-fitting eliminate regularisation bias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comparable to Stage 1 — same data, same outcome, different adjustment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(2020); Sant’Anna &amp; Zhao (2020) doubly-robust extension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R doubleml package (Bach et al. 2022)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92040" y="932688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0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(Chang 2020 DML-DiD)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298448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3B0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1453896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453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0064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6642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folds for cross-fitting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219456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EDE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0" y="2350008"/>
            <a:ext cx="411480" cy="411480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out outcome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25603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Ỹ = Y − f̂(X)  lasso + random forest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090672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3B0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324612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0064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3182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out treatment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4564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D̃ = D − ĝ(X)  same learners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986784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EDE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4142232"/>
            <a:ext cx="411480" cy="411480"/>
          </a:xfrm>
          <a:prstGeom prst="ellipse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40782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43525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of Ỹ on D̃ — yields orthogonal, low-bias ATT estimate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Item-Level Decomposition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2651760" cy="320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3B00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51760" cy="155448"/>
          </a:xfrm>
          <a:prstGeom prst="rect">
            <a:avLst/>
          </a:prstGeom>
          <a:solidFill>
            <a:srgbClr val="3B00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Item-Level?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481328"/>
            <a:ext cx="2432304" cy="242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the research question: does SCP reduce every dimension of deprivation, or concentrate on some?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outcomes (Stages 1–2) can mask effects that differ item by item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DML-DiD re-estimated separately for each of the 10 MDCH items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651760" cy="320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4612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600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155448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3756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Multiple-Testing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432304" cy="242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simultaneous item-level tests, not one confirmatory test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≈0.6 false positives expected by chance alone at 5%, uncorrected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across items needs a false-discovery-rate control, not a flat per-test threshold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932688"/>
            <a:ext cx="2651760" cy="320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080760" y="9326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9333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51760" cy="155448"/>
          </a:xfrm>
          <a:prstGeom prst="rect">
            <a:avLst/>
          </a:prstGeom>
          <a:solidFill>
            <a:srgbClr val="9333C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7220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BH-FDR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1481328"/>
            <a:ext cx="2432304" cy="242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Benjamini-Hochberg: rank the 10 item p-values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significant only if p ≤ (rank / 10) × α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expected share of false discoveries across the whole screen — the right error rate for discovery, not a single pre-registered test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232688"/>
            <a:ext cx="8321040" cy="800000"/>
          </a:xfrm>
          <a:prstGeom prst="roundRect">
            <a:avLst>
              <a:gd name="adj" fmla="val 5797"/>
            </a:avLst>
          </a:prstGeom>
          <a:solidFill>
            <a:srgbClr val="EDE0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lens — measurement error: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 partly cancel measurement noise by averaging; item-level results don't. If effects appear on objective items (coat, bed) but not subjective ones (food security), that may reflect a reporting-behaviour "awareness effect" (Meyer et al. 2015) rather than only real hardship change — this design can't confirm that story on its own.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Issues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4241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63040" y="1024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&amp; Best Start Foods bundling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408176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becomes automatic alongside SCP from Nov 2022. Fix: restrict sample to ages 6–15, outside BSG/Best Start Foods eligibility.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46320" y="104241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6600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46320" y="10424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0" y="1024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rollout (2021 vs 2022)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1408176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under-6s already treated before Nov 2022, contaminating the pre-period. Fix: restrict to ages 6–15; Callaway-Sant’Anna explored as an extension.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5292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2944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MDCH question revision in 2023/24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" y="3328416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DWP revised MDCH questions in 2023/24 — verified non-differential across countries (χ²=0.84, p=0.36), but shrinks the FYE2024 item-level sample.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5292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846320" y="29626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6600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46320" y="2962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60720" y="2944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 &amp; labour market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3328416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 (12 items): addressed via BH-FDR correction.</a:t>
            </a:r>
            <a:endParaRPr lang="en-US" sz="95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market: UC-exit effects — no aggregate effect found (Nesom et al. 2025).</a:t>
            </a:r>
            <a:endParaRPr lang="en-US" sz="950" dirty="0"/>
          </a:p>
          <a:p>
            <a:pPr marL="228600" indent="-2286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Pre-trends: some covariates diverge pre-2022 — addressed via covariate adjustment.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B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9333C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5486400"/>
            <a:ext cx="2286000" cy="2286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024128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dimensions of child material deprivation does the £25/week SCP reduce?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28216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196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819656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HBAI individual microdata, 2016/17–2023/24, ~50,000 child-year observations with 10 binary MDCH items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6151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615184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Three-stage: benchmark linear DiD → DML-DiD (Chang 2020) → item-level decomposition with FDR correction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410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341071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item-level causal decomposition of SCP effects on 12 MDCH dimensions; robustness test of linear vs. DML covariate adjustment; measurement error framework for hardship outcome choice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420624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reviewed; empirical strategy designed; HBAI data sourced; analysis pipeline built and ready to run.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7127</TotalTime>
  <Words>3179</Words>
  <Application>Microsoft Macintosh PowerPoint</Application>
  <PresentationFormat>On-screen Show (16:9)</PresentationFormat>
  <Paragraphs>328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Scottish Child Payment — Dissertation Presentation</dc:title>
  <dc:subject>PptxGenJS Presentation</dc:subject>
  <dc:creator>PptxGenJS</dc:creator>
  <cp:lastModifiedBy>Guy Pigott</cp:lastModifiedBy>
  <cp:revision>3</cp:revision>
  <dcterms:created xsi:type="dcterms:W3CDTF">2026-06-23T08:08:26Z</dcterms:created>
  <dcterms:modified xsi:type="dcterms:W3CDTF">2026-07-04T13:40:34Z</dcterms:modified>
</cp:coreProperties>
</file>