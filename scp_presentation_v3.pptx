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71" r:id="rId22"/>
    <p:sldId id="263" r:id="rId9"/>
    <p:sldId id="264" r:id="rId10"/>
    <p:sldId id="265" r:id="rId11"/>
    <p:sldId id="272" r:id="rId23"/>
    <p:sldId id="266" r:id="rId12"/>
    <p:sldId id="267" r:id="rId13"/>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4.xml"/><Relationship Id="rId13" Type="http://schemas.openxmlformats.org/officeDocument/2006/relationships/slide" Target="slides/slide15.xml"/><Relationship Id="rId14" Type="http://schemas.openxmlformats.org/officeDocument/2006/relationships/slide" Target="slides/slide13.xml"/><Relationship Id="rId15" Type="http://schemas.openxmlformats.org/officeDocument/2006/relationships/slide" Target="slides/slide16.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5.xml"/><Relationship Id="rId22" Type="http://schemas.openxmlformats.org/officeDocument/2006/relationships/slide" Target="slides/slide9.xml"/><Relationship Id="rId23" Type="http://schemas.openxmlformats.org/officeDocument/2006/relationships/slide" Target="slides/slide13.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Scotland (treated)</c:v>
                </c:pt>
              </c:strCache>
            </c:strRef>
          </c:tx>
          <c:spPr>
            <a:solidFill>
              <a:srgbClr val="660099"/>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2016/17</c:v>
                  </c:pt>
                  <c:pt idx="1">
                    <c:v>2017/18</c:v>
                  </c:pt>
                  <c:pt idx="2">
                    <c:v>2018/19</c:v>
                  </c:pt>
                  <c:pt idx="3">
                    <c:v>2019/20</c:v>
                  </c:pt>
                  <c:pt idx="4">
                    <c:v>2021/22</c:v>
                  </c:pt>
                  <c:pt idx="5">
                    <c:v>2022/23</c:v>
                  </c:pt>
                  <c:pt idx="6">
                    <c:v>2023/24</c:v>
                  </c:pt>
                </c:lvl>
              </c:multiLvlStrCache>
            </c:multiLvlStrRef>
          </c:cat>
          <c:val>
            <c:numRef>
              <c:f>Sheet1!$B$2:$B$8</c:f>
              <c:numCache>
                <c:formatCode>General</c:formatCode>
                <c:ptCount val="7"/>
                <c:pt idx="0">
                  <c:v>5654</c:v>
                </c:pt>
                <c:pt idx="1">
                  <c:v>6001</c:v>
                </c:pt>
                <c:pt idx="2">
                  <c:v>5896</c:v>
                </c:pt>
                <c:pt idx="3">
                  <c:v>5563</c:v>
                </c:pt>
                <c:pt idx="4">
                  <c:v>3583</c:v>
                </c:pt>
                <c:pt idx="5">
                  <c:v>3872</c:v>
                </c:pt>
                <c:pt idx="6">
                  <c:v>3289</c:v>
                </c:pt>
              </c:numCache>
            </c:numRef>
          </c:val>
        </c:ser>
        <c:ser>
          <c:idx val="1"/>
          <c:order val="1"/>
          <c:tx>
            <c:strRef>
              <c:f>Sheet1!$C$1</c:f>
              <c:strCache>
                <c:ptCount val="1"/>
                <c:pt idx="0">
                  <c:v>England (control)</c:v>
                </c:pt>
              </c:strCache>
            </c:strRef>
          </c:tx>
          <c:spPr>
            <a:solidFill>
              <a:srgbClr val="C4A8E0"/>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2016/17</c:v>
                  </c:pt>
                  <c:pt idx="1">
                    <c:v>2017/18</c:v>
                  </c:pt>
                  <c:pt idx="2">
                    <c:v>2018/19</c:v>
                  </c:pt>
                  <c:pt idx="3">
                    <c:v>2019/20</c:v>
                  </c:pt>
                  <c:pt idx="4">
                    <c:v>2021/22</c:v>
                  </c:pt>
                  <c:pt idx="5">
                    <c:v>2022/23</c:v>
                  </c:pt>
                  <c:pt idx="6">
                    <c:v>2023/24</c:v>
                  </c:pt>
                </c:lvl>
              </c:multiLvlStrCache>
            </c:multiLvlStrRef>
          </c:cat>
          <c:val>
            <c:numRef>
              <c:f>Sheet1!$C$2:$C$8</c:f>
              <c:numCache>
                <c:formatCode>General</c:formatCode>
                <c:ptCount val="7"/>
                <c:pt idx="0">
                  <c:v>30909</c:v>
                </c:pt>
                <c:pt idx="1">
                  <c:v>31756</c:v>
                </c:pt>
                <c:pt idx="2">
                  <c:v>30688</c:v>
                </c:pt>
                <c:pt idx="3">
                  <c:v>31151</c:v>
                </c:pt>
                <c:pt idx="4">
                  <c:v>25484</c:v>
                </c:pt>
                <c:pt idx="5">
                  <c:v>42129</c:v>
                </c:pt>
                <c:pt idx="6">
                  <c:v>25892</c:v>
                </c:pt>
              </c:numCache>
            </c:numRef>
          </c:val>
        </c:ser>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1A1A2E"/>
              </a:solidFill>
            </a:defRPr>
          </a:pPr>
          <a:endParaRPr lang="en-US"/>
        </a:p>
      </c:txPr>
    </c:legend>
    <c:plotVisOnly val="1"/>
    <c:dispBlanksAs val="span"/>
  </c:chart>
  <c:spPr>
    <a:solidFill>
      <a:srgbClr val="F8F5FF"/>
    </a:solid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20 minutes. No completed work required — I'll cover: the question and why it matters, data, methodology, initial descriptives, next steps, and anticipated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gap: Stewart et al. (CASE 2025) found 8-9pp reduction in composite material deprivation. But composite scores mask which items drive the effect. And their linear controls can't capture non-linear relationships between income, family structure and deprivation trends.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staggered rollout is important: the 2021 introduction (under-6s) and 2022 expansion (under-16s) create two treatment cohorts. My main analysis focuses on the 2022 expansion since it's more substantial and affects the full child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I'm filling: Stewart et al. is the closest paper, but uses linear controls and a composite outcome. No paper combines DML with DiD for UK child deprivation, and no paper decomposes SCP effects across individual deprivation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ethnicity is NOT available in UKDS public-access HBAI (safe room only). The CASE paper included ethnicity as a control — this is a limitation I acknowledge. S_OE_AHC and the family type/tenure variables need to be added to the prep script before the DML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Scotland is notably smaller than England — important for power calculations in the DML stage. The 2022/23 England figure is larger due to survey design changes that year. The MDCH module ~99k is the subset with full deprivation data (not all children are asked all items depending on year and eligibility).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recoding fix was important — the raw TAB file codes 1=has item (not deprived) and 2=lacks item (deprived), opposite to what the original script assumed. Prevalence rates will be shown once the corrected script has been run. Official HBAI stats suggest ~15% material deprivation for all UK children, higher for low-income families.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stages build on each other. Stage 1 validates. Stage 2 tests robustness of Stage 1 to flexible adjustment. Stage 3 is where the original policy insight comes from — no existing paper has done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parallel trends assumption is the key one to verify. The pre-2022 years are 2016/17, 2017/18, 2018/19, 2019/20 and 2021/22. We have 5 pre-treatment years to test this. Best Start Foods (Scotland only, introduced 2019) is a potential confounder — it provides food vouchers to low-income families, which could affect both food security and material deprivation trends independently of SCP.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of DML: by partialling out the effect of X on both Y and D before estimating the treatment effect, we remove confounding from X regardless of how complex that relationship is. The cross-fitting prevents overfitting bias. With ~99k observations and 5 folds, each fold has ~20k — adequate for ML learners with our covariate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 paper results are our anchor. If our Stage 1 estimate replicates theirs, that validates our data pipeline. The key question then is whether Stage 2 (DML) differs and what the item-level decomposition shows. Scripts need to be run to fill in TBC cells — priority for the next two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substantive issue is the staggered rollout — do I use just the 2022 expansion (cleaner but loses 2021 variation) or try to use both cohorts (more complex, needs Callaway-Sant'Anna)? My plan is to use 2022 as the main analysis and have the staggered version as a robustness check if time allows.</a:t>
            </a:r>
            <a:endParaRPr lang="en-US" dirty="0"/>
          </a:p>
          <a:p>
            <a:r>
              <a:rPr lang="en-US" dirty="0"/>
              <a:t>I've upgraded the fourth card to "Moderate" risk because the pre-treatment diagnostics (previous slide) turned up real pre-existing divergence on most covariates. I'm treating it as a known limitation rather than a fatal flaw: the covariate-adjusted specification is my preferred estimate for exactly this reason, and the small-sample power caveat is a legitimate, literature-grounded response to a reviewer who pushes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emphasising: (1) the data is clean and ready to run, (2) the methodology is established and well-referenced, (3) the contribution is clear and differentiated from the existing literature. The item-level decomposition is the genuinely new thing — no existing paper has asked which deprivation dimensions £25/week affects.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pre-trend test: the DWP's official MDCH flag. In the unadjusted specification, 2020 shows a real, statistically significant divergence -- 3.8 percentage points, p&lt;0.05 -- two years before the SCP expansion. That's the raw finding, and it's exactly the kind of pattern a clean parallel-trends story should not show.</a:t>
            </a:r>
            <a:endParaRPr lang="en-US" dirty="0"/>
          </a:p>
          <a:p>
            <a:r>
              <a:rPr lang="en-US" dirty="0"/>
              <a:t>But look at what happens once I add covariates -- the adjusted column in the table. Every single pre-2022 year loses its significance: 2018, 2019, 2020, 2022, 2023 are all statistically indistinguishable from zero once household composition is controlled for. Only 2024, after the expansion actually happened, is significant in both specifications, which is what you'd want to see for a genuine treatment effect. That's conditional parallel trends doing real work here, not just a theoretical fix (Abadie, 2005).</a:t>
            </a:r>
            <a:endParaRPr lang="en-US" dirty="0"/>
          </a:p>
          <a:p>
            <a:r>
              <a:rPr lang="en-US" dirty="0"/>
              <a:t>I'm still not going to overclaim it. The joint Wald test across all pre-2022 years is still flagged even in the adjusted specification -- p=0.034, or p=0.040 after Benjamini-Hochberg correction -- so there's a residual signal the individual-year coefficients don't fully capture. I disclose that rather than bury it. And the honest caveat, in the box at the bottom: with only about 6,000 Scottish households against 45,000 English ones, these joint tests are underpowered by construction (Roth, 2022), so a marginal flag here is a real limitation to name, not one that invalidates the design on its own. A formal HonestDiD breakdown-value analysis is the natural next step, just not one I can fit into the next three days.</a:t>
            </a:r>
            <a:endParaRPr lang="en-US" dirty="0"/>
          </a:p>
        </p:txBody>
      </p:sp>
      <p:sp>
        <p:nvSpPr>
          <p:cNvPr id="4" name="Slide Number Placeholder 3"/>
          <p:cNvSpPr>
            <a:spLocks noGrp="1"/>
          </p:cNvSpPr>
          <p:nvPr>
            <p:ph type="sldNum" sz="quarter" idx="10"/>
          </p:nvPr>
        </p:nvSpPr>
        <p:spPr/>
        <p:txBody>
          <a:bodyPr/>
          <a:lstStyle/>
          <a:p>
            <a:fld id="{F7021451-1387-4CA6-816F-3879F97B5CBD}" type="slidenum">
              <a:rPr lang="en-US"/>
              <a:t>16</a:t>
            </a:fld>
            <a:endParaRPr lang="en-US"/>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image" Target="../media/pt_es_composite_grid.png"/><Relationship Id="rId4" Type="http://schemas.openxmlformats.org/officeDocument/2006/relationships/image" Target="../media/pt_covtrend_grid.png"/><Relationship Id="rId5" Type="http://schemas.openxmlformats.org/officeDocument/2006/relationships/image" Target="../media/pt_es_items_grid.png"/><Relationship Id="rId6" Type="http://schemas.openxmlformats.org/officeDocument/2006/relationships/notesSlide" Target="../notesSlides/notesSlide16.xml"/><Relationship Id="rId7" Type="http://schemas.openxmlformats.org/officeDocument/2006/relationships/image" Target="../media/pt_es_MDCH_flag.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B0064"/>
        </a:solidFill>
      </p:bgPr>
    </p:bg>
    <p:spTree>
      <p:nvGrpSpPr>
        <p:cNvPr id="1" name=""/>
        <p:cNvGrpSpPr/>
        <p:nvPr/>
      </p:nvGrpSpPr>
      <p:grpSpPr>
        <a:xfrm>
          <a:off x="0" y="0"/>
          <a:ext cx="0" cy="0"/>
          <a:chOff x="0" y="0"/>
          <a:chExt cx="0" cy="0"/>
        </a:xfrm>
      </p:grpSpPr>
      <p:sp>
        <p:nvSpPr>
          <p:cNvPr id="2" name="Shape 0"/>
          <p:cNvSpPr/>
          <p:nvPr/>
        </p:nvSpPr>
        <p:spPr>
          <a:xfrm>
            <a:off x="7498080" y="-731520"/>
            <a:ext cx="3200400" cy="3200400"/>
          </a:xfrm>
          <a:prstGeom prst="ellipse">
            <a:avLst/>
          </a:prstGeom>
          <a:solidFill>
            <a:srgbClr val="9333C8">
              <a:alpha val="25000"/>
            </a:srgbClr>
          </a:solidFill>
          <a:ln/>
        </p:spPr>
        <p:txBody>
          <a:bodyPr/>
          <a:p/>
        </p:txBody>
      </p:sp>
      <p:sp>
        <p:nvSpPr>
          <p:cNvPr id="3" name="Shape 1"/>
          <p:cNvSpPr/>
          <p:nvPr/>
        </p:nvSpPr>
        <p:spPr>
          <a:xfrm>
            <a:off x="-731520" y="5943600"/>
            <a:ext cx="2286000" cy="2286000"/>
          </a:xfrm>
          <a:prstGeom prst="ellipse">
            <a:avLst/>
          </a:prstGeom>
          <a:solidFill>
            <a:srgbClr val="F5A623">
              <a:alpha val="18000"/>
            </a:srgbClr>
          </a:solidFill>
          <a:ln/>
        </p:spPr>
        <p:txBody>
          <a:bodyPr/>
          <a:p/>
        </p:txBody>
      </p:sp>
      <p:sp>
        <p:nvSpPr>
          <p:cNvPr id="4" name="Text 2"/>
          <p:cNvSpPr/>
          <p:nvPr/>
        </p:nvSpPr>
        <p:spPr>
          <a:xfrm>
            <a:off x="640080" y="502920"/>
            <a:ext cx="7863840" cy="320040"/>
          </a:xfrm>
          <a:prstGeom prst="rect">
            <a:avLst/>
          </a:prstGeom>
          <a:noFill/>
          <a:ln/>
        </p:spPr>
        <p:txBody>
          <a:bodyPr wrap="square"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MSc Economics Dissertation</a:t>
            </a:r>
            <a:endParaRPr lang="en-US" sz="1200" dirty="0"/>
          </a:p>
        </p:txBody>
      </p:sp>
      <p:sp>
        <p:nvSpPr>
          <p:cNvPr id="5" name="Text 3"/>
          <p:cNvSpPr/>
          <p:nvPr/>
        </p:nvSpPr>
        <p:spPr>
          <a:xfrm>
            <a:off x="640080" y="868680"/>
            <a:ext cx="7863840" cy="164592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Which Dimensions of Child Deprivation</a:t>
            </a:r>
            <a:endParaRPr lang="en-US" sz="3400" dirty="0"/>
          </a:p>
          <a:p>
            <a:pPr indent="0" marL="0">
              <a:buNone/>
            </a:pPr>
            <a:r>
              <a:rPr lang="en-US" sz="3400" b="1" dirty="0">
                <a:solidFill>
                  <a:srgbClr val="FFFFFF"/>
                </a:solidFill>
                <a:latin typeface="Calibri" pitchFamily="34" charset="0"/>
                <a:ea typeface="Calibri" pitchFamily="34" charset="-122"/>
                <a:cs typeface="Calibri" pitchFamily="34" charset="-120"/>
              </a:rPr>
              <a:t>Does the Scottish Child Payment Reduce?</a:t>
            </a:r>
            <a:endParaRPr lang="en-US" sz="3400" dirty="0"/>
          </a:p>
        </p:txBody>
      </p:sp>
      <p:sp>
        <p:nvSpPr>
          <p:cNvPr id="6" name="Text 4"/>
          <p:cNvSpPr/>
          <p:nvPr/>
        </p:nvSpPr>
        <p:spPr>
          <a:xfrm>
            <a:off x="640080" y="2514600"/>
            <a:ext cx="7863840" cy="411480"/>
          </a:xfrm>
          <a:prstGeom prst="rect">
            <a:avLst/>
          </a:prstGeom>
          <a:noFill/>
          <a:ln/>
        </p:spPr>
        <p:txBody>
          <a:bodyPr wrap="square" rtlCol="0" anchor="ctr"/>
          <a:lstStyle/>
          <a:p>
            <a:pPr indent="0" marL="0">
              <a:buNone/>
            </a:pPr>
            <a:r>
              <a:rPr lang="en-US" sz="1600" i="1" dirty="0">
                <a:solidFill>
                  <a:srgbClr val="EDE0F7"/>
                </a:solidFill>
                <a:latin typeface="Calibri" pitchFamily="34" charset="0"/>
                <a:ea typeface="Calibri" pitchFamily="34" charset="-122"/>
                <a:cs typeface="Calibri" pitchFamily="34" charset="-120"/>
              </a:rPr>
              <a:t>Evidence from Double Machine Learning Difference-in-Differences</a:t>
            </a:r>
            <a:endParaRPr lang="en-US" sz="1600" dirty="0"/>
          </a:p>
        </p:txBody>
      </p:sp>
      <p:sp>
        <p:nvSpPr>
          <p:cNvPr id="7" name="Shape 5"/>
          <p:cNvSpPr/>
          <p:nvPr/>
        </p:nvSpPr>
        <p:spPr>
          <a:xfrm>
            <a:off x="640080" y="2999232"/>
            <a:ext cx="3200400" cy="36576"/>
          </a:xfrm>
          <a:prstGeom prst="rect">
            <a:avLst/>
          </a:prstGeom>
          <a:solidFill>
            <a:srgbClr val="F5A623"/>
          </a:solidFill>
          <a:ln/>
        </p:spPr>
        <p:txBody>
          <a:bodyPr/>
          <a:p/>
        </p:txBody>
      </p:sp>
      <p:sp>
        <p:nvSpPr>
          <p:cNvPr id="8" name="Text 6"/>
          <p:cNvSpPr/>
          <p:nvPr/>
        </p:nvSpPr>
        <p:spPr>
          <a:xfrm>
            <a:off x="640080" y="3154680"/>
            <a:ext cx="7863840" cy="320040"/>
          </a:xfrm>
          <a:prstGeom prst="rect">
            <a:avLst/>
          </a:prstGeom>
          <a:noFill/>
          <a:ln/>
        </p:spPr>
        <p:txBody>
          <a:bodyPr wrap="square" rtlCol="0" anchor="ctr"/>
          <a:lstStyle/>
          <a:p>
            <a:pPr indent="0" marL="0">
              <a:buNone/>
            </a:pPr>
            <a:r>
              <a:rPr lang="en-US" sz="1300" dirty="0">
                <a:solidFill>
                  <a:srgbClr val="CBD5E1"/>
                </a:solidFill>
                <a:latin typeface="Calibri" pitchFamily="34" charset="0"/>
                <a:ea typeface="Calibri" pitchFamily="34" charset="-122"/>
                <a:cs typeface="Calibri" pitchFamily="34" charset="-120"/>
              </a:rPr>
              <a:t>Guy Pigott  |  University of Manchester  |  June 2026</a:t>
            </a:r>
            <a:endParaRPr lang="en-US" sz="1300" dirty="0"/>
          </a:p>
        </p:txBody>
      </p:sp>
      <p:sp>
        <p:nvSpPr>
          <p:cNvPr id="9" name="Text 7"/>
          <p:cNvSpPr/>
          <p:nvPr/>
        </p:nvSpPr>
        <p:spPr>
          <a:xfrm>
            <a:off x="640080" y="3547872"/>
            <a:ext cx="7863840" cy="2743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Data: HBAI UKDA-5828 (2016/17–2023/24)  |  Methods: DML-DiD  |  20 minutes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FF"/>
        </a:solidFill>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algn="l" indent="0" marL="0">
              <a:buNone/>
            </a:pPr>
            <a:r>
              <a:rPr lang="en-US" sz="2800" b="1" dirty="0">
                <a:solidFill>
                  <a:srgbClr val="3B0064"/>
                </a:solidFill>
                <a:latin typeface="Calibri" pitchFamily="34" charset="0"/>
                <a:ea typeface="Calibri" pitchFamily="34" charset="-122"/>
                <a:cs typeface="Calibri" pitchFamily="34" charset="-120"/>
              </a:rPr>
              <a:t>Motivation &amp; Research Question</a:t>
            </a:r>
            <a:endParaRPr lang="en-US" sz="2800" dirty="0"/>
          </a:p>
        </p:txBody>
      </p:sp>
      <p:sp>
        <p:nvSpPr>
          <p:cNvPr id="3" name="Shape 1"/>
          <p:cNvSpPr/>
          <p:nvPr/>
        </p:nvSpPr>
        <p:spPr>
          <a:xfrm>
            <a:off x="457200" y="777240"/>
            <a:ext cx="8229600" cy="27432"/>
          </a:xfrm>
          <a:prstGeom prst="rect">
            <a:avLst/>
          </a:prstGeom>
          <a:solidFill>
            <a:srgbClr val="660099"/>
          </a:solidFill>
          <a:ln/>
        </p:spPr>
        <p:txBody>
          <a:bodyPr/>
          <a:p/>
        </p:txBody>
      </p:sp>
      <p:sp>
        <p:nvSpPr>
          <p:cNvPr id="4" name="Text 2"/>
          <p:cNvSpPr/>
          <p:nvPr/>
        </p:nvSpPr>
        <p:spPr>
          <a:xfrm>
            <a:off x="457200" y="932688"/>
            <a:ext cx="4114800" cy="320040"/>
          </a:xfrm>
          <a:prstGeom prst="rect">
            <a:avLst/>
          </a:prstGeom>
          <a:noFill/>
          <a:ln/>
        </p:spPr>
        <p:txBody>
          <a:bodyPr wrap="square" rtlCol="0" anchor="ctr"/>
          <a:lstStyle/>
          <a:p>
            <a:pPr indent="0" marL="0">
              <a:buNone/>
            </a:pPr>
            <a:r>
              <a:rPr lang="en-US" sz="1400" b="1" dirty="0">
                <a:solidFill>
                  <a:srgbClr val="660099"/>
                </a:solidFill>
                <a:latin typeface="Calibri" pitchFamily="34" charset="0"/>
                <a:ea typeface="Calibri" pitchFamily="34" charset="-122"/>
                <a:cs typeface="Calibri" pitchFamily="34" charset="-120"/>
              </a:rPr>
              <a:t>Why This Matters</a:t>
            </a:r>
            <a:endParaRPr lang="en-US" sz="1400" dirty="0"/>
          </a:p>
        </p:txBody>
      </p:sp>
      <p:sp>
        <p:nvSpPr>
          <p:cNvPr id="5" name="Text 3"/>
          <p:cNvSpPr/>
          <p:nvPr/>
        </p:nvSpPr>
        <p:spPr>
          <a:xfrm>
            <a:off x="457200" y="1280160"/>
            <a:ext cx="4114800" cy="31089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A1A2E"/>
                </a:solidFill>
                <a:latin typeface="Calibri" pitchFamily="34" charset="0"/>
                <a:ea typeface="Calibri" pitchFamily="34" charset="-122"/>
                <a:cs typeface="Calibri" pitchFamily="34" charset="-120"/>
              </a:rPr>
              <a:t>SCP pays £25/week per child to low-income Scottish families — the largest devolved social security innovation since 2016</a:t>
            </a:r>
            <a:endParaRPr lang="en-US" sz="1200" dirty="0"/>
          </a:p>
          <a:p>
            <a:pPr marL="342900" indent="-342900">
              <a:spcAft>
                <a:spcPts val="800"/>
              </a:spcAft>
              <a:buSzPct val="100000"/>
              <a:buChar char="•"/>
            </a:pPr>
            <a:r>
              <a:rPr lang="en-US" sz="1200" dirty="0">
                <a:solidFill>
                  <a:srgbClr val="1A1A2E"/>
                </a:solidFill>
                <a:latin typeface="Calibri" pitchFamily="34" charset="0"/>
                <a:ea typeface="Calibri" pitchFamily="34" charset="-122"/>
                <a:cs typeface="Calibri" pitchFamily="34" charset="-120"/>
              </a:rPr>
              <a:t>Official government evaluation (Scottish Government, 2024) based on self-reported perceptions — explicitly calls for objective causal evidence via data linkage</a:t>
            </a:r>
            <a:endParaRPr lang="en-US" sz="1200" dirty="0"/>
          </a:p>
          <a:p>
            <a:pPr marL="342900" indent="-342900">
              <a:spcAft>
                <a:spcPts val="800"/>
              </a:spcAft>
              <a:buSzPct val="100000"/>
              <a:buChar char="•"/>
            </a:pPr>
            <a:r>
              <a:rPr lang="en-US" sz="1200" dirty="0">
                <a:solidFill>
                  <a:srgbClr val="1A1A2E"/>
                </a:solidFill>
                <a:latin typeface="Calibri" pitchFamily="34" charset="0"/>
                <a:ea typeface="Calibri" pitchFamily="34" charset="-122"/>
                <a:cs typeface="Calibri" pitchFamily="34" charset="-120"/>
              </a:rPr>
              <a:t>Academic evaluations (CASE/LSE 2025) use composite deprivation outcomes and linear covariate controls — no item-level decomposition</a:t>
            </a:r>
            <a:endParaRPr lang="en-US" sz="1200" dirty="0"/>
          </a:p>
          <a:p>
            <a:pPr marL="342900" indent="-342900">
              <a:spcAft>
                <a:spcPts val="800"/>
              </a:spcAft>
              <a:buSzPct val="100000"/>
              <a:buChar char="•"/>
            </a:pPr>
            <a:r>
              <a:rPr lang="en-US" sz="1200" dirty="0">
                <a:solidFill>
                  <a:srgbClr val="1A1A2E"/>
                </a:solidFill>
                <a:latin typeface="Calibri" pitchFamily="34" charset="0"/>
                <a:ea typeface="Calibri" pitchFamily="34" charset="-122"/>
                <a:cs typeface="Calibri" pitchFamily="34" charset="-120"/>
              </a:rPr>
              <a:t>No study has asked: does the choice of hardship measure affect the estimated treatment effect?</a:t>
            </a:r>
            <a:endParaRPr lang="en-US" sz="1200" dirty="0"/>
          </a:p>
        </p:txBody>
      </p:sp>
      <p:sp>
        <p:nvSpPr>
          <p:cNvPr id="6" name="Shape 4"/>
          <p:cNvSpPr/>
          <p:nvPr/>
        </p:nvSpPr>
        <p:spPr>
          <a:xfrm>
            <a:off x="4892040" y="932688"/>
            <a:ext cx="3886200" cy="3474720"/>
          </a:xfrm>
          <a:prstGeom prst="roundRect">
            <a:avLst>
              <a:gd name="adj" fmla="val 3158"/>
            </a:avLst>
          </a:prstGeom>
          <a:solidFill>
            <a:srgbClr val="3B0064"/>
          </a:solidFill>
          <a:ln/>
          <a:effectLst>
            <a:outerShdw sx="100000" sy="100000" kx="0" ky="0" algn="bl" rotWithShape="0" blurRad="101600" dist="25400" dir="2700000">
              <a:srgbClr val="000000">
                <a:alpha val="12000"/>
              </a:srgbClr>
            </a:outerShdw>
          </a:effectLst>
        </p:spPr>
        <p:txBody>
          <a:bodyPr/>
          <a:p/>
        </p:txBody>
      </p:sp>
      <p:sp>
        <p:nvSpPr>
          <p:cNvPr id="7" name="Text 5"/>
          <p:cNvSpPr/>
          <p:nvPr/>
        </p:nvSpPr>
        <p:spPr>
          <a:xfrm>
            <a:off x="5029200" y="1097280"/>
            <a:ext cx="356616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Research Question</a:t>
            </a:r>
            <a:endParaRPr lang="en-US" sz="1300" dirty="0"/>
          </a:p>
        </p:txBody>
      </p:sp>
      <p:sp>
        <p:nvSpPr>
          <p:cNvPr id="8" name="Text 6"/>
          <p:cNvSpPr/>
          <p:nvPr/>
        </p:nvSpPr>
        <p:spPr>
          <a:xfrm>
            <a:off x="5029200" y="1508760"/>
            <a:ext cx="3611880" cy="118872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Which dimensions of child material deprivation does the Scottish Child Payment reduce, and are these effects robust to flexible covariate adjustment?</a:t>
            </a:r>
            <a:endParaRPr lang="en-US" sz="1300" dirty="0"/>
          </a:p>
        </p:txBody>
      </p:sp>
      <p:sp>
        <p:nvSpPr>
          <p:cNvPr id="9" name="Text 7"/>
          <p:cNvSpPr/>
          <p:nvPr/>
        </p:nvSpPr>
        <p:spPr>
          <a:xfrm>
            <a:off x="5029200" y="2788920"/>
            <a:ext cx="3566160" cy="274320"/>
          </a:xfrm>
          <a:prstGeom prst="rect">
            <a:avLst/>
          </a:prstGeom>
          <a:noFill/>
          <a:ln/>
        </p:spPr>
        <p:txBody>
          <a:bodyPr wrap="square"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Two contributions:</a:t>
            </a:r>
            <a:endParaRPr lang="en-US" sz="1100" dirty="0"/>
          </a:p>
        </p:txBody>
      </p:sp>
      <p:sp>
        <p:nvSpPr>
          <p:cNvPr id="10" name="Text 8"/>
          <p:cNvSpPr/>
          <p:nvPr/>
        </p:nvSpPr>
        <p:spPr>
          <a:xfrm>
            <a:off x="5029200" y="3090672"/>
            <a:ext cx="3566160" cy="1188720"/>
          </a:xfrm>
          <a:prstGeom prst="rect">
            <a:avLst/>
          </a:prstGeom>
          <a:noFill/>
          <a:ln/>
        </p:spPr>
        <p:txBody>
          <a:bodyPr wrap="square" rtlCol="0" anchor="ctr"/>
          <a:lstStyle/>
          <a:p>
            <a:pPr marL="342900" indent="-342900">
              <a:spcAft>
                <a:spcPts val="800"/>
              </a:spcAft>
              <a:buSzPct val="100000"/>
              <a:buChar char="•"/>
            </a:pPr>
            <a:r>
              <a:rPr lang="en-US" sz="1100" dirty="0">
                <a:solidFill>
                  <a:srgbClr val="EDE0F7"/>
                </a:solidFill>
                <a:latin typeface="Calibri" pitchFamily="34" charset="0"/>
                <a:ea typeface="Calibri" pitchFamily="34" charset="-122"/>
                <a:cs typeface="Calibri" pitchFamily="34" charset="-120"/>
              </a:rPr>
              <a:t>Item-level decomposition of MDCH (12 binary indicators)</a:t>
            </a:r>
            <a:endParaRPr lang="en-US" sz="1100" dirty="0"/>
          </a:p>
          <a:p>
            <a:pPr marL="342900" indent="-342900">
              <a:spcAft>
                <a:spcPts val="800"/>
              </a:spcAft>
              <a:buSzPct val="100000"/>
              <a:buChar char="•"/>
            </a:pPr>
            <a:r>
              <a:rPr lang="en-US" sz="1100" dirty="0">
                <a:solidFill>
                  <a:srgbClr val="EDE0F7"/>
                </a:solidFill>
                <a:latin typeface="Calibri" pitchFamily="34" charset="0"/>
                <a:ea typeface="Calibri" pitchFamily="34" charset="-122"/>
                <a:cs typeface="Calibri" pitchFamily="34" charset="-120"/>
              </a:rPr>
              <a:t>DML-DiD vs. linear DiD robustness check</a:t>
            </a:r>
            <a:endParaRPr lang="en-US" sz="1100" dirty="0"/>
          </a:p>
          <a:p>
            <a:pPr marL="342900" indent="-342900">
              <a:spcAft>
                <a:spcPts val="800"/>
              </a:spcAft>
              <a:buSzPct val="100000"/>
              <a:buChar char="•"/>
            </a:pPr>
            <a:r>
              <a:rPr lang="en-US" sz="1100" dirty="0">
                <a:solidFill>
                  <a:srgbClr val="EDE0F7"/>
                </a:solidFill>
                <a:latin typeface="Calibri" pitchFamily="34" charset="0"/>
                <a:ea typeface="Calibri" pitchFamily="34" charset="-122"/>
                <a:cs typeface="Calibri" pitchFamily="34" charset="-120"/>
              </a:rPr>
              <a:t>Measurement error framework: do composite vs. item-level outcomes give systematically different causal estimates?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5FF"/>
        </a:solidFill>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algn="l" indent="0" marL="0">
              <a:buNone/>
            </a:pPr>
            <a:r>
              <a:rPr lang="en-US" sz="2800" b="1" dirty="0">
                <a:solidFill>
                  <a:srgbClr val="3B0064"/>
                </a:solidFill>
                <a:latin typeface="Calibri" pitchFamily="34" charset="0"/>
                <a:ea typeface="Calibri" pitchFamily="34" charset="-122"/>
                <a:cs typeface="Calibri" pitchFamily="34" charset="-120"/>
              </a:rPr>
              <a:t>Policy Background: The Scottish Child Payment</a:t>
            </a:r>
            <a:endParaRPr lang="en-US" sz="2800" dirty="0"/>
          </a:p>
        </p:txBody>
      </p:sp>
      <p:sp>
        <p:nvSpPr>
          <p:cNvPr id="3" name="Shape 1"/>
          <p:cNvSpPr/>
          <p:nvPr/>
        </p:nvSpPr>
        <p:spPr>
          <a:xfrm>
            <a:off x="457200" y="777240"/>
            <a:ext cx="8229600" cy="27432"/>
          </a:xfrm>
          <a:prstGeom prst="rect">
            <a:avLst/>
          </a:prstGeom>
          <a:solidFill>
            <a:srgbClr val="660099"/>
          </a:solidFill>
          <a:ln/>
        </p:spPr>
        <p:txBody>
          <a:bodyPr/>
          <a:p/>
        </p:txBody>
      </p:sp>
      <p:sp>
        <p:nvSpPr>
          <p:cNvPr id="4" name="Shape 2"/>
          <p:cNvSpPr/>
          <p:nvPr/>
        </p:nvSpPr>
        <p:spPr>
          <a:xfrm>
            <a:off x="1188720" y="1298448"/>
            <a:ext cx="1965960" cy="36576"/>
          </a:xfrm>
          <a:prstGeom prst="rect">
            <a:avLst/>
          </a:prstGeom>
          <a:solidFill>
            <a:srgbClr val="CBD5E1"/>
          </a:solidFill>
          <a:ln/>
        </p:spPr>
        <p:txBody>
          <a:bodyPr/>
          <a:p/>
        </p:txBody>
      </p:sp>
      <p:sp>
        <p:nvSpPr>
          <p:cNvPr id="5" name="Shape 3"/>
          <p:cNvSpPr/>
          <p:nvPr/>
        </p:nvSpPr>
        <p:spPr>
          <a:xfrm>
            <a:off x="731520" y="1051560"/>
            <a:ext cx="502920" cy="502920"/>
          </a:xfrm>
          <a:prstGeom prst="ellipse">
            <a:avLst/>
          </a:prstGeom>
          <a:solidFill>
            <a:srgbClr val="9333C8"/>
          </a:solidFill>
          <a:ln/>
        </p:spPr>
        <p:txBody>
          <a:bodyPr/>
          <a:p/>
        </p:txBody>
      </p:sp>
      <p:sp>
        <p:nvSpPr>
          <p:cNvPr id="6" name="Text 4"/>
          <p:cNvSpPr/>
          <p:nvPr/>
        </p:nvSpPr>
        <p:spPr>
          <a:xfrm>
            <a:off x="411480" y="841248"/>
            <a:ext cx="1371600" cy="256032"/>
          </a:xfrm>
          <a:prstGeom prst="rect">
            <a:avLst/>
          </a:prstGeom>
          <a:noFill/>
          <a:ln/>
        </p:spPr>
        <p:txBody>
          <a:bodyPr wrap="square" rtlCol="0" anchor="ctr"/>
          <a:lstStyle/>
          <a:p>
            <a:pPr algn="ctr" indent="0" marL="0">
              <a:buNone/>
            </a:pPr>
            <a:r>
              <a:rPr lang="en-US" sz="1000" b="1" dirty="0">
                <a:solidFill>
                  <a:srgbClr val="9333C8"/>
                </a:solidFill>
                <a:latin typeface="Calibri" pitchFamily="34" charset="0"/>
                <a:ea typeface="Calibri" pitchFamily="34" charset="-122"/>
                <a:cs typeface="Calibri" pitchFamily="34" charset="-120"/>
              </a:rPr>
              <a:t>Feb 2021</a:t>
            </a:r>
            <a:endParaRPr lang="en-US" sz="1000" dirty="0"/>
          </a:p>
        </p:txBody>
      </p:sp>
      <p:sp>
        <p:nvSpPr>
          <p:cNvPr id="7" name="Shape 5"/>
          <p:cNvSpPr/>
          <p:nvPr/>
        </p:nvSpPr>
        <p:spPr>
          <a:xfrm>
            <a:off x="411480" y="1664208"/>
            <a:ext cx="2103120" cy="1691640"/>
          </a:xfrm>
          <a:prstGeom prst="roundRect">
            <a:avLst>
              <a:gd name="adj" fmla="val 5405"/>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8" name="Text 6"/>
          <p:cNvSpPr/>
          <p:nvPr/>
        </p:nvSpPr>
        <p:spPr>
          <a:xfrm>
            <a:off x="502920" y="1783080"/>
            <a:ext cx="1920240" cy="320040"/>
          </a:xfrm>
          <a:prstGeom prst="rect">
            <a:avLst/>
          </a:prstGeom>
          <a:noFill/>
          <a:ln/>
        </p:spPr>
        <p:txBody>
          <a:bodyPr wrap="square" rtlCol="0" anchor="ctr"/>
          <a:lstStyle/>
          <a:p>
            <a:pPr indent="0" marL="0">
              <a:buNone/>
            </a:pPr>
            <a:r>
              <a:rPr lang="en-US" sz="1200" b="1" dirty="0">
                <a:solidFill>
                  <a:srgbClr val="9333C8"/>
                </a:solidFill>
                <a:latin typeface="Calibri" pitchFamily="34" charset="0"/>
                <a:ea typeface="Calibri" pitchFamily="34" charset="-122"/>
                <a:cs typeface="Calibri" pitchFamily="34" charset="-120"/>
              </a:rPr>
              <a:t>SCP Introduced</a:t>
            </a:r>
            <a:endParaRPr lang="en-US" sz="1200" dirty="0"/>
          </a:p>
        </p:txBody>
      </p:sp>
      <p:sp>
        <p:nvSpPr>
          <p:cNvPr id="9" name="Text 7"/>
          <p:cNvSpPr/>
          <p:nvPr/>
        </p:nvSpPr>
        <p:spPr>
          <a:xfrm>
            <a:off x="502920" y="2148840"/>
            <a:ext cx="1920240" cy="109728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£10/week per child under 6</a:t>
            </a:r>
            <a:endParaRPr lang="en-US" sz="1100" dirty="0"/>
          </a:p>
          <a:p>
            <a:pPr indent="0" marL="0">
              <a:buNone/>
            </a:pPr>
            <a:r>
              <a:rPr lang="en-US" sz="1100" dirty="0">
                <a:solidFill>
                  <a:srgbClr val="1A1A2E"/>
                </a:solidFill>
                <a:latin typeface="Calibri" pitchFamily="34" charset="0"/>
                <a:ea typeface="Calibri" pitchFamily="34" charset="-122"/>
                <a:cs typeface="Calibri" pitchFamily="34" charset="-120"/>
              </a:rPr>
              <a:t>UC &amp; legacy benefits</a:t>
            </a:r>
            <a:endParaRPr lang="en-US" sz="1100" dirty="0"/>
          </a:p>
          <a:p>
            <a:pPr indent="0" marL="0">
              <a:buNone/>
            </a:pPr>
            <a:r>
              <a:rPr lang="en-US" sz="1100" dirty="0">
                <a:solidFill>
                  <a:srgbClr val="1A1A2E"/>
                </a:solidFill>
                <a:latin typeface="Calibri" pitchFamily="34" charset="0"/>
                <a:ea typeface="Calibri" pitchFamily="34" charset="-122"/>
                <a:cs typeface="Calibri" pitchFamily="34" charset="-120"/>
              </a:rPr>
              <a:t>~30,000 children</a:t>
            </a:r>
            <a:endParaRPr lang="en-US" sz="1100" dirty="0"/>
          </a:p>
        </p:txBody>
      </p:sp>
      <p:sp>
        <p:nvSpPr>
          <p:cNvPr id="10" name="Shape 8"/>
          <p:cNvSpPr/>
          <p:nvPr/>
        </p:nvSpPr>
        <p:spPr>
          <a:xfrm>
            <a:off x="3474720" y="1298448"/>
            <a:ext cx="1965960" cy="36576"/>
          </a:xfrm>
          <a:prstGeom prst="rect">
            <a:avLst/>
          </a:prstGeom>
          <a:solidFill>
            <a:srgbClr val="CBD5E1"/>
          </a:solidFill>
          <a:ln/>
        </p:spPr>
        <p:txBody>
          <a:bodyPr/>
          <a:p/>
        </p:txBody>
      </p:sp>
      <p:sp>
        <p:nvSpPr>
          <p:cNvPr id="11" name="Shape 9"/>
          <p:cNvSpPr/>
          <p:nvPr/>
        </p:nvSpPr>
        <p:spPr>
          <a:xfrm>
            <a:off x="3017520" y="1051560"/>
            <a:ext cx="502920" cy="502920"/>
          </a:xfrm>
          <a:prstGeom prst="ellipse">
            <a:avLst/>
          </a:prstGeom>
          <a:solidFill>
            <a:srgbClr val="660099"/>
          </a:solidFill>
          <a:ln/>
        </p:spPr>
        <p:txBody>
          <a:bodyPr/>
          <a:p/>
        </p:txBody>
      </p:sp>
      <p:sp>
        <p:nvSpPr>
          <p:cNvPr id="12" name="Text 10"/>
          <p:cNvSpPr/>
          <p:nvPr/>
        </p:nvSpPr>
        <p:spPr>
          <a:xfrm>
            <a:off x="2697480" y="841248"/>
            <a:ext cx="1371600" cy="256032"/>
          </a:xfrm>
          <a:prstGeom prst="rect">
            <a:avLst/>
          </a:prstGeom>
          <a:noFill/>
          <a:ln/>
        </p:spPr>
        <p:txBody>
          <a:bodyPr wrap="square" rtlCol="0" anchor="ctr"/>
          <a:lstStyle/>
          <a:p>
            <a:pPr algn="ctr" indent="0" marL="0">
              <a:buNone/>
            </a:pPr>
            <a:r>
              <a:rPr lang="en-US" sz="1000" b="1" dirty="0">
                <a:solidFill>
                  <a:srgbClr val="660099"/>
                </a:solidFill>
                <a:latin typeface="Calibri" pitchFamily="34" charset="0"/>
                <a:ea typeface="Calibri" pitchFamily="34" charset="-122"/>
                <a:cs typeface="Calibri" pitchFamily="34" charset="-120"/>
              </a:rPr>
              <a:t>Apr 2022</a:t>
            </a:r>
            <a:endParaRPr lang="en-US" sz="1000" dirty="0"/>
          </a:p>
        </p:txBody>
      </p:sp>
      <p:sp>
        <p:nvSpPr>
          <p:cNvPr id="13" name="Shape 11"/>
          <p:cNvSpPr/>
          <p:nvPr/>
        </p:nvSpPr>
        <p:spPr>
          <a:xfrm>
            <a:off x="2697480" y="1664208"/>
            <a:ext cx="2103120" cy="1691640"/>
          </a:xfrm>
          <a:prstGeom prst="roundRect">
            <a:avLst>
              <a:gd name="adj" fmla="val 5405"/>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14" name="Text 12"/>
          <p:cNvSpPr/>
          <p:nvPr/>
        </p:nvSpPr>
        <p:spPr>
          <a:xfrm>
            <a:off x="2788920" y="1783080"/>
            <a:ext cx="1920240" cy="320040"/>
          </a:xfrm>
          <a:prstGeom prst="rect">
            <a:avLst/>
          </a:prstGeom>
          <a:noFill/>
          <a:ln/>
        </p:spPr>
        <p:txBody>
          <a:bodyPr wrap="square" rtlCol="0" anchor="ctr"/>
          <a:lstStyle/>
          <a:p>
            <a:pPr indent="0" marL="0">
              <a:buNone/>
            </a:pPr>
            <a:r>
              <a:rPr lang="en-US" sz="1200" b="1" dirty="0">
                <a:solidFill>
                  <a:srgbClr val="660099"/>
                </a:solidFill>
                <a:latin typeface="Calibri" pitchFamily="34" charset="0"/>
                <a:ea typeface="Calibri" pitchFamily="34" charset="-122"/>
                <a:cs typeface="Calibri" pitchFamily="34" charset="-120"/>
              </a:rPr>
              <a:t>Doubled to £20</a:t>
            </a:r>
            <a:endParaRPr lang="en-US" sz="1200" dirty="0"/>
          </a:p>
        </p:txBody>
      </p:sp>
      <p:sp>
        <p:nvSpPr>
          <p:cNvPr id="15" name="Text 13"/>
          <p:cNvSpPr/>
          <p:nvPr/>
        </p:nvSpPr>
        <p:spPr>
          <a:xfrm>
            <a:off x="2788920" y="2148840"/>
            <a:ext cx="1920240" cy="109728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Payment doubles</a:t>
            </a:r>
            <a:endParaRPr lang="en-US" sz="1100" dirty="0"/>
          </a:p>
          <a:p>
            <a:pPr indent="0" marL="0">
              <a:buNone/>
            </a:pPr>
            <a:r>
              <a:rPr lang="en-US" sz="1100" dirty="0">
                <a:solidFill>
                  <a:srgbClr val="1A1A2E"/>
                </a:solidFill>
                <a:latin typeface="Calibri" pitchFamily="34" charset="0"/>
                <a:ea typeface="Calibri" pitchFamily="34" charset="-122"/>
                <a:cs typeface="Calibri" pitchFamily="34" charset="-120"/>
              </a:rPr>
              <a:t>Eligibility unchanged</a:t>
            </a:r>
            <a:endParaRPr lang="en-US" sz="1100" dirty="0"/>
          </a:p>
          <a:p>
            <a:pPr indent="0" marL="0">
              <a:buNone/>
            </a:pPr>
            <a:r>
              <a:rPr lang="en-US" sz="1100" dirty="0">
                <a:solidFill>
                  <a:srgbClr val="1A1A2E"/>
                </a:solidFill>
                <a:latin typeface="Calibri" pitchFamily="34" charset="0"/>
                <a:ea typeface="Calibri" pitchFamily="34" charset="-122"/>
                <a:cs typeface="Calibri" pitchFamily="34" charset="-120"/>
              </a:rPr>
              <a:t>~55,000 children</a:t>
            </a:r>
            <a:endParaRPr lang="en-US" sz="1100" dirty="0"/>
          </a:p>
        </p:txBody>
      </p:sp>
      <p:sp>
        <p:nvSpPr>
          <p:cNvPr id="16" name="Shape 14"/>
          <p:cNvSpPr/>
          <p:nvPr/>
        </p:nvSpPr>
        <p:spPr>
          <a:xfrm>
            <a:off x="5760720" y="1298448"/>
            <a:ext cx="1965960" cy="36576"/>
          </a:xfrm>
          <a:prstGeom prst="rect">
            <a:avLst/>
          </a:prstGeom>
          <a:solidFill>
            <a:srgbClr val="CBD5E1"/>
          </a:solidFill>
          <a:ln/>
        </p:spPr>
        <p:txBody>
          <a:bodyPr/>
          <a:p/>
        </p:txBody>
      </p:sp>
      <p:sp>
        <p:nvSpPr>
          <p:cNvPr id="17" name="Shape 15"/>
          <p:cNvSpPr/>
          <p:nvPr/>
        </p:nvSpPr>
        <p:spPr>
          <a:xfrm>
            <a:off x="5303520" y="1051560"/>
            <a:ext cx="502920" cy="502920"/>
          </a:xfrm>
          <a:prstGeom prst="ellipse">
            <a:avLst/>
          </a:prstGeom>
          <a:solidFill>
            <a:srgbClr val="3B0064"/>
          </a:solidFill>
          <a:ln/>
        </p:spPr>
        <p:txBody>
          <a:bodyPr/>
          <a:p/>
        </p:txBody>
      </p:sp>
      <p:sp>
        <p:nvSpPr>
          <p:cNvPr id="18" name="Text 16"/>
          <p:cNvSpPr/>
          <p:nvPr/>
        </p:nvSpPr>
        <p:spPr>
          <a:xfrm>
            <a:off x="4983480" y="841248"/>
            <a:ext cx="1371600" cy="256032"/>
          </a:xfrm>
          <a:prstGeom prst="rect">
            <a:avLst/>
          </a:prstGeom>
          <a:noFill/>
          <a:ln/>
        </p:spPr>
        <p:txBody>
          <a:bodyPr wrap="square" rtlCol="0" anchor="ctr"/>
          <a:lstStyle/>
          <a:p>
            <a:pPr algn="ctr" indent="0" marL="0">
              <a:buNone/>
            </a:pPr>
            <a:r>
              <a:rPr lang="en-US" sz="1000" b="1" dirty="0">
                <a:solidFill>
                  <a:srgbClr val="3B0064"/>
                </a:solidFill>
                <a:latin typeface="Calibri" pitchFamily="34" charset="0"/>
                <a:ea typeface="Calibri" pitchFamily="34" charset="-122"/>
                <a:cs typeface="Calibri" pitchFamily="34" charset="-120"/>
              </a:rPr>
              <a:t>Nov 2022</a:t>
            </a:r>
            <a:endParaRPr lang="en-US" sz="1000" dirty="0"/>
          </a:p>
        </p:txBody>
      </p:sp>
      <p:sp>
        <p:nvSpPr>
          <p:cNvPr id="19" name="Shape 17"/>
          <p:cNvSpPr/>
          <p:nvPr/>
        </p:nvSpPr>
        <p:spPr>
          <a:xfrm>
            <a:off x="4983480" y="1664208"/>
            <a:ext cx="2103120" cy="1691640"/>
          </a:xfrm>
          <a:prstGeom prst="roundRect">
            <a:avLst>
              <a:gd name="adj" fmla="val 5405"/>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20" name="Text 18"/>
          <p:cNvSpPr/>
          <p:nvPr/>
        </p:nvSpPr>
        <p:spPr>
          <a:xfrm>
            <a:off x="5074920" y="1783080"/>
            <a:ext cx="1920240" cy="320040"/>
          </a:xfrm>
          <a:prstGeom prst="rect">
            <a:avLst/>
          </a:prstGeom>
          <a:noFill/>
          <a:ln/>
        </p:spPr>
        <p:txBody>
          <a:bodyPr wrap="square" rtlCol="0" anchor="ctr"/>
          <a:lstStyle/>
          <a:p>
            <a:pPr indent="0" marL="0">
              <a:buNone/>
            </a:pPr>
            <a:r>
              <a:rPr lang="en-US" sz="1200" b="1" dirty="0">
                <a:solidFill>
                  <a:srgbClr val="3B0064"/>
                </a:solidFill>
                <a:latin typeface="Calibri" pitchFamily="34" charset="0"/>
                <a:ea typeface="Calibri" pitchFamily="34" charset="-122"/>
                <a:cs typeface="Calibri" pitchFamily="34" charset="-120"/>
              </a:rPr>
              <a:t>Major Expansion</a:t>
            </a:r>
            <a:endParaRPr lang="en-US" sz="1200" dirty="0"/>
          </a:p>
        </p:txBody>
      </p:sp>
      <p:sp>
        <p:nvSpPr>
          <p:cNvPr id="21" name="Text 19"/>
          <p:cNvSpPr/>
          <p:nvPr/>
        </p:nvSpPr>
        <p:spPr>
          <a:xfrm>
            <a:off x="5074920" y="2148840"/>
            <a:ext cx="1920240" cy="109728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Extended to all under-16s</a:t>
            </a:r>
            <a:endParaRPr lang="en-US" sz="1100" dirty="0"/>
          </a:p>
          <a:p>
            <a:pPr indent="0" marL="0">
              <a:buNone/>
            </a:pPr>
            <a:r>
              <a:rPr lang="en-US" sz="1100" dirty="0">
                <a:solidFill>
                  <a:srgbClr val="1A1A2E"/>
                </a:solidFill>
                <a:latin typeface="Calibri" pitchFamily="34" charset="0"/>
                <a:ea typeface="Calibri" pitchFamily="34" charset="-122"/>
                <a:cs typeface="Calibri" pitchFamily="34" charset="-120"/>
              </a:rPr>
              <a:t>Doubled again to £25/week</a:t>
            </a:r>
            <a:endParaRPr lang="en-US" sz="1100" dirty="0"/>
          </a:p>
          <a:p>
            <a:pPr indent="0" marL="0">
              <a:buNone/>
            </a:pPr>
            <a:r>
              <a:rPr lang="en-US" sz="1100" dirty="0">
                <a:solidFill>
                  <a:srgbClr val="1A1A2E"/>
                </a:solidFill>
                <a:latin typeface="Calibri" pitchFamily="34" charset="0"/>
                <a:ea typeface="Calibri" pitchFamily="34" charset="-122"/>
                <a:cs typeface="Calibri" pitchFamily="34" charset="-120"/>
              </a:rPr>
              <a:t>~300,000 children</a:t>
            </a:r>
            <a:endParaRPr lang="en-US" sz="1100" dirty="0"/>
          </a:p>
        </p:txBody>
      </p:sp>
      <p:sp>
        <p:nvSpPr>
          <p:cNvPr id="22" name="Shape 20"/>
          <p:cNvSpPr/>
          <p:nvPr/>
        </p:nvSpPr>
        <p:spPr>
          <a:xfrm>
            <a:off x="7589520" y="1051560"/>
            <a:ext cx="502920" cy="502920"/>
          </a:xfrm>
          <a:prstGeom prst="ellipse">
            <a:avLst/>
          </a:prstGeom>
          <a:solidFill>
            <a:srgbClr val="1A1A2E"/>
          </a:solidFill>
          <a:ln/>
        </p:spPr>
        <p:txBody>
          <a:bodyPr/>
          <a:p/>
        </p:txBody>
      </p:sp>
      <p:sp>
        <p:nvSpPr>
          <p:cNvPr id="23" name="Text 21"/>
          <p:cNvSpPr/>
          <p:nvPr/>
        </p:nvSpPr>
        <p:spPr>
          <a:xfrm>
            <a:off x="7269480" y="841248"/>
            <a:ext cx="1371600" cy="256032"/>
          </a:xfrm>
          <a:prstGeom prst="rect">
            <a:avLst/>
          </a:prstGeom>
          <a:noFill/>
          <a:ln/>
        </p:spPr>
        <p:txBody>
          <a:bodyPr wrap="square" rtlCol="0" anchor="ctr"/>
          <a:lstStyle/>
          <a:p>
            <a:pPr algn="ctr" indent="0" marL="0">
              <a:buNone/>
            </a:pPr>
            <a:r>
              <a:rPr lang="en-US" sz="1000" b="1" dirty="0">
                <a:solidFill>
                  <a:srgbClr val="1A1A2E"/>
                </a:solidFill>
                <a:latin typeface="Calibri" pitchFamily="34" charset="0"/>
                <a:ea typeface="Calibri" pitchFamily="34" charset="-122"/>
                <a:cs typeface="Calibri" pitchFamily="34" charset="-120"/>
              </a:rPr>
              <a:t>2024–25</a:t>
            </a:r>
            <a:endParaRPr lang="en-US" sz="1000" dirty="0"/>
          </a:p>
        </p:txBody>
      </p:sp>
      <p:sp>
        <p:nvSpPr>
          <p:cNvPr id="24" name="Shape 22"/>
          <p:cNvSpPr/>
          <p:nvPr/>
        </p:nvSpPr>
        <p:spPr>
          <a:xfrm>
            <a:off x="7269480" y="1664208"/>
            <a:ext cx="2103120" cy="1691640"/>
          </a:xfrm>
          <a:prstGeom prst="roundRect">
            <a:avLst>
              <a:gd name="adj" fmla="val 5405"/>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25" name="Text 23"/>
          <p:cNvSpPr/>
          <p:nvPr/>
        </p:nvSpPr>
        <p:spPr>
          <a:xfrm>
            <a:off x="7360920" y="1783080"/>
            <a:ext cx="1920240" cy="320040"/>
          </a:xfrm>
          <a:prstGeom prst="rect">
            <a:avLst/>
          </a:prstGeom>
          <a:noFill/>
          <a:ln/>
        </p:spPr>
        <p:txBody>
          <a:bodyPr wrap="square"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£26.70/week</a:t>
            </a:r>
            <a:endParaRPr lang="en-US" sz="1200" dirty="0"/>
          </a:p>
        </p:txBody>
      </p:sp>
      <p:sp>
        <p:nvSpPr>
          <p:cNvPr id="26" name="Text 24"/>
          <p:cNvSpPr/>
          <p:nvPr/>
        </p:nvSpPr>
        <p:spPr>
          <a:xfrm>
            <a:off x="7360920" y="2148840"/>
            <a:ext cx="1920240" cy="109728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Uprated with inflation</a:t>
            </a:r>
            <a:endParaRPr lang="en-US" sz="1100" dirty="0"/>
          </a:p>
          <a:p>
            <a:pPr indent="0" marL="0">
              <a:buNone/>
            </a:pPr>
            <a:r>
              <a:rPr lang="en-US" sz="1100" dirty="0">
                <a:solidFill>
                  <a:srgbClr val="1A1A2E"/>
                </a:solidFill>
                <a:latin typeface="Calibri" pitchFamily="34" charset="0"/>
                <a:ea typeface="Calibri" pitchFamily="34" charset="-122"/>
                <a:cs typeface="Calibri" pitchFamily="34" charset="-120"/>
              </a:rPr>
              <a:t>Scotland gap vs. England</a:t>
            </a:r>
            <a:endParaRPr lang="en-US" sz="1100" dirty="0"/>
          </a:p>
          <a:p>
            <a:pPr indent="0" marL="0">
              <a:buNone/>
            </a:pPr>
            <a:r>
              <a:rPr lang="en-US" sz="1100" dirty="0">
                <a:solidFill>
                  <a:srgbClr val="1A1A2E"/>
                </a:solidFill>
                <a:latin typeface="Calibri" pitchFamily="34" charset="0"/>
                <a:ea typeface="Calibri" pitchFamily="34" charset="-122"/>
                <a:cs typeface="Calibri" pitchFamily="34" charset="-120"/>
              </a:rPr>
              <a:t>widens further</a:t>
            </a:r>
            <a:endParaRPr lang="en-US" sz="1100" dirty="0"/>
          </a:p>
        </p:txBody>
      </p:sp>
      <p:sp>
        <p:nvSpPr>
          <p:cNvPr id="27" name="Shape 25"/>
          <p:cNvSpPr/>
          <p:nvPr/>
        </p:nvSpPr>
        <p:spPr>
          <a:xfrm>
            <a:off x="411480" y="3520440"/>
            <a:ext cx="8321040" cy="777240"/>
          </a:xfrm>
          <a:prstGeom prst="roundRect">
            <a:avLst>
              <a:gd name="adj" fmla="val 9412"/>
            </a:avLst>
          </a:prstGeom>
          <a:solidFill>
            <a:srgbClr val="EDE0F7"/>
          </a:solidFill>
          <a:ln/>
        </p:spPr>
        <p:txBody>
          <a:bodyPr/>
          <a:p/>
        </p:txBody>
      </p:sp>
      <p:sp>
        <p:nvSpPr>
          <p:cNvPr id="28" name="Text 26"/>
          <p:cNvSpPr/>
          <p:nvPr/>
        </p:nvSpPr>
        <p:spPr>
          <a:xfrm>
            <a:off x="594360" y="3630168"/>
            <a:ext cx="7955280" cy="566928"/>
          </a:xfrm>
          <a:prstGeom prst="rect">
            <a:avLst/>
          </a:prstGeom>
          <a:noFill/>
          <a:ln/>
        </p:spPr>
        <p:txBody>
          <a:bodyPr wrap="square" rtlCol="0" anchor="ctr"/>
          <a:lstStyle/>
          <a:p>
            <a:pPr indent="0" marL="0">
              <a:buNone/>
            </a:pPr>
            <a:r>
              <a:rPr lang="en-US" sz="1100" dirty="0">
                <a:solidFill>
                  <a:srgbClr val="3B0064"/>
                </a:solidFill>
                <a:latin typeface="Calibri" pitchFamily="34" charset="0"/>
                <a:ea typeface="Calibri" pitchFamily="34" charset="-122"/>
                <a:cs typeface="Calibri" pitchFamily="34" charset="-120"/>
              </a:rPr>
              <a:t>Key identification feature: staggered rollout creates quasi-experimental variation. Scotland (treated) vs. England (control) — same UK macroeconomic environment, same FRS/HBAI survey, different benefit generosity.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5FF"/>
        </a:solidFill>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algn="l" indent="0" marL="0">
              <a:buNone/>
            </a:pPr>
            <a:r>
              <a:rPr lang="en-US" sz="2800" b="1" dirty="0">
                <a:solidFill>
                  <a:srgbClr val="3B0064"/>
                </a:solidFill>
                <a:latin typeface="Calibri" pitchFamily="34" charset="0"/>
                <a:ea typeface="Calibri" pitchFamily="34" charset="-122"/>
                <a:cs typeface="Calibri" pitchFamily="34" charset="-120"/>
              </a:rPr>
              <a:t>Existing Literature</a:t>
            </a:r>
            <a:endParaRPr lang="en-US" sz="2800" dirty="0"/>
          </a:p>
        </p:txBody>
      </p:sp>
      <p:sp>
        <p:nvSpPr>
          <p:cNvPr id="3" name="Shape 1"/>
          <p:cNvSpPr/>
          <p:nvPr/>
        </p:nvSpPr>
        <p:spPr>
          <a:xfrm>
            <a:off x="457200" y="777240"/>
            <a:ext cx="8229600" cy="27432"/>
          </a:xfrm>
          <a:prstGeom prst="rect">
            <a:avLst/>
          </a:prstGeom>
          <a:solidFill>
            <a:srgbClr val="660099"/>
          </a:solidFill>
          <a:ln/>
        </p:spPr>
        <p:txBody>
          <a:bodyPr/>
          <a:p/>
        </p:txBody>
      </p:sp>
      <p:sp>
        <p:nvSpPr>
          <p:cNvPr id="4" name="Shape 2"/>
          <p:cNvSpPr/>
          <p:nvPr/>
        </p:nvSpPr>
        <p:spPr>
          <a:xfrm>
            <a:off x="411480" y="932688"/>
            <a:ext cx="2651760" cy="3840480"/>
          </a:xfrm>
          <a:prstGeom prst="roundRect">
            <a:avLst>
              <a:gd name="adj" fmla="val 3448"/>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5" name="Shape 3"/>
          <p:cNvSpPr/>
          <p:nvPr/>
        </p:nvSpPr>
        <p:spPr>
          <a:xfrm>
            <a:off x="411480" y="932688"/>
            <a:ext cx="2651760" cy="457200"/>
          </a:xfrm>
          <a:prstGeom prst="roundRect">
            <a:avLst>
              <a:gd name="adj" fmla="val 20000"/>
            </a:avLst>
          </a:prstGeom>
          <a:solidFill>
            <a:srgbClr val="3B0064"/>
          </a:solidFill>
          <a:ln/>
        </p:spPr>
        <p:txBody>
          <a:bodyPr/>
          <a:p/>
        </p:txBody>
      </p:sp>
      <p:sp>
        <p:nvSpPr>
          <p:cNvPr id="6" name="Shape 4"/>
          <p:cNvSpPr/>
          <p:nvPr/>
        </p:nvSpPr>
        <p:spPr>
          <a:xfrm>
            <a:off x="411480" y="1234440"/>
            <a:ext cx="2651760" cy="155448"/>
          </a:xfrm>
          <a:prstGeom prst="rect">
            <a:avLst/>
          </a:prstGeom>
          <a:solidFill>
            <a:srgbClr val="3B0064"/>
          </a:solidFill>
          <a:ln/>
        </p:spPr>
        <p:txBody>
          <a:bodyPr/>
          <a:p/>
        </p:txBody>
      </p:sp>
      <p:sp>
        <p:nvSpPr>
          <p:cNvPr id="7" name="Text 5"/>
          <p:cNvSpPr/>
          <p:nvPr/>
        </p:nvSpPr>
        <p:spPr>
          <a:xfrm>
            <a:off x="502920" y="987552"/>
            <a:ext cx="2468880" cy="34747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SCP Evaluations</a:t>
            </a:r>
            <a:endParaRPr lang="en-US" sz="1200" dirty="0"/>
          </a:p>
        </p:txBody>
      </p:sp>
      <p:sp>
        <p:nvSpPr>
          <p:cNvPr id="8" name="Text 6"/>
          <p:cNvSpPr/>
          <p:nvPr/>
        </p:nvSpPr>
        <p:spPr>
          <a:xfrm>
            <a:off x="521208" y="1481328"/>
            <a:ext cx="2432304" cy="3063240"/>
          </a:xfrm>
          <a:prstGeom prst="rect">
            <a:avLst/>
          </a:prstGeom>
          <a:noFill/>
          <a:ln/>
        </p:spPr>
        <p:txBody>
          <a:bodyPr wrap="square" lIns="0" tIns="0" rIns="0" bIns="0" rtlCol="0" anchor="t"/>
          <a:lstStyle/>
          <a:p>
            <a:pPr marL="342900" indent="-342900">
              <a:spcAft>
                <a:spcPts val="800"/>
              </a:spcAft>
              <a:buSzPct val="100000"/>
              <a:buChar char="•"/>
            </a:pPr>
            <a:r>
              <a:rPr lang="en-US" sz="1000" dirty="0">
                <a:solidFill>
                  <a:srgbClr val="1A1A2E"/>
                </a:solidFill>
                <a:latin typeface="Calibri" pitchFamily="34" charset="0"/>
                <a:ea typeface="Calibri" pitchFamily="34" charset="-122"/>
                <a:cs typeface="Calibri" pitchFamily="34" charset="-120"/>
              </a:rPr>
              <a:t>Scottish Government (2024): Five Family Payments evaluation — positive self-reported impacts on food insecurity and material deprivation. Perception-based; explicitly calls for objective causal evidence.</a:t>
            </a:r>
            <a:endParaRPr lang="en-US" sz="1000" dirty="0"/>
          </a:p>
          <a:p>
            <a:pPr marL="342900" indent="-342900">
              <a:spcAft>
                <a:spcPts val="800"/>
              </a:spcAft>
              <a:buSzPct val="100000"/>
              <a:buChar char="•"/>
            </a:pPr>
            <a:r>
              <a:rPr lang="en-US" sz="1000" dirty="0">
                <a:solidFill>
                  <a:srgbClr val="1A1A2E"/>
                </a:solidFill>
                <a:latin typeface="Calibri" pitchFamily="34" charset="0"/>
                <a:ea typeface="Calibri" pitchFamily="34" charset="-122"/>
                <a:cs typeface="Calibri" pitchFamily="34" charset="-120"/>
              </a:rPr>
              <a:t>Stewart et al. (CASE, 2025): DiD on HBAI data — 8–9pp reduction in composite MDCH and food insecurity. Linear controls, composite outcomes.</a:t>
            </a:r>
            <a:endParaRPr lang="en-US" sz="1000" dirty="0"/>
          </a:p>
          <a:p>
            <a:pPr marL="342900" indent="-342900">
              <a:spcAft>
                <a:spcPts val="800"/>
              </a:spcAft>
              <a:buSzPct val="100000"/>
              <a:buChar char="•"/>
            </a:pPr>
            <a:r>
              <a:rPr lang="en-US" sz="1000" dirty="0">
                <a:solidFill>
                  <a:srgbClr val="1A1A2E"/>
                </a:solidFill>
                <a:latin typeface="Calibri" pitchFamily="34" charset="0"/>
                <a:ea typeface="Calibri" pitchFamily="34" charset="-122"/>
                <a:cs typeface="Calibri" pitchFamily="34" charset="-120"/>
              </a:rPr>
              <a:t>Gap: no study decomposes effects by deprivation item, uses flexible ML covariate adjustment, or provides objective causal evidence on material deprivation outcomes.</a:t>
            </a:r>
            <a:endParaRPr lang="en-US" sz="1000" dirty="0"/>
          </a:p>
        </p:txBody>
      </p:sp>
      <p:sp>
        <p:nvSpPr>
          <p:cNvPr id="9" name="Shape 7"/>
          <p:cNvSpPr/>
          <p:nvPr/>
        </p:nvSpPr>
        <p:spPr>
          <a:xfrm>
            <a:off x="3246120" y="932688"/>
            <a:ext cx="2651760" cy="3840480"/>
          </a:xfrm>
          <a:prstGeom prst="roundRect">
            <a:avLst>
              <a:gd name="adj" fmla="val 3448"/>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10" name="Shape 8"/>
          <p:cNvSpPr/>
          <p:nvPr/>
        </p:nvSpPr>
        <p:spPr>
          <a:xfrm>
            <a:off x="3246120" y="932688"/>
            <a:ext cx="2651760" cy="457200"/>
          </a:xfrm>
          <a:prstGeom prst="roundRect">
            <a:avLst>
              <a:gd name="adj" fmla="val 20000"/>
            </a:avLst>
          </a:prstGeom>
          <a:solidFill>
            <a:srgbClr val="660099"/>
          </a:solidFill>
          <a:ln/>
        </p:spPr>
        <p:txBody>
          <a:bodyPr/>
          <a:p/>
        </p:txBody>
      </p:sp>
      <p:sp>
        <p:nvSpPr>
          <p:cNvPr id="11" name="Shape 9"/>
          <p:cNvSpPr/>
          <p:nvPr/>
        </p:nvSpPr>
        <p:spPr>
          <a:xfrm>
            <a:off x="3246120" y="1234440"/>
            <a:ext cx="2651760" cy="155448"/>
          </a:xfrm>
          <a:prstGeom prst="rect">
            <a:avLst/>
          </a:prstGeom>
          <a:solidFill>
            <a:srgbClr val="660099"/>
          </a:solidFill>
          <a:ln/>
        </p:spPr>
        <p:txBody>
          <a:bodyPr/>
          <a:p/>
        </p:txBody>
      </p:sp>
      <p:sp>
        <p:nvSpPr>
          <p:cNvPr id="12" name="Text 10"/>
          <p:cNvSpPr/>
          <p:nvPr/>
        </p:nvSpPr>
        <p:spPr>
          <a:xfrm>
            <a:off x="3337560" y="987552"/>
            <a:ext cx="2468880" cy="34747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Hardship Measurement</a:t>
            </a:r>
            <a:endParaRPr lang="en-US" sz="1200" dirty="0"/>
          </a:p>
        </p:txBody>
      </p:sp>
      <p:sp>
        <p:nvSpPr>
          <p:cNvPr id="13" name="Text 11"/>
          <p:cNvSpPr/>
          <p:nvPr/>
        </p:nvSpPr>
        <p:spPr>
          <a:xfrm>
            <a:off x="3355848" y="1481328"/>
            <a:ext cx="2432304" cy="3063240"/>
          </a:xfrm>
          <a:prstGeom prst="rect">
            <a:avLst/>
          </a:prstGeom>
          <a:noFill/>
          <a:ln/>
        </p:spPr>
        <p:txBody>
          <a:bodyPr wrap="square" lIns="0" tIns="0" rIns="0" bIns="0" rtlCol="0" anchor="t"/>
          <a:lstStyle/>
          <a:p>
            <a:pPr marL="342900" indent="-342900">
              <a:spcAft>
                <a:spcPts val="800"/>
              </a:spcAft>
              <a:buSzPct val="100000"/>
              <a:buChar char="•"/>
            </a:pPr>
            <a:r>
              <a:rPr lang="en-US" sz="1000" dirty="0">
                <a:solidFill>
                  <a:srgbClr val="1A1A2E"/>
                </a:solidFill>
                <a:latin typeface="Calibri" pitchFamily="34" charset="0"/>
                <a:ea typeface="Calibri" pitchFamily="34" charset="-122"/>
                <a:cs typeface="Calibri" pitchFamily="34" charset="-120"/>
              </a:rPr>
              <a:t>Townsend (1979): Poverty as relative deprivation — inability to participate in society’s customary activities. Motivates MDCH items beyond income.</a:t>
            </a:r>
            <a:endParaRPr lang="en-US" sz="1000" dirty="0"/>
          </a:p>
          <a:p>
            <a:pPr marL="342900" indent="-342900">
              <a:spcAft>
                <a:spcPts val="800"/>
              </a:spcAft>
              <a:buSzPct val="100000"/>
              <a:buChar char="•"/>
            </a:pPr>
            <a:r>
              <a:rPr lang="en-US" sz="1000" dirty="0">
                <a:solidFill>
                  <a:srgbClr val="1A1A2E"/>
                </a:solidFill>
                <a:latin typeface="Calibri" pitchFamily="34" charset="0"/>
                <a:ea typeface="Calibri" pitchFamily="34" charset="-122"/>
                <a:cs typeface="Calibri" pitchFamily="34" charset="-120"/>
              </a:rPr>
              <a:t>Almada, McCarthy &amp; Tchernis (2015): Benefit misreporting biases treatment effects — IV estimates exceed nonparametric bounds by 200%+ when misreporting ignored.</a:t>
            </a:r>
            <a:endParaRPr lang="en-US" sz="1000" dirty="0"/>
          </a:p>
          <a:p>
            <a:pPr marL="342900" indent="-342900">
              <a:spcAft>
                <a:spcPts val="800"/>
              </a:spcAft>
              <a:buSzPct val="100000"/>
              <a:buChar char="•"/>
            </a:pPr>
            <a:r>
              <a:rPr lang="en-US" sz="1000" dirty="0">
                <a:solidFill>
                  <a:srgbClr val="1A1A2E"/>
                </a:solidFill>
                <a:latin typeface="Calibri" pitchFamily="34" charset="0"/>
                <a:ea typeface="Calibri" pitchFamily="34" charset="-122"/>
                <a:cs typeface="Calibri" pitchFamily="34" charset="-120"/>
              </a:rPr>
              <a:t>Manski (1990): Nonparametric bounds on treatment effects — partial identification when classical ME assumptions fail; frames our robustness checks.</a:t>
            </a:r>
            <a:endParaRPr lang="en-US" sz="1000" dirty="0"/>
          </a:p>
        </p:txBody>
      </p:sp>
      <p:sp>
        <p:nvSpPr>
          <p:cNvPr id="14" name="Shape 12"/>
          <p:cNvSpPr/>
          <p:nvPr/>
        </p:nvSpPr>
        <p:spPr>
          <a:xfrm>
            <a:off x="6080760" y="932688"/>
            <a:ext cx="2651760" cy="3840480"/>
          </a:xfrm>
          <a:prstGeom prst="roundRect">
            <a:avLst>
              <a:gd name="adj" fmla="val 3448"/>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15" name="Shape 13"/>
          <p:cNvSpPr/>
          <p:nvPr/>
        </p:nvSpPr>
        <p:spPr>
          <a:xfrm>
            <a:off x="6080760" y="932688"/>
            <a:ext cx="2651760" cy="457200"/>
          </a:xfrm>
          <a:prstGeom prst="roundRect">
            <a:avLst>
              <a:gd name="adj" fmla="val 20000"/>
            </a:avLst>
          </a:prstGeom>
          <a:solidFill>
            <a:srgbClr val="9333C8"/>
          </a:solidFill>
          <a:ln/>
        </p:spPr>
        <p:txBody>
          <a:bodyPr/>
          <a:p/>
        </p:txBody>
      </p:sp>
      <p:sp>
        <p:nvSpPr>
          <p:cNvPr id="16" name="Shape 14"/>
          <p:cNvSpPr/>
          <p:nvPr/>
        </p:nvSpPr>
        <p:spPr>
          <a:xfrm>
            <a:off x="6080760" y="1234440"/>
            <a:ext cx="2651760" cy="155448"/>
          </a:xfrm>
          <a:prstGeom prst="rect">
            <a:avLst/>
          </a:prstGeom>
          <a:solidFill>
            <a:srgbClr val="9333C8"/>
          </a:solidFill>
          <a:ln/>
        </p:spPr>
        <p:txBody>
          <a:bodyPr/>
          <a:p/>
        </p:txBody>
      </p:sp>
      <p:sp>
        <p:nvSpPr>
          <p:cNvPr id="17" name="Text 15"/>
          <p:cNvSpPr/>
          <p:nvPr/>
        </p:nvSpPr>
        <p:spPr>
          <a:xfrm>
            <a:off x="6172200" y="987552"/>
            <a:ext cx="2468880" cy="34747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Causal DiD Methods</a:t>
            </a:r>
            <a:endParaRPr lang="en-US" sz="1200" dirty="0"/>
          </a:p>
        </p:txBody>
      </p:sp>
      <p:sp>
        <p:nvSpPr>
          <p:cNvPr id="18" name="Text 16"/>
          <p:cNvSpPr/>
          <p:nvPr/>
        </p:nvSpPr>
        <p:spPr>
          <a:xfrm>
            <a:off x="6190488" y="1481328"/>
            <a:ext cx="2432304" cy="3063240"/>
          </a:xfrm>
          <a:prstGeom prst="rect">
            <a:avLst/>
          </a:prstGeom>
          <a:noFill/>
          <a:ln/>
        </p:spPr>
        <p:txBody>
          <a:bodyPr wrap="square" lIns="0" tIns="0" rIns="0" bIns="0" rtlCol="0" anchor="t"/>
          <a:lstStyle/>
          <a:p>
            <a:pPr marL="342900" indent="-342900">
              <a:spcAft>
                <a:spcPts val="800"/>
              </a:spcAft>
              <a:buSzPct val="100000"/>
              <a:buChar char="•"/>
            </a:pPr>
            <a:r>
              <a:rPr lang="en-US" sz="1000" dirty="0">
                <a:solidFill>
                  <a:srgbClr val="1A1A2E"/>
                </a:solidFill>
                <a:latin typeface="Calibri" pitchFamily="34" charset="0"/>
                <a:ea typeface="Calibri" pitchFamily="34" charset="-122"/>
                <a:cs typeface="Calibri" pitchFamily="34" charset="-120"/>
              </a:rPr>
              <a:t>Roth et al. (2023): Synthesis of modern DiD — staggered adoption, conditional parallel trends, pre-testing caution. The methodological landscape for this paper.</a:t>
            </a:r>
            <a:endParaRPr lang="en-US" sz="1000" dirty="0"/>
          </a:p>
          <a:p>
            <a:pPr marL="342900" indent="-342900">
              <a:spcAft>
                <a:spcPts val="800"/>
              </a:spcAft>
              <a:buSzPct val="100000"/>
              <a:buChar char="•"/>
            </a:pPr>
            <a:r>
              <a:rPr lang="en-US" sz="1000" dirty="0">
                <a:solidFill>
                  <a:srgbClr val="1A1A2E"/>
                </a:solidFill>
                <a:latin typeface="Calibri" pitchFamily="34" charset="0"/>
                <a:ea typeface="Calibri" pitchFamily="34" charset="-122"/>
                <a:cs typeface="Calibri" pitchFamily="34" charset="-120"/>
              </a:rPr>
              <a:t>Sant’Anna &amp; Zhao (2020): Doubly robust DiD — combines outcome regression and IPW under conditional parallel trends. Direct foundation for our DML extension.</a:t>
            </a:r>
            <a:endParaRPr lang="en-US" sz="1000" dirty="0"/>
          </a:p>
          <a:p>
            <a:pPr marL="342900" indent="-342900">
              <a:spcAft>
                <a:spcPts val="800"/>
              </a:spcAft>
              <a:buSzPct val="100000"/>
              <a:buChar char="•"/>
            </a:pPr>
            <a:r>
              <a:rPr lang="en-US" sz="1000" dirty="0">
                <a:solidFill>
                  <a:srgbClr val="1A1A2E"/>
                </a:solidFill>
                <a:latin typeface="Calibri" pitchFamily="34" charset="0"/>
                <a:ea typeface="Calibri" pitchFamily="34" charset="-122"/>
                <a:cs typeface="Calibri" pitchFamily="34" charset="-120"/>
              </a:rPr>
              <a:t>Chernozhukov et al. (2018) + Chang (2020): DML-DiD for valid inference under flexible ML adjustment.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9">
    <p:bg>
      <p:bgPr>
        <a:solidFill>
          <a:srgbClr val="F8F5FF"/>
        </a:solidFill>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algn="l" indent="0" marL="0">
              <a:buNone/>
            </a:pPr>
            <a:r>
              <a:rPr lang="en-US" sz="2800" b="1" dirty="0">
                <a:solidFill>
                  <a:srgbClr val="3B0064"/>
                </a:solidFill>
                <a:latin typeface="Calibri" pitchFamily="34" charset="0"/>
                <a:ea typeface="Calibri" pitchFamily="34" charset="-122"/>
                <a:cs typeface="Calibri" pitchFamily="34" charset="-120"/>
              </a:rPr>
              <a:t>Identification Strategy</a:t>
            </a:r>
            <a:endParaRPr lang="en-US" sz="2800" dirty="0"/>
          </a:p>
        </p:txBody>
      </p:sp>
      <p:sp>
        <p:nvSpPr>
          <p:cNvPr id="3" name="Shape 1"/>
          <p:cNvSpPr/>
          <p:nvPr/>
        </p:nvSpPr>
        <p:spPr>
          <a:xfrm>
            <a:off x="457200" y="777240"/>
            <a:ext cx="8229600" cy="27432"/>
          </a:xfrm>
          <a:prstGeom prst="rect">
            <a:avLst/>
          </a:prstGeom>
          <a:solidFill>
            <a:srgbClr val="660099"/>
          </a:solidFill>
          <a:ln/>
        </p:spPr>
        <p:txBody>
          <a:bodyPr/>
          <a:p/>
        </p:txBody>
      </p:sp>
      <p:sp>
        <p:nvSpPr>
          <p:cNvPr id="4" name="Text 2"/>
          <p:cNvSpPr/>
          <p:nvPr/>
        </p:nvSpPr>
        <p:spPr>
          <a:xfrm>
            <a:off x="457200" y="932688"/>
            <a:ext cx="4480560" cy="301752"/>
          </a:xfrm>
          <a:prstGeom prst="rect">
            <a:avLst/>
          </a:prstGeom>
          <a:noFill/>
          <a:ln/>
        </p:spPr>
        <p:txBody>
          <a:bodyPr wrap="square" rtlCol="0" anchor="ctr"/>
          <a:lstStyle/>
          <a:p>
            <a:pPr indent="0" marL="0">
              <a:buNone/>
            </a:pPr>
            <a:r>
              <a:rPr lang="en-US" sz="1300" b="1" dirty="0">
                <a:solidFill>
                  <a:srgbClr val="660099"/>
                </a:solidFill>
                <a:latin typeface="Calibri" pitchFamily="34" charset="0"/>
                <a:ea typeface="Calibri" pitchFamily="34" charset="-122"/>
                <a:cs typeface="Calibri" pitchFamily="34" charset="-120"/>
              </a:rPr>
              <a:t>The Quasi-Experiment</a:t>
            </a:r>
            <a:endParaRPr lang="en-US" sz="1300" dirty="0"/>
          </a:p>
        </p:txBody>
      </p:sp>
      <p:sp>
        <p:nvSpPr>
          <p:cNvPr id="5" name="Shape 3"/>
          <p:cNvSpPr/>
          <p:nvPr/>
        </p:nvSpPr>
        <p:spPr>
          <a:xfrm>
            <a:off x="457200" y="1280160"/>
            <a:ext cx="4480560" cy="822960"/>
          </a:xfrm>
          <a:prstGeom prst="roundRect">
            <a:avLst>
              <a:gd name="adj" fmla="val 8889"/>
            </a:avLst>
          </a:prstGeom>
          <a:solidFill>
            <a:srgbClr val="3B0064"/>
          </a:solidFill>
          <a:ln/>
        </p:spPr>
        <p:txBody>
          <a:bodyPr/>
          <a:p/>
        </p:txBody>
      </p:sp>
      <p:sp>
        <p:nvSpPr>
          <p:cNvPr id="6" name="Text 4"/>
          <p:cNvSpPr/>
          <p:nvPr/>
        </p:nvSpPr>
        <p:spPr>
          <a:xfrm>
            <a:off x="548640" y="1399032"/>
            <a:ext cx="429768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Scotland treated (Nov 2022) vs. England control — same survey, same macro environment</a:t>
            </a:r>
            <a:endParaRPr lang="en-US" sz="1200" dirty="0"/>
          </a:p>
        </p:txBody>
      </p:sp>
      <p:sp>
        <p:nvSpPr>
          <p:cNvPr id="7" name="Text 5"/>
          <p:cNvSpPr/>
          <p:nvPr/>
        </p:nvSpPr>
        <p:spPr>
          <a:xfrm>
            <a:off x="457200" y="2176272"/>
            <a:ext cx="4480560" cy="365760"/>
          </a:xfrm>
          <a:prstGeom prst="rect">
            <a:avLst/>
          </a:prstGeom>
          <a:noFill/>
          <a:ln/>
        </p:spPr>
        <p:txBody>
          <a:bodyPr wrap="square" rtlCol="0" anchor="ctr"/>
          <a:lstStyle/>
          <a:p>
            <a:pPr indent="0" marL="0">
              <a:buNone/>
            </a:pPr>
            <a:r>
              <a:rPr lang="en-US" sz="1000" b="1" dirty="0">
                <a:solidFill>
                  <a:srgbClr val="660099"/>
                </a:solidFill>
                <a:latin typeface="Calibri" pitchFamily="34" charset="0"/>
                <a:ea typeface="Calibri" pitchFamily="34" charset="-122"/>
                <a:cs typeface="Calibri" pitchFamily="34" charset="-120"/>
              </a:rPr>
              <a:t>δ</a:t>
            </a:r>
            <a:pPr indent="0" marL="0">
              <a:buNone/>
            </a:pPr>
            <a:r>
              <a:rPr lang="en-US" sz="1000" dirty="0">
                <a:solidFill>
                  <a:srgbClr val="1A1A2E"/>
                </a:solidFill>
                <a:latin typeface="Calibri" pitchFamily="34" charset="0"/>
                <a:ea typeface="Calibri" pitchFamily="34" charset="-122"/>
                <a:cs typeface="Calibri" pitchFamily="34" charset="-120"/>
              </a:rPr>
              <a:t xml:space="preserve"> = treatment effect of interest  |  </a:t>
            </a:r>
            <a:pPr indent="0" marL="0">
              <a:buNone/>
            </a:pPr>
            <a:r>
              <a:rPr lang="en-US" sz="1000" b="1" dirty="0">
                <a:solidFill>
                  <a:srgbClr val="660099"/>
                </a:solidFill>
                <a:latin typeface="Calibri" pitchFamily="34" charset="0"/>
                <a:ea typeface="Calibri" pitchFamily="34" charset="-122"/>
                <a:cs typeface="Calibri" pitchFamily="34" charset="-120"/>
              </a:rPr>
              <a:t>Post</a:t>
            </a:r>
            <a:pPr indent="0" marL="0">
              <a:buNone/>
            </a:pPr>
            <a:r>
              <a:rPr lang="en-US" sz="1000" dirty="0">
                <a:solidFill>
                  <a:srgbClr val="1A1A2E"/>
                </a:solidFill>
                <a:latin typeface="Calibri" pitchFamily="34" charset="0"/>
                <a:ea typeface="Calibri" pitchFamily="34" charset="-122"/>
                <a:cs typeface="Calibri" pitchFamily="34" charset="-120"/>
              </a:rPr>
              <a:t xml:space="preserve"> = 1 after Nov 2022 expansion  |  </a:t>
            </a:r>
            <a:pPr indent="0" marL="0">
              <a:buNone/>
            </a:pPr>
            <a:r>
              <a:rPr lang="en-US" sz="1000" b="1" dirty="0">
                <a:solidFill>
                  <a:srgbClr val="660099"/>
                </a:solidFill>
                <a:latin typeface="Calibri" pitchFamily="34" charset="0"/>
                <a:ea typeface="Calibri" pitchFamily="34" charset="-122"/>
                <a:cs typeface="Calibri" pitchFamily="34" charset="-120"/>
              </a:rPr>
              <a:t>γ_t</a:t>
            </a:r>
            <a:pPr indent="0" marL="0">
              <a:buNone/>
            </a:pPr>
            <a:r>
              <a:rPr lang="en-US" sz="1000" dirty="0">
                <a:solidFill>
                  <a:srgbClr val="1A1A2E"/>
                </a:solidFill>
                <a:latin typeface="Calibri" pitchFamily="34" charset="0"/>
                <a:ea typeface="Calibri" pitchFamily="34" charset="-122"/>
                <a:cs typeface="Calibri" pitchFamily="34" charset="-120"/>
              </a:rPr>
              <a:t xml:space="preserve"> = year fixed effects</a:t>
            </a:r>
            <a:endParaRPr lang="en-US" sz="1000" dirty="0"/>
          </a:p>
        </p:txBody>
      </p:sp>
      <p:sp>
        <p:nvSpPr>
          <p:cNvPr id="8" name="Text 6"/>
          <p:cNvSpPr/>
          <p:nvPr/>
        </p:nvSpPr>
        <p:spPr>
          <a:xfrm>
            <a:off x="457200" y="2606040"/>
            <a:ext cx="4480560" cy="274320"/>
          </a:xfrm>
          <a:prstGeom prst="rect">
            <a:avLst/>
          </a:prstGeom>
          <a:noFill/>
          <a:ln/>
        </p:spPr>
        <p:txBody>
          <a:bodyPr wrap="square" rtlCol="0" anchor="ctr"/>
          <a:lstStyle/>
          <a:p>
            <a:pPr indent="0" marL="0">
              <a:buNone/>
            </a:pPr>
            <a:r>
              <a:rPr lang="en-US" sz="1100" b="1" dirty="0">
                <a:solidFill>
                  <a:srgbClr val="660099"/>
                </a:solidFill>
                <a:latin typeface="Calibri" pitchFamily="34" charset="0"/>
                <a:ea typeface="Calibri" pitchFamily="34" charset="-122"/>
                <a:cs typeface="Calibri" pitchFamily="34" charset="-120"/>
              </a:rPr>
              <a:t>Why this works:</a:t>
            </a:r>
            <a:endParaRPr lang="en-US" sz="1100" dirty="0"/>
          </a:p>
        </p:txBody>
      </p:sp>
      <p:sp>
        <p:nvSpPr>
          <p:cNvPr id="9" name="Text 7"/>
          <p:cNvSpPr/>
          <p:nvPr/>
        </p:nvSpPr>
        <p:spPr>
          <a:xfrm>
            <a:off x="457200" y="2907792"/>
            <a:ext cx="4480560" cy="1874520"/>
          </a:xfrm>
          <a:prstGeom prst="rect">
            <a:avLst/>
          </a:prstGeom>
          <a:noFill/>
          <a:ln/>
        </p:spPr>
        <p:txBody>
          <a:bodyPr wrap="square" rtlCol="0" anchor="ctr"/>
          <a:lstStyle/>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SCP is Scotland-only — England received no equivalent payment in this period</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Both countries in same HBAI survey: identical data collection, no measurement discontinuity</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Staggered rollout (Feb 2021 under-6s; Nov 2022 all under-16s) gives two waves of variation</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Conditional parallel trends more credible than unconditional — income, tenure, family type controlled</a:t>
            </a:r>
            <a:endParaRPr lang="en-US" sz="1100" dirty="0"/>
          </a:p>
        </p:txBody>
      </p:sp>
      <p:sp>
        <p:nvSpPr>
          <p:cNvPr id="10" name="Text 8"/>
          <p:cNvSpPr/>
          <p:nvPr/>
        </p:nvSpPr>
        <p:spPr>
          <a:xfrm>
            <a:off x="5212080" y="932688"/>
            <a:ext cx="3566160" cy="301752"/>
          </a:xfrm>
          <a:prstGeom prst="rect">
            <a:avLst/>
          </a:prstGeom>
          <a:noFill/>
          <a:ln/>
        </p:spPr>
        <p:txBody>
          <a:bodyPr wrap="square" rtlCol="0" anchor="ctr"/>
          <a:lstStyle/>
          <a:p>
            <a:pPr indent="0" marL="0">
              <a:buNone/>
            </a:pPr>
            <a:r>
              <a:rPr lang="en-US" sz="1300" b="1" dirty="0">
                <a:solidFill>
                  <a:srgbClr val="660099"/>
                </a:solidFill>
                <a:latin typeface="Calibri" pitchFamily="34" charset="0"/>
                <a:ea typeface="Calibri" pitchFamily="34" charset="-122"/>
                <a:cs typeface="Calibri" pitchFamily="34" charset="-120"/>
              </a:rPr>
              <a:t>Key Assumption</a:t>
            </a:r>
            <a:endParaRPr lang="en-US" sz="1300" dirty="0"/>
          </a:p>
        </p:txBody>
      </p:sp>
      <p:sp>
        <p:nvSpPr>
          <p:cNvPr id="11" name="Shape 9"/>
          <p:cNvSpPr/>
          <p:nvPr/>
        </p:nvSpPr>
        <p:spPr>
          <a:xfrm>
            <a:off x="5212080" y="1280160"/>
            <a:ext cx="3566160" cy="1417320"/>
          </a:xfrm>
          <a:prstGeom prst="roundRect">
            <a:avLst>
              <a:gd name="adj" fmla="val 5161"/>
            </a:avLst>
          </a:prstGeom>
          <a:solidFill>
            <a:srgbClr val="EDE0F7"/>
          </a:solidFill>
          <a:ln/>
        </p:spPr>
        <p:txBody>
          <a:bodyPr/>
          <a:p/>
        </p:txBody>
      </p:sp>
      <p:sp>
        <p:nvSpPr>
          <p:cNvPr id="12" name="Text 10"/>
          <p:cNvSpPr/>
          <p:nvPr/>
        </p:nvSpPr>
        <p:spPr>
          <a:xfrm>
            <a:off x="5349240" y="1389888"/>
            <a:ext cx="3291840" cy="1207008"/>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E[Y(0) | X, Scotland] − E[Y(0) | X, England] constant over time. Testable in pre-period 2016/17–2021/22. Shown on next slide.</a:t>
            </a:r>
            <a:endParaRPr lang="en-US" sz="1100" dirty="0"/>
          </a:p>
          <a:p>
            <a:pPr indent="0" marL="0">
              <a:buNone/>
            </a:pPr>
            <a:r>
              <a:rPr lang="en-US" sz="1100" dirty="0">
                <a:solidFill>
                  <a:srgbClr val="1A1A2E"/>
                </a:solidFill>
                <a:latin typeface="Calibri" pitchFamily="34" charset="0"/>
                <a:ea typeface="Calibri" pitchFamily="34" charset="-122"/>
                <a:cs typeface="Calibri" pitchFamily="34" charset="-120"/>
              </a:rPr>
              <a:t/>
            </a:r>
            <a:endParaRPr lang="en-US" sz="1100" dirty="0"/>
          </a:p>
        </p:txBody>
      </p:sp>
      <p:sp>
        <p:nvSpPr>
          <p:cNvPr id="13" name="Text 11"/>
          <p:cNvSpPr/>
          <p:nvPr/>
        </p:nvSpPr>
        <p:spPr>
          <a:xfrm>
            <a:off x="5212080" y="2788920"/>
            <a:ext cx="3566160" cy="274320"/>
          </a:xfrm>
          <a:prstGeom prst="rect">
            <a:avLst/>
          </a:prstGeom>
          <a:noFill/>
          <a:ln/>
        </p:spPr>
        <p:txBody>
          <a:bodyPr wrap="square" rtlCol="0" anchor="ctr"/>
          <a:lstStyle/>
          <a:p>
            <a:pPr indent="0" marL="0">
              <a:buNone/>
            </a:pPr>
            <a:r>
              <a:rPr lang="en-US" sz="1100" b="1" dirty="0">
                <a:solidFill>
                  <a:srgbClr val="660099"/>
                </a:solidFill>
                <a:latin typeface="Calibri" pitchFamily="34" charset="0"/>
                <a:ea typeface="Calibri" pitchFamily="34" charset="-122"/>
                <a:cs typeface="Calibri" pitchFamily="34" charset="-120"/>
              </a:rPr>
              <a:t>Threats to identification:</a:t>
            </a:r>
            <a:endParaRPr lang="en-US" sz="1100" dirty="0"/>
          </a:p>
        </p:txBody>
      </p:sp>
      <p:sp>
        <p:nvSpPr>
          <p:cNvPr id="14" name="Text 12"/>
          <p:cNvSpPr/>
          <p:nvPr/>
        </p:nvSpPr>
        <p:spPr>
          <a:xfrm>
            <a:off x="5212080" y="3090672"/>
            <a:ext cx="3566160" cy="1737360"/>
          </a:xfrm>
          <a:prstGeom prst="rect">
            <a:avLst/>
          </a:prstGeom>
          <a:noFill/>
          <a:ln/>
        </p:spPr>
        <p:txBody>
          <a:bodyPr wrap="square" rtlCol="0" anchor="ctr"/>
          <a:lstStyle/>
          <a:p>
            <a:pPr marL="342900" indent="-342900">
              <a:spcAft>
                <a:spcPts val="800"/>
              </a:spcAft>
              <a:buSzPct val="100000"/>
              <a:buChar char="•"/>
            </a:pPr>
            <a:r>
              <a:rPr lang="en-US" sz="1050" dirty="0">
                <a:solidFill>
                  <a:srgbClr val="1A1A2E"/>
                </a:solidFill>
                <a:latin typeface="Calibri" pitchFamily="34" charset="0"/>
                <a:ea typeface="Calibri" pitchFamily="34" charset="-122"/>
                <a:cs typeface="Calibri" pitchFamily="34" charset="-120"/>
              </a:rPr>
              <a:t>Best Start Foods and other devolved Scottish benefits may confound Scotland×Post</a:t>
            </a:r>
            <a:endParaRPr lang="en-US" sz="1050" dirty="0"/>
          </a:p>
          <a:p>
            <a:pPr marL="342900" indent="-342900">
              <a:spcAft>
                <a:spcPts val="800"/>
              </a:spcAft>
              <a:buSzPct val="100000"/>
              <a:buChar char="•"/>
            </a:pPr>
            <a:r>
              <a:rPr lang="en-US" sz="1050" dirty="0">
                <a:solidFill>
                  <a:srgbClr val="1A1A2E"/>
                </a:solidFill>
                <a:latin typeface="Calibri" pitchFamily="34" charset="0"/>
                <a:ea typeface="Calibri" pitchFamily="34" charset="-122"/>
                <a:cs typeface="Calibri" pitchFamily="34" charset="-120"/>
              </a:rPr>
              <a:t>Scotland and England differ on housing tenure and industrial composition — controlled</a:t>
            </a:r>
            <a:endParaRPr lang="en-US" sz="1050" dirty="0"/>
          </a:p>
          <a:p>
            <a:pPr marL="342900" indent="-342900">
              <a:spcAft>
                <a:spcPts val="800"/>
              </a:spcAft>
              <a:buSzPct val="100000"/>
              <a:buChar char="•"/>
            </a:pPr>
            <a:r>
              <a:rPr lang="en-US" sz="1050" dirty="0">
                <a:solidFill>
                  <a:srgbClr val="1A1A2E"/>
                </a:solidFill>
                <a:latin typeface="Calibri" pitchFamily="34" charset="0"/>
                <a:ea typeface="Calibri" pitchFamily="34" charset="-122"/>
                <a:cs typeface="Calibri" pitchFamily="34" charset="-120"/>
              </a:rPr>
              <a:t>Ethnicity covariate available — matches CASE paper; conditional parallel trends well-supported</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5FF"/>
        </a:solidFill>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algn="l" indent="0" marL="0">
              <a:buNone/>
            </a:pPr>
            <a:r>
              <a:rPr lang="en-US" sz="2800" b="1" dirty="0">
                <a:solidFill>
                  <a:srgbClr val="3B0064"/>
                </a:solidFill>
                <a:latin typeface="Calibri" pitchFamily="34" charset="0"/>
                <a:ea typeface="Calibri" pitchFamily="34" charset="-122"/>
                <a:cs typeface="Calibri" pitchFamily="34" charset="-120"/>
              </a:rPr>
              <a:t>Data: HBAI Individual Microdata</a:t>
            </a:r>
            <a:endParaRPr lang="en-US" sz="2800" dirty="0"/>
          </a:p>
        </p:txBody>
      </p:sp>
      <p:sp>
        <p:nvSpPr>
          <p:cNvPr id="3" name="Shape 1"/>
          <p:cNvSpPr/>
          <p:nvPr/>
        </p:nvSpPr>
        <p:spPr>
          <a:xfrm>
            <a:off x="457200" y="777240"/>
            <a:ext cx="8229600" cy="27432"/>
          </a:xfrm>
          <a:prstGeom prst="rect">
            <a:avLst/>
          </a:prstGeom>
          <a:solidFill>
            <a:srgbClr val="660099"/>
          </a:solidFill>
          <a:ln/>
        </p:spPr>
        <p:txBody>
          <a:bodyPr/>
          <a:p/>
        </p:txBody>
      </p:sp>
      <p:sp>
        <p:nvSpPr>
          <p:cNvPr id="4" name="Text 2"/>
          <p:cNvSpPr/>
          <p:nvPr/>
        </p:nvSpPr>
        <p:spPr>
          <a:xfrm>
            <a:off x="457200" y="932688"/>
            <a:ext cx="4206240" cy="320040"/>
          </a:xfrm>
          <a:prstGeom prst="rect">
            <a:avLst/>
          </a:prstGeom>
          <a:noFill/>
          <a:ln/>
        </p:spPr>
        <p:txBody>
          <a:bodyPr wrap="square" rtlCol="0" anchor="ctr"/>
          <a:lstStyle/>
          <a:p>
            <a:pPr indent="0" marL="0">
              <a:buNone/>
            </a:pPr>
            <a:r>
              <a:rPr lang="en-US" sz="1300" b="1" dirty="0">
                <a:solidFill>
                  <a:srgbClr val="660099"/>
                </a:solidFill>
                <a:latin typeface="Calibri" pitchFamily="34" charset="0"/>
                <a:ea typeface="Calibri" pitchFamily="34" charset="-122"/>
                <a:cs typeface="Calibri" pitchFamily="34" charset="-120"/>
              </a:rPr>
              <a:t>Source &amp; Coverage</a:t>
            </a:r>
            <a:endParaRPr lang="en-US" sz="1300" dirty="0"/>
          </a:p>
        </p:txBody>
      </p:sp>
      <p:sp>
        <p:nvSpPr>
          <p:cNvPr id="5" name="Text 3"/>
          <p:cNvSpPr/>
          <p:nvPr/>
        </p:nvSpPr>
        <p:spPr>
          <a:xfrm>
            <a:off x="457200" y="1280160"/>
            <a:ext cx="4206240" cy="1828800"/>
          </a:xfrm>
          <a:prstGeom prst="rect">
            <a:avLst/>
          </a:prstGeom>
          <a:noFill/>
          <a:ln/>
        </p:spPr>
        <p:txBody>
          <a:bodyPr wrap="square" rtlCol="0" anchor="ctr"/>
          <a:lstStyle/>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UKDA-5828: HBAI harmonised individual-level microdata</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Three stacked TAB files covering 2016/17–2023/24 in constant 2023/24 prices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One observation per child — unit of analysis is child-year</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Survey weight: GS_INDCH (official HBAI child weight)</a:t>
            </a:r>
            <a:endParaRPr lang="en-US" sz="1100" dirty="0"/>
          </a:p>
        </p:txBody>
      </p:sp>
      <p:sp>
        <p:nvSpPr>
          <p:cNvPr id="6" name="Text 4"/>
          <p:cNvSpPr/>
          <p:nvPr/>
        </p:nvSpPr>
        <p:spPr>
          <a:xfrm>
            <a:off x="457200" y="3154680"/>
            <a:ext cx="4206240" cy="320040"/>
          </a:xfrm>
          <a:prstGeom prst="rect">
            <a:avLst/>
          </a:prstGeom>
          <a:noFill/>
          <a:ln/>
        </p:spPr>
        <p:txBody>
          <a:bodyPr wrap="square" rtlCol="0" anchor="ctr"/>
          <a:lstStyle/>
          <a:p>
            <a:pPr indent="0" marL="0">
              <a:buNone/>
            </a:pPr>
            <a:r>
              <a:rPr lang="en-US" sz="1300" b="1" dirty="0">
                <a:solidFill>
                  <a:srgbClr val="660099"/>
                </a:solidFill>
                <a:latin typeface="Calibri" pitchFamily="34" charset="0"/>
                <a:ea typeface="Calibri" pitchFamily="34" charset="-122"/>
                <a:cs typeface="Calibri" pitchFamily="34" charset="-120"/>
              </a:rPr>
              <a:t>Sample Restrictions</a:t>
            </a:r>
            <a:endParaRPr lang="en-US" sz="1300" dirty="0"/>
          </a:p>
        </p:txBody>
      </p:sp>
      <p:sp>
        <p:nvSpPr>
          <p:cNvPr id="7" name="Text 5"/>
          <p:cNvSpPr/>
          <p:nvPr/>
        </p:nvSpPr>
        <p:spPr>
          <a:xfrm>
            <a:off x="457200" y="3502152"/>
            <a:ext cx="4206240" cy="1417320"/>
          </a:xfrm>
          <a:prstGeom prst="rect">
            <a:avLst/>
          </a:prstGeom>
          <a:noFill/>
          <a:ln/>
        </p:spPr>
        <p:txBody>
          <a:bodyPr wrap="square" rtlCol="0" anchor="ctr"/>
          <a:lstStyle/>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Scotland (GVTREGN = 12) and England only — Wales and NI excluded</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Children aged 16 and under (SCP eligibility)</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2020/21 excluded — COVID survey disruption</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Years: 2016/17 to 2023/24 (7 survey years)</a:t>
            </a:r>
            <a:endParaRPr lang="en-US" sz="1100" dirty="0"/>
          </a:p>
        </p:txBody>
      </p:sp>
      <p:sp>
        <p:nvSpPr>
          <p:cNvPr id="8" name="Shape 6"/>
          <p:cNvSpPr/>
          <p:nvPr/>
        </p:nvSpPr>
        <p:spPr>
          <a:xfrm>
            <a:off x="4937760" y="932688"/>
            <a:ext cx="3840480" cy="1261872"/>
          </a:xfrm>
          <a:prstGeom prst="roundRect">
            <a:avLst>
              <a:gd name="adj" fmla="val 5797"/>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9" name="Text 7"/>
          <p:cNvSpPr/>
          <p:nvPr/>
        </p:nvSpPr>
        <p:spPr>
          <a:xfrm>
            <a:off x="5074920" y="1024128"/>
            <a:ext cx="3566160" cy="292608"/>
          </a:xfrm>
          <a:prstGeom prst="rect">
            <a:avLst/>
          </a:prstGeom>
          <a:noFill/>
          <a:ln/>
        </p:spPr>
        <p:txBody>
          <a:bodyPr wrap="square" rtlCol="0" anchor="ctr"/>
          <a:lstStyle/>
          <a:p>
            <a:pPr indent="0" marL="0">
              <a:buNone/>
            </a:pPr>
            <a:r>
              <a:rPr lang="en-US" sz="1100" b="1" dirty="0">
                <a:solidFill>
                  <a:srgbClr val="3B0064"/>
                </a:solidFill>
                <a:latin typeface="Calibri" pitchFamily="34" charset="0"/>
                <a:ea typeface="Calibri" pitchFamily="34" charset="-122"/>
                <a:cs typeface="Calibri" pitchFamily="34" charset="-120"/>
              </a:rPr>
              <a:t>LCA Indicators (12 binary)</a:t>
            </a:r>
            <a:endParaRPr lang="en-US" sz="1100" dirty="0"/>
          </a:p>
        </p:txBody>
      </p:sp>
      <p:sp>
        <p:nvSpPr>
          <p:cNvPr id="10" name="Text 8"/>
          <p:cNvSpPr/>
          <p:nvPr/>
        </p:nvSpPr>
        <p:spPr>
          <a:xfrm>
            <a:off x="5074920" y="1344168"/>
            <a:ext cx="3566160" cy="749808"/>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Material basics (bed, coat, school kit), social participation (celebrations, holidays, trips, play) and diet (fruit &amp; veg)</a:t>
            </a:r>
            <a:endParaRPr lang="en-US" sz="950" dirty="0"/>
          </a:p>
        </p:txBody>
      </p:sp>
      <p:sp>
        <p:nvSpPr>
          <p:cNvPr id="11" name="Shape 9"/>
          <p:cNvSpPr/>
          <p:nvPr/>
        </p:nvSpPr>
        <p:spPr>
          <a:xfrm>
            <a:off x="4937760" y="2304288"/>
            <a:ext cx="3840480" cy="1261872"/>
          </a:xfrm>
          <a:prstGeom prst="roundRect">
            <a:avLst>
              <a:gd name="adj" fmla="val 5797"/>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12" name="Text 10"/>
          <p:cNvSpPr/>
          <p:nvPr/>
        </p:nvSpPr>
        <p:spPr>
          <a:xfrm>
            <a:off x="5074920" y="2395728"/>
            <a:ext cx="3566160" cy="292608"/>
          </a:xfrm>
          <a:prstGeom prst="rect">
            <a:avLst/>
          </a:prstGeom>
          <a:noFill/>
          <a:ln/>
        </p:spPr>
        <p:txBody>
          <a:bodyPr wrap="square" rtlCol="0" anchor="ctr"/>
          <a:lstStyle/>
          <a:p>
            <a:pPr indent="0" marL="0">
              <a:buNone/>
            </a:pPr>
            <a:r>
              <a:rPr lang="en-US" sz="1100" b="1" dirty="0">
                <a:solidFill>
                  <a:srgbClr val="660099"/>
                </a:solidFill>
                <a:latin typeface="Calibri" pitchFamily="34" charset="0"/>
                <a:ea typeface="Calibri" pitchFamily="34" charset="-122"/>
                <a:cs typeface="Calibri" pitchFamily="34" charset="-120"/>
              </a:rPr>
              <a:t>Outcomes / Validation</a:t>
            </a:r>
            <a:endParaRPr lang="en-US" sz="1100" dirty="0"/>
          </a:p>
        </p:txBody>
      </p:sp>
      <p:sp>
        <p:nvSpPr>
          <p:cNvPr id="13" name="Text 11"/>
          <p:cNvSpPr/>
          <p:nvPr/>
        </p:nvSpPr>
        <p:spPr>
          <a:xfrm>
            <a:off x="5074920" y="2715768"/>
            <a:ext cx="3566160" cy="749808"/>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FOODSEC (food security, 3-level), LOWINCMDCH (low income + deprivation), mdch_any, mdch_severe</a:t>
            </a:r>
            <a:endParaRPr lang="en-US" sz="950" dirty="0"/>
          </a:p>
        </p:txBody>
      </p:sp>
      <p:sp>
        <p:nvSpPr>
          <p:cNvPr id="14" name="Shape 12"/>
          <p:cNvSpPr/>
          <p:nvPr/>
        </p:nvSpPr>
        <p:spPr>
          <a:xfrm>
            <a:off x="4937760" y="3675888"/>
            <a:ext cx="3840480" cy="1261872"/>
          </a:xfrm>
          <a:prstGeom prst="roundRect">
            <a:avLst>
              <a:gd name="adj" fmla="val 5797"/>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15" name="Text 13"/>
          <p:cNvSpPr/>
          <p:nvPr/>
        </p:nvSpPr>
        <p:spPr>
          <a:xfrm>
            <a:off x="5074920" y="3767328"/>
            <a:ext cx="3566160" cy="292608"/>
          </a:xfrm>
          <a:prstGeom prst="rect">
            <a:avLst/>
          </a:prstGeom>
          <a:noFill/>
          <a:ln/>
        </p:spPr>
        <p:txBody>
          <a:bodyPr wrap="square" rtlCol="0" anchor="ctr"/>
          <a:lstStyle/>
          <a:p>
            <a:pPr indent="0" marL="0">
              <a:buNone/>
            </a:pPr>
            <a:r>
              <a:rPr lang="en-US" sz="1100" b="1" dirty="0">
                <a:solidFill>
                  <a:srgbClr val="9333C8"/>
                </a:solidFill>
                <a:latin typeface="Calibri" pitchFamily="34" charset="0"/>
                <a:ea typeface="Calibri" pitchFamily="34" charset="-122"/>
                <a:cs typeface="Calibri" pitchFamily="34" charset="-120"/>
              </a:rPr>
              <a:t>DML Covariates (20, kitchen-sink)</a:t>
            </a:r>
            <a:endParaRPr lang="en-US" sz="1100" dirty="0"/>
          </a:p>
        </p:txBody>
      </p:sp>
      <p:sp>
        <p:nvSpPr>
          <p:cNvPr id="16" name="Text 14"/>
          <p:cNvSpPr/>
          <p:nvPr/>
        </p:nvSpPr>
        <p:spPr>
          <a:xfrm>
            <a:off x="5074920" y="4087368"/>
            <a:ext cx="3566160" cy="749808"/>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Demographics, disability, income, benefits, housing costs &amp; earnings — plus tenure, employment status, region and year fixed effects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5FF"/>
        </a:solidFill>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algn="l" indent="0" marL="0">
              <a:buNone/>
            </a:pPr>
            <a:r>
              <a:rPr lang="en-US" sz="2800" b="1" dirty="0">
                <a:solidFill>
                  <a:srgbClr val="3B0064"/>
                </a:solidFill>
                <a:latin typeface="Calibri" pitchFamily="34" charset="0"/>
                <a:ea typeface="Calibri" pitchFamily="34" charset="-122"/>
                <a:cs typeface="Calibri" pitchFamily="34" charset="-120"/>
              </a:rPr>
              <a:t>Sample Description</a:t>
            </a:r>
            <a:endParaRPr lang="en-US" sz="2800" dirty="0"/>
          </a:p>
        </p:txBody>
      </p:sp>
      <p:sp>
        <p:nvSpPr>
          <p:cNvPr id="3" name="Shape 1"/>
          <p:cNvSpPr/>
          <p:nvPr/>
        </p:nvSpPr>
        <p:spPr>
          <a:xfrm>
            <a:off x="457200" y="777240"/>
            <a:ext cx="8229600" cy="27432"/>
          </a:xfrm>
          <a:prstGeom prst="rect">
            <a:avLst/>
          </a:prstGeom>
          <a:solidFill>
            <a:srgbClr val="660099"/>
          </a:solidFill>
          <a:ln/>
        </p:spPr>
        <p:txBody>
          <a:bodyPr/>
          <a:p/>
        </p:txBody>
      </p:sp>
      <p:sp>
        <p:nvSpPr>
          <p:cNvPr id="4" name="Shape 2"/>
          <p:cNvSpPr/>
          <p:nvPr/>
        </p:nvSpPr>
        <p:spPr>
          <a:xfrm>
            <a:off x="411480" y="960120"/>
            <a:ext cx="2011680" cy="1417320"/>
          </a:xfrm>
          <a:prstGeom prst="roundRect">
            <a:avLst>
              <a:gd name="adj" fmla="val 6452"/>
            </a:avLst>
          </a:prstGeom>
          <a:solidFill>
            <a:srgbClr val="3B0064"/>
          </a:solidFill>
          <a:ln/>
          <a:effectLst>
            <a:outerShdw sx="100000" sy="100000" kx="0" ky="0" algn="bl" rotWithShape="0" blurRad="101600" dist="25400" dir="2700000">
              <a:srgbClr val="000000">
                <a:alpha val="12000"/>
              </a:srgbClr>
            </a:outerShdw>
          </a:effectLst>
        </p:spPr>
        <p:txBody>
          <a:bodyPr/>
          <a:p/>
        </p:txBody>
      </p:sp>
      <p:sp>
        <p:nvSpPr>
          <p:cNvPr id="5" name="Text 3"/>
          <p:cNvSpPr/>
          <p:nvPr/>
        </p:nvSpPr>
        <p:spPr>
          <a:xfrm>
            <a:off x="411480" y="1078992"/>
            <a:ext cx="2011680" cy="594360"/>
          </a:xfrm>
          <a:prstGeom prst="rect">
            <a:avLst/>
          </a:prstGeom>
          <a:noFill/>
          <a:ln/>
        </p:spPr>
        <p:txBody>
          <a:bodyPr wrap="square" rtlCol="0" anchor="ctr"/>
          <a:lstStyle/>
          <a:p>
            <a:pPr algn="ctr" indent="0" marL="0">
              <a:buNone/>
            </a:pPr>
            <a:r>
              <a:rPr lang="en-US" sz="2800" b="1" dirty="0">
                <a:solidFill>
                  <a:srgbClr val="F5A623"/>
                </a:solidFill>
                <a:latin typeface="Calibri" pitchFamily="34" charset="0"/>
                <a:ea typeface="Calibri" pitchFamily="34" charset="-122"/>
                <a:cs typeface="Calibri" pitchFamily="34" charset="-120"/>
              </a:rPr>
              <a:t>251,867</a:t>
            </a:r>
            <a:endParaRPr lang="en-US" sz="2800" dirty="0"/>
          </a:p>
        </p:txBody>
      </p:sp>
      <p:sp>
        <p:nvSpPr>
          <p:cNvPr id="6" name="Text 4"/>
          <p:cNvSpPr/>
          <p:nvPr/>
        </p:nvSpPr>
        <p:spPr>
          <a:xfrm>
            <a:off x="411480" y="1664208"/>
            <a:ext cx="2011680" cy="365760"/>
          </a:xfrm>
          <a:prstGeom prst="rect">
            <a:avLst/>
          </a:prstGeom>
          <a:noFill/>
          <a:ln/>
        </p:spPr>
        <p:txBody>
          <a:bodyPr wrap="square" rtlCol="0" anchor="ctr"/>
          <a:lstStyle/>
          <a:p>
            <a:pPr algn="ctr" indent="0" marL="0">
              <a:buNone/>
            </a:pPr>
            <a:r>
              <a:rPr lang="en-US" sz="950" b="1" dirty="0">
                <a:solidFill>
                  <a:srgbClr val="EDE0F7"/>
                </a:solidFill>
                <a:latin typeface="Calibri" pitchFamily="34" charset="0"/>
                <a:ea typeface="Calibri" pitchFamily="34" charset="-122"/>
                <a:cs typeface="Calibri" pitchFamily="34" charset="-120"/>
              </a:rPr>
              <a:t>Child-year</a:t>
            </a:r>
            <a:endParaRPr lang="en-US" sz="950" dirty="0"/>
          </a:p>
          <a:p>
            <a:pPr algn="ctr" indent="0" marL="0">
              <a:buNone/>
            </a:pPr>
            <a:r>
              <a:rPr lang="en-US" sz="950" b="1" dirty="0">
                <a:solidFill>
                  <a:srgbClr val="EDE0F7"/>
                </a:solidFill>
                <a:latin typeface="Calibri" pitchFamily="34" charset="0"/>
                <a:ea typeface="Calibri" pitchFamily="34" charset="-122"/>
                <a:cs typeface="Calibri" pitchFamily="34" charset="-120"/>
              </a:rPr>
              <a:t>observations</a:t>
            </a:r>
            <a:endParaRPr lang="en-US" sz="950" dirty="0"/>
          </a:p>
        </p:txBody>
      </p:sp>
      <p:sp>
        <p:nvSpPr>
          <p:cNvPr id="7" name="Text 5"/>
          <p:cNvSpPr/>
          <p:nvPr/>
        </p:nvSpPr>
        <p:spPr>
          <a:xfrm>
            <a:off x="411480" y="2029968"/>
            <a:ext cx="2011680" cy="274320"/>
          </a:xfrm>
          <a:prstGeom prst="rect">
            <a:avLst/>
          </a:prstGeom>
          <a:noFill/>
          <a:ln/>
        </p:spPr>
        <p:txBody>
          <a:bodyPr wrap="square" rtlCol="0" anchor="ctr"/>
          <a:lstStyle/>
          <a:p>
            <a:pPr algn="ctr" indent="0" marL="0">
              <a:buNone/>
            </a:pPr>
            <a:r>
              <a:rPr lang="en-US" sz="850" dirty="0">
                <a:solidFill>
                  <a:srgbClr val="CBD5E1"/>
                </a:solidFill>
                <a:latin typeface="Calibri" pitchFamily="34" charset="0"/>
                <a:ea typeface="Calibri" pitchFamily="34" charset="-122"/>
                <a:cs typeface="Calibri" pitchFamily="34" charset="-120"/>
              </a:rPr>
              <a:t>2016/17–2023/24</a:t>
            </a:r>
            <a:endParaRPr lang="en-US" sz="850" dirty="0"/>
          </a:p>
          <a:p>
            <a:pPr algn="ctr" indent="0" marL="0">
              <a:buNone/>
            </a:pPr>
            <a:r>
              <a:rPr lang="en-US" sz="850" dirty="0">
                <a:solidFill>
                  <a:srgbClr val="CBD5E1"/>
                </a:solidFill>
                <a:latin typeface="Calibri" pitchFamily="34" charset="0"/>
                <a:ea typeface="Calibri" pitchFamily="34" charset="-122"/>
                <a:cs typeface="Calibri" pitchFamily="34" charset="-120"/>
              </a:rPr>
              <a:t>excl. 2020/21</a:t>
            </a:r>
            <a:endParaRPr lang="en-US" sz="850" dirty="0"/>
          </a:p>
        </p:txBody>
      </p:sp>
      <p:sp>
        <p:nvSpPr>
          <p:cNvPr id="8" name="Shape 6"/>
          <p:cNvSpPr/>
          <p:nvPr/>
        </p:nvSpPr>
        <p:spPr>
          <a:xfrm>
            <a:off x="2587752" y="960120"/>
            <a:ext cx="2011680" cy="1417320"/>
          </a:xfrm>
          <a:prstGeom prst="roundRect">
            <a:avLst>
              <a:gd name="adj" fmla="val 6452"/>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9" name="Text 7"/>
          <p:cNvSpPr/>
          <p:nvPr/>
        </p:nvSpPr>
        <p:spPr>
          <a:xfrm>
            <a:off x="2587752" y="1078992"/>
            <a:ext cx="2011680" cy="594360"/>
          </a:xfrm>
          <a:prstGeom prst="rect">
            <a:avLst/>
          </a:prstGeom>
          <a:noFill/>
          <a:ln/>
        </p:spPr>
        <p:txBody>
          <a:bodyPr wrap="square" rtlCol="0" anchor="ctr"/>
          <a:lstStyle/>
          <a:p>
            <a:pPr algn="ctr" indent="0" marL="0">
              <a:buNone/>
            </a:pPr>
            <a:r>
              <a:rPr lang="en-US" sz="2800" b="1" dirty="0">
                <a:solidFill>
                  <a:srgbClr val="3B0064"/>
                </a:solidFill>
                <a:latin typeface="Calibri" pitchFamily="34" charset="0"/>
                <a:ea typeface="Calibri" pitchFamily="34" charset="-122"/>
                <a:cs typeface="Calibri" pitchFamily="34" charset="-120"/>
              </a:rPr>
              <a:t>99,157</a:t>
            </a:r>
            <a:endParaRPr lang="en-US" sz="2800" dirty="0"/>
          </a:p>
        </p:txBody>
      </p:sp>
      <p:sp>
        <p:nvSpPr>
          <p:cNvPr id="10" name="Text 8"/>
          <p:cNvSpPr/>
          <p:nvPr/>
        </p:nvSpPr>
        <p:spPr>
          <a:xfrm>
            <a:off x="2587752" y="1664208"/>
            <a:ext cx="2011680" cy="365760"/>
          </a:xfrm>
          <a:prstGeom prst="rect">
            <a:avLst/>
          </a:prstGeom>
          <a:noFill/>
          <a:ln/>
        </p:spPr>
        <p:txBody>
          <a:bodyPr wrap="square" rtlCol="0" anchor="ctr"/>
          <a:lstStyle/>
          <a:p>
            <a:pPr algn="ctr" indent="0" marL="0">
              <a:buNone/>
            </a:pPr>
            <a:r>
              <a:rPr lang="en-US" sz="950" b="1" dirty="0">
                <a:solidFill>
                  <a:srgbClr val="660099"/>
                </a:solidFill>
                <a:latin typeface="Calibri" pitchFamily="34" charset="0"/>
                <a:ea typeface="Calibri" pitchFamily="34" charset="-122"/>
                <a:cs typeface="Calibri" pitchFamily="34" charset="-120"/>
              </a:rPr>
              <a:t>MDCH module</a:t>
            </a:r>
            <a:endParaRPr lang="en-US" sz="950" dirty="0"/>
          </a:p>
          <a:p>
            <a:pPr algn="ctr" indent="0" marL="0">
              <a:buNone/>
            </a:pPr>
            <a:r>
              <a:rPr lang="en-US" sz="950" b="1" dirty="0">
                <a:solidFill>
                  <a:srgbClr val="660099"/>
                </a:solidFill>
                <a:latin typeface="Calibri" pitchFamily="34" charset="0"/>
                <a:ea typeface="Calibri" pitchFamily="34" charset="-122"/>
                <a:cs typeface="Calibri" pitchFamily="34" charset="-120"/>
              </a:rPr>
              <a:t>observed</a:t>
            </a:r>
            <a:endParaRPr lang="en-US" sz="950" dirty="0"/>
          </a:p>
        </p:txBody>
      </p:sp>
      <p:sp>
        <p:nvSpPr>
          <p:cNvPr id="11" name="Text 9"/>
          <p:cNvSpPr/>
          <p:nvPr/>
        </p:nvSpPr>
        <p:spPr>
          <a:xfrm>
            <a:off x="2587752" y="2029968"/>
            <a:ext cx="2011680" cy="27432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children with full</a:t>
            </a:r>
            <a:endParaRPr lang="en-US" sz="850" dirty="0"/>
          </a:p>
          <a:p>
            <a:pPr algn="ctr" indent="0" marL="0">
              <a:buNone/>
            </a:pPr>
            <a:r>
              <a:rPr lang="en-US" sz="850" dirty="0">
                <a:solidFill>
                  <a:srgbClr val="64748B"/>
                </a:solidFill>
                <a:latin typeface="Calibri" pitchFamily="34" charset="0"/>
                <a:ea typeface="Calibri" pitchFamily="34" charset="-122"/>
                <a:cs typeface="Calibri" pitchFamily="34" charset="-120"/>
              </a:rPr>
              <a:t>12-item deprivation data</a:t>
            </a:r>
            <a:endParaRPr lang="en-US" sz="850" dirty="0"/>
          </a:p>
        </p:txBody>
      </p:sp>
      <p:sp>
        <p:nvSpPr>
          <p:cNvPr id="12" name="Shape 10"/>
          <p:cNvSpPr/>
          <p:nvPr/>
        </p:nvSpPr>
        <p:spPr>
          <a:xfrm>
            <a:off x="4764024" y="960120"/>
            <a:ext cx="2011680" cy="1417320"/>
          </a:xfrm>
          <a:prstGeom prst="roundRect">
            <a:avLst>
              <a:gd name="adj" fmla="val 6452"/>
            </a:avLst>
          </a:prstGeom>
          <a:solidFill>
            <a:srgbClr val="3B0064"/>
          </a:solidFill>
          <a:ln/>
          <a:effectLst>
            <a:outerShdw sx="100000" sy="100000" kx="0" ky="0" algn="bl" rotWithShape="0" blurRad="101600" dist="25400" dir="2700000">
              <a:srgbClr val="000000">
                <a:alpha val="12000"/>
              </a:srgbClr>
            </a:outerShdw>
          </a:effectLst>
        </p:spPr>
        <p:txBody>
          <a:bodyPr/>
          <a:p/>
        </p:txBody>
      </p:sp>
      <p:sp>
        <p:nvSpPr>
          <p:cNvPr id="13" name="Text 11"/>
          <p:cNvSpPr/>
          <p:nvPr/>
        </p:nvSpPr>
        <p:spPr>
          <a:xfrm>
            <a:off x="4764024" y="1078992"/>
            <a:ext cx="2011680" cy="594360"/>
          </a:xfrm>
          <a:prstGeom prst="rect">
            <a:avLst/>
          </a:prstGeom>
          <a:noFill/>
          <a:ln/>
        </p:spPr>
        <p:txBody>
          <a:bodyPr wrap="square" rtlCol="0" anchor="ctr"/>
          <a:lstStyle/>
          <a:p>
            <a:pPr algn="ctr" indent="0" marL="0">
              <a:buNone/>
            </a:pPr>
            <a:r>
              <a:rPr lang="en-US" sz="2800" b="1" dirty="0">
                <a:solidFill>
                  <a:srgbClr val="F5A623"/>
                </a:solidFill>
                <a:latin typeface="Calibri" pitchFamily="34" charset="0"/>
                <a:ea typeface="Calibri" pitchFamily="34" charset="-122"/>
                <a:cs typeface="Calibri" pitchFamily="34" charset="-120"/>
              </a:rPr>
              <a:t>28,299</a:t>
            </a:r>
            <a:endParaRPr lang="en-US" sz="2800" dirty="0"/>
          </a:p>
        </p:txBody>
      </p:sp>
      <p:sp>
        <p:nvSpPr>
          <p:cNvPr id="14" name="Text 12"/>
          <p:cNvSpPr/>
          <p:nvPr/>
        </p:nvSpPr>
        <p:spPr>
          <a:xfrm>
            <a:off x="4764024" y="1664208"/>
            <a:ext cx="2011680" cy="365760"/>
          </a:xfrm>
          <a:prstGeom prst="rect">
            <a:avLst/>
          </a:prstGeom>
          <a:noFill/>
          <a:ln/>
        </p:spPr>
        <p:txBody>
          <a:bodyPr wrap="square" rtlCol="0" anchor="ctr"/>
          <a:lstStyle/>
          <a:p>
            <a:pPr algn="ctr" indent="0" marL="0">
              <a:buNone/>
            </a:pPr>
            <a:r>
              <a:rPr lang="en-US" sz="950" b="1" dirty="0">
                <a:solidFill>
                  <a:srgbClr val="EDE0F7"/>
                </a:solidFill>
                <a:latin typeface="Calibri" pitchFamily="34" charset="0"/>
                <a:ea typeface="Calibri" pitchFamily="34" charset="-122"/>
                <a:cs typeface="Calibri" pitchFamily="34" charset="-120"/>
              </a:rPr>
              <a:t>Scotland</a:t>
            </a:r>
            <a:endParaRPr lang="en-US" sz="950" dirty="0"/>
          </a:p>
          <a:p>
            <a:pPr algn="ctr" indent="0" marL="0">
              <a:buNone/>
            </a:pPr>
            <a:r>
              <a:rPr lang="en-US" sz="950" b="1" dirty="0">
                <a:solidFill>
                  <a:srgbClr val="EDE0F7"/>
                </a:solidFill>
                <a:latin typeface="Calibri" pitchFamily="34" charset="0"/>
                <a:ea typeface="Calibri" pitchFamily="34" charset="-122"/>
                <a:cs typeface="Calibri" pitchFamily="34" charset="-120"/>
              </a:rPr>
              <a:t>observations</a:t>
            </a:r>
            <a:endParaRPr lang="en-US" sz="950" dirty="0"/>
          </a:p>
        </p:txBody>
      </p:sp>
      <p:sp>
        <p:nvSpPr>
          <p:cNvPr id="15" name="Text 13"/>
          <p:cNvSpPr/>
          <p:nvPr/>
        </p:nvSpPr>
        <p:spPr>
          <a:xfrm>
            <a:off x="4764024" y="2029968"/>
            <a:ext cx="2011680" cy="274320"/>
          </a:xfrm>
          <a:prstGeom prst="rect">
            <a:avLst/>
          </a:prstGeom>
          <a:noFill/>
          <a:ln/>
        </p:spPr>
        <p:txBody>
          <a:bodyPr wrap="square" rtlCol="0" anchor="ctr"/>
          <a:lstStyle/>
          <a:p>
            <a:pPr algn="ctr" indent="0" marL="0">
              <a:buNone/>
            </a:pPr>
            <a:r>
              <a:rPr lang="en-US" sz="850" dirty="0">
                <a:solidFill>
                  <a:srgbClr val="CBD5E1"/>
                </a:solidFill>
                <a:latin typeface="Calibri" pitchFamily="34" charset="0"/>
                <a:ea typeface="Calibri" pitchFamily="34" charset="-122"/>
                <a:cs typeface="Calibri" pitchFamily="34" charset="-120"/>
              </a:rPr>
              <a:t>across 7 survey years</a:t>
            </a:r>
            <a:endParaRPr lang="en-US" sz="850" dirty="0"/>
          </a:p>
          <a:p>
            <a:pPr algn="ctr" indent="0" marL="0">
              <a:buNone/>
            </a:pPr>
            <a:r>
              <a:rPr lang="en-US" sz="850" dirty="0">
                <a:solidFill>
                  <a:srgbClr val="CBD5E1"/>
                </a:solidFill>
                <a:latin typeface="Calibri" pitchFamily="34" charset="0"/>
                <a:ea typeface="Calibri" pitchFamily="34" charset="-122"/>
                <a:cs typeface="Calibri" pitchFamily="34" charset="-120"/>
              </a:rPr>
              <a:t>(treated group)</a:t>
            </a:r>
            <a:endParaRPr lang="en-US" sz="850" dirty="0"/>
          </a:p>
        </p:txBody>
      </p:sp>
      <p:sp>
        <p:nvSpPr>
          <p:cNvPr id="16" name="Shape 14"/>
          <p:cNvSpPr/>
          <p:nvPr/>
        </p:nvSpPr>
        <p:spPr>
          <a:xfrm>
            <a:off x="6940296" y="960120"/>
            <a:ext cx="2011680" cy="1417320"/>
          </a:xfrm>
          <a:prstGeom prst="roundRect">
            <a:avLst>
              <a:gd name="adj" fmla="val 6452"/>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17" name="Text 15"/>
          <p:cNvSpPr/>
          <p:nvPr/>
        </p:nvSpPr>
        <p:spPr>
          <a:xfrm>
            <a:off x="6940296" y="1078992"/>
            <a:ext cx="2011680" cy="594360"/>
          </a:xfrm>
          <a:prstGeom prst="rect">
            <a:avLst/>
          </a:prstGeom>
          <a:noFill/>
          <a:ln/>
        </p:spPr>
        <p:txBody>
          <a:bodyPr wrap="square" rtlCol="0" anchor="ctr"/>
          <a:lstStyle/>
          <a:p>
            <a:pPr algn="ctr" indent="0" marL="0">
              <a:buNone/>
            </a:pPr>
            <a:r>
              <a:rPr lang="en-US" sz="2800" b="1" dirty="0">
                <a:solidFill>
                  <a:srgbClr val="3B0064"/>
                </a:solidFill>
                <a:latin typeface="Calibri" pitchFamily="34" charset="0"/>
                <a:ea typeface="Calibri" pitchFamily="34" charset="-122"/>
                <a:cs typeface="Calibri" pitchFamily="34" charset="-120"/>
              </a:rPr>
              <a:t>222,008</a:t>
            </a:r>
            <a:endParaRPr lang="en-US" sz="2800" dirty="0"/>
          </a:p>
        </p:txBody>
      </p:sp>
      <p:sp>
        <p:nvSpPr>
          <p:cNvPr id="18" name="Text 16"/>
          <p:cNvSpPr/>
          <p:nvPr/>
        </p:nvSpPr>
        <p:spPr>
          <a:xfrm>
            <a:off x="6940296" y="1664208"/>
            <a:ext cx="2011680" cy="365760"/>
          </a:xfrm>
          <a:prstGeom prst="rect">
            <a:avLst/>
          </a:prstGeom>
          <a:noFill/>
          <a:ln/>
        </p:spPr>
        <p:txBody>
          <a:bodyPr wrap="square" rtlCol="0" anchor="ctr"/>
          <a:lstStyle/>
          <a:p>
            <a:pPr algn="ctr" indent="0" marL="0">
              <a:buNone/>
            </a:pPr>
            <a:r>
              <a:rPr lang="en-US" sz="950" b="1" dirty="0">
                <a:solidFill>
                  <a:srgbClr val="660099"/>
                </a:solidFill>
                <a:latin typeface="Calibri" pitchFamily="34" charset="0"/>
                <a:ea typeface="Calibri" pitchFamily="34" charset="-122"/>
                <a:cs typeface="Calibri" pitchFamily="34" charset="-120"/>
              </a:rPr>
              <a:t>England</a:t>
            </a:r>
            <a:endParaRPr lang="en-US" sz="950" dirty="0"/>
          </a:p>
          <a:p>
            <a:pPr algn="ctr" indent="0" marL="0">
              <a:buNone/>
            </a:pPr>
            <a:r>
              <a:rPr lang="en-US" sz="950" b="1" dirty="0">
                <a:solidFill>
                  <a:srgbClr val="660099"/>
                </a:solidFill>
                <a:latin typeface="Calibri" pitchFamily="34" charset="0"/>
                <a:ea typeface="Calibri" pitchFamily="34" charset="-122"/>
                <a:cs typeface="Calibri" pitchFamily="34" charset="-120"/>
              </a:rPr>
              <a:t>observations</a:t>
            </a:r>
            <a:endParaRPr lang="en-US" sz="950" dirty="0"/>
          </a:p>
        </p:txBody>
      </p:sp>
      <p:sp>
        <p:nvSpPr>
          <p:cNvPr id="19" name="Text 17"/>
          <p:cNvSpPr/>
          <p:nvPr/>
        </p:nvSpPr>
        <p:spPr>
          <a:xfrm>
            <a:off x="6940296" y="2029968"/>
            <a:ext cx="2011680" cy="27432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across 7 survey years</a:t>
            </a:r>
            <a:endParaRPr lang="en-US" sz="850" dirty="0"/>
          </a:p>
          <a:p>
            <a:pPr algn="ctr" indent="0" marL="0">
              <a:buNone/>
            </a:pPr>
            <a:r>
              <a:rPr lang="en-US" sz="850" dirty="0">
                <a:solidFill>
                  <a:srgbClr val="64748B"/>
                </a:solidFill>
                <a:latin typeface="Calibri" pitchFamily="34" charset="0"/>
                <a:ea typeface="Calibri" pitchFamily="34" charset="-122"/>
                <a:cs typeface="Calibri" pitchFamily="34" charset="-120"/>
              </a:rPr>
              <a:t>(control group)</a:t>
            </a:r>
            <a:endParaRPr lang="en-US" sz="850" dirty="0"/>
          </a:p>
        </p:txBody>
      </p:sp>
      <p:sp>
        <p:nvSpPr>
          <p:cNvPr id="20" name="Text 18"/>
          <p:cNvSpPr/>
          <p:nvPr/>
        </p:nvSpPr>
        <p:spPr>
          <a:xfrm>
            <a:off x="411480" y="2514600"/>
            <a:ext cx="8321040" cy="274320"/>
          </a:xfrm>
          <a:prstGeom prst="rect">
            <a:avLst/>
          </a:prstGeom>
          <a:noFill/>
          <a:ln/>
        </p:spPr>
        <p:txBody>
          <a:bodyPr wrap="square" rtlCol="0" anchor="ctr"/>
          <a:lstStyle/>
          <a:p>
            <a:pPr indent="0" marL="0">
              <a:buNone/>
            </a:pPr>
            <a:r>
              <a:rPr lang="en-US" sz="1100" b="1" dirty="0">
                <a:solidFill>
                  <a:srgbClr val="3B0064"/>
                </a:solidFill>
                <a:latin typeface="Calibri" pitchFamily="34" charset="0"/>
                <a:ea typeface="Calibri" pitchFamily="34" charset="-122"/>
                <a:cs typeface="Calibri" pitchFamily="34" charset="-120"/>
              </a:rPr>
              <a:t>[Summary statistics table — to be inserted after running 02_hbai_summary_stats.py]</a:t>
            </a:r>
            <a:endParaRPr lang="en-US" sz="1100" dirty="0"/>
          </a:p>
        </p:txBody>
      </p:sp>
      <p:graphicFrame>
        <p:nvGraphicFramePr>
          <p:cNvPr id="21" name="Chart 0" descr=""/>
          <p:cNvGraphicFramePr/>
          <p:nvPr/>
        </p:nvGraphicFramePr>
        <p:xfrm>
          <a:off x="411480" y="2788920"/>
          <a:ext cx="8321040" cy="21488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5FF"/>
        </a:solidFill>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algn="l" indent="0" marL="0">
              <a:buNone/>
            </a:pPr>
            <a:r>
              <a:rPr lang="en-US" sz="2800" b="1" dirty="0">
                <a:solidFill>
                  <a:srgbClr val="3B0064"/>
                </a:solidFill>
                <a:latin typeface="Calibri" pitchFamily="34" charset="0"/>
                <a:ea typeface="Calibri" pitchFamily="34" charset="-122"/>
                <a:cs typeface="Calibri" pitchFamily="34" charset="-120"/>
              </a:rPr>
              <a:t>Deprivation Variables: 12 Binary MDCH Indicators</a:t>
            </a:r>
            <a:endParaRPr lang="en-US" sz="2800" dirty="0"/>
          </a:p>
        </p:txBody>
      </p:sp>
      <p:sp>
        <p:nvSpPr>
          <p:cNvPr id="3" name="Shape 1"/>
          <p:cNvSpPr/>
          <p:nvPr/>
        </p:nvSpPr>
        <p:spPr>
          <a:xfrm>
            <a:off x="457200" y="777240"/>
            <a:ext cx="8229600" cy="27432"/>
          </a:xfrm>
          <a:prstGeom prst="rect">
            <a:avLst/>
          </a:prstGeom>
          <a:solidFill>
            <a:srgbClr val="660099"/>
          </a:solidFill>
          <a:ln/>
        </p:spPr>
        <p:txBody>
          <a:bodyPr/>
          <a:p/>
        </p:txBody>
      </p:sp>
      <p:sp>
        <p:nvSpPr>
          <p:cNvPr id="4" name="Text 2"/>
          <p:cNvSpPr/>
          <p:nvPr/>
        </p:nvSpPr>
        <p:spPr>
          <a:xfrm>
            <a:off x="457200" y="914400"/>
            <a:ext cx="8229600" cy="256032"/>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Child Material Deprivation Module — HBAI individual files (2010/11–2023/24)</a:t>
            </a:r>
            <a:endParaRPr lang="en-US" sz="1100" dirty="0"/>
          </a:p>
        </p:txBody>
      </p:sp>
      <p:sp>
        <p:nvSpPr>
          <p:cNvPr id="5" name="Shape 3"/>
          <p:cNvSpPr/>
          <p:nvPr/>
        </p:nvSpPr>
        <p:spPr>
          <a:xfrm>
            <a:off x="411480" y="1188720"/>
            <a:ext cx="2011680" cy="960120"/>
          </a:xfrm>
          <a:prstGeom prst="roundRect">
            <a:avLst>
              <a:gd name="adj" fmla="val 7619"/>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6" name="Shape 4"/>
          <p:cNvSpPr/>
          <p:nvPr/>
        </p:nvSpPr>
        <p:spPr>
          <a:xfrm>
            <a:off x="521208" y="1280160"/>
            <a:ext cx="256032" cy="256032"/>
          </a:xfrm>
          <a:prstGeom prst="ellipse">
            <a:avLst/>
          </a:prstGeom>
          <a:solidFill>
            <a:srgbClr val="660099"/>
          </a:solidFill>
          <a:ln/>
        </p:spPr>
        <p:txBody>
          <a:bodyPr/>
          <a:p/>
        </p:txBody>
      </p:sp>
      <p:sp>
        <p:nvSpPr>
          <p:cNvPr id="7" name="Text 5"/>
          <p:cNvSpPr/>
          <p:nvPr/>
        </p:nvSpPr>
        <p:spPr>
          <a:xfrm>
            <a:off x="850392" y="1261872"/>
            <a:ext cx="1463040" cy="292608"/>
          </a:xfrm>
          <a:prstGeom prst="rect">
            <a:avLst/>
          </a:prstGeom>
          <a:noFill/>
          <a:ln/>
        </p:spPr>
        <p:txBody>
          <a:bodyPr wrap="square" rtlCol="0" anchor="ctr"/>
          <a:lstStyle/>
          <a:p>
            <a:pPr indent="0" marL="0">
              <a:buNone/>
            </a:pPr>
            <a:r>
              <a:rPr lang="en-US" sz="1050" b="1" dirty="0">
                <a:solidFill>
                  <a:srgbClr val="3B0064"/>
                </a:solidFill>
                <a:latin typeface="Calibri" pitchFamily="34" charset="0"/>
                <a:ea typeface="Calibri" pitchFamily="34" charset="-122"/>
                <a:cs typeface="Calibri" pitchFamily="34" charset="-120"/>
              </a:rPr>
              <a:t>Activities</a:t>
            </a:r>
            <a:endParaRPr lang="en-US" sz="1050" dirty="0"/>
          </a:p>
        </p:txBody>
      </p:sp>
      <p:sp>
        <p:nvSpPr>
          <p:cNvPr id="8" name="Text 6"/>
          <p:cNvSpPr/>
          <p:nvPr/>
        </p:nvSpPr>
        <p:spPr>
          <a:xfrm>
            <a:off x="539496" y="1591056"/>
            <a:ext cx="1773936" cy="210312"/>
          </a:xfrm>
          <a:prstGeom prst="rect">
            <a:avLst/>
          </a:prstGeom>
          <a:noFill/>
          <a:ln/>
        </p:spPr>
        <p:txBody>
          <a:bodyPr wrap="square" rtlCol="0" anchor="ctr"/>
          <a:lstStyle/>
          <a:p>
            <a:pPr indent="0" marL="0">
              <a:buNone/>
            </a:pPr>
            <a:r>
              <a:rPr lang="en-US" sz="850" i="1" dirty="0">
                <a:solidFill>
                  <a:srgbClr val="660099"/>
                </a:solidFill>
                <a:latin typeface="Calibri" pitchFamily="34" charset="0"/>
                <a:ea typeface="Calibri" pitchFamily="34" charset="-122"/>
                <a:cs typeface="Calibri" pitchFamily="34" charset="-120"/>
              </a:rPr>
              <a:t>MDCH_ACT</a:t>
            </a:r>
            <a:endParaRPr lang="en-US" sz="850" dirty="0"/>
          </a:p>
        </p:txBody>
      </p:sp>
      <p:sp>
        <p:nvSpPr>
          <p:cNvPr id="9" name="Text 7"/>
          <p:cNvSpPr/>
          <p:nvPr/>
        </p:nvSpPr>
        <p:spPr>
          <a:xfrm>
            <a:off x="539496" y="1810512"/>
            <a:ext cx="1773936" cy="256032"/>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School trips, clubs</a:t>
            </a:r>
            <a:endParaRPr lang="en-US" sz="850" dirty="0"/>
          </a:p>
        </p:txBody>
      </p:sp>
      <p:sp>
        <p:nvSpPr>
          <p:cNvPr id="10" name="Shape 8"/>
          <p:cNvSpPr/>
          <p:nvPr/>
        </p:nvSpPr>
        <p:spPr>
          <a:xfrm>
            <a:off x="2587752" y="1188720"/>
            <a:ext cx="2011680" cy="960120"/>
          </a:xfrm>
          <a:prstGeom prst="roundRect">
            <a:avLst>
              <a:gd name="adj" fmla="val 7619"/>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11" name="Shape 9"/>
          <p:cNvSpPr/>
          <p:nvPr/>
        </p:nvSpPr>
        <p:spPr>
          <a:xfrm>
            <a:off x="2697480" y="1280160"/>
            <a:ext cx="256032" cy="256032"/>
          </a:xfrm>
          <a:prstGeom prst="ellipse">
            <a:avLst/>
          </a:prstGeom>
          <a:solidFill>
            <a:srgbClr val="660099"/>
          </a:solidFill>
          <a:ln/>
        </p:spPr>
        <p:txBody>
          <a:bodyPr/>
          <a:p/>
        </p:txBody>
      </p:sp>
      <p:sp>
        <p:nvSpPr>
          <p:cNvPr id="12" name="Text 10"/>
          <p:cNvSpPr/>
          <p:nvPr/>
        </p:nvSpPr>
        <p:spPr>
          <a:xfrm>
            <a:off x="3026664" y="1261872"/>
            <a:ext cx="1463040" cy="292608"/>
          </a:xfrm>
          <a:prstGeom prst="rect">
            <a:avLst/>
          </a:prstGeom>
          <a:noFill/>
          <a:ln/>
        </p:spPr>
        <p:txBody>
          <a:bodyPr wrap="square" rtlCol="0" anchor="ctr"/>
          <a:lstStyle/>
          <a:p>
            <a:pPr indent="0" marL="0">
              <a:buNone/>
            </a:pPr>
            <a:r>
              <a:rPr lang="en-US" sz="1050" b="1" dirty="0">
                <a:solidFill>
                  <a:srgbClr val="3B0064"/>
                </a:solidFill>
                <a:latin typeface="Calibri" pitchFamily="34" charset="0"/>
                <a:ea typeface="Calibri" pitchFamily="34" charset="-122"/>
                <a:cs typeface="Calibri" pitchFamily="34" charset="-120"/>
              </a:rPr>
              <a:t>Bed/bedroom</a:t>
            </a:r>
            <a:endParaRPr lang="en-US" sz="1050" dirty="0"/>
          </a:p>
        </p:txBody>
      </p:sp>
      <p:sp>
        <p:nvSpPr>
          <p:cNvPr id="13" name="Text 11"/>
          <p:cNvSpPr/>
          <p:nvPr/>
        </p:nvSpPr>
        <p:spPr>
          <a:xfrm>
            <a:off x="2715768" y="1591056"/>
            <a:ext cx="1773936" cy="210312"/>
          </a:xfrm>
          <a:prstGeom prst="rect">
            <a:avLst/>
          </a:prstGeom>
          <a:noFill/>
          <a:ln/>
        </p:spPr>
        <p:txBody>
          <a:bodyPr wrap="square" rtlCol="0" anchor="ctr"/>
          <a:lstStyle/>
          <a:p>
            <a:pPr indent="0" marL="0">
              <a:buNone/>
            </a:pPr>
            <a:r>
              <a:rPr lang="en-US" sz="850" i="1" dirty="0">
                <a:solidFill>
                  <a:srgbClr val="660099"/>
                </a:solidFill>
                <a:latin typeface="Calibri" pitchFamily="34" charset="0"/>
                <a:ea typeface="Calibri" pitchFamily="34" charset="-122"/>
                <a:cs typeface="Calibri" pitchFamily="34" charset="-120"/>
              </a:rPr>
              <a:t>MDCH_BED</a:t>
            </a:r>
            <a:endParaRPr lang="en-US" sz="850" dirty="0"/>
          </a:p>
        </p:txBody>
      </p:sp>
      <p:sp>
        <p:nvSpPr>
          <p:cNvPr id="14" name="Text 12"/>
          <p:cNvSpPr/>
          <p:nvPr/>
        </p:nvSpPr>
        <p:spPr>
          <a:xfrm>
            <a:off x="2715768" y="1810512"/>
            <a:ext cx="1773936" cy="256032"/>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Own bed</a:t>
            </a:r>
            <a:endParaRPr lang="en-US" sz="850" dirty="0"/>
          </a:p>
        </p:txBody>
      </p:sp>
      <p:sp>
        <p:nvSpPr>
          <p:cNvPr id="15" name="Shape 13"/>
          <p:cNvSpPr/>
          <p:nvPr/>
        </p:nvSpPr>
        <p:spPr>
          <a:xfrm>
            <a:off x="4764024" y="1188720"/>
            <a:ext cx="2011680" cy="960120"/>
          </a:xfrm>
          <a:prstGeom prst="roundRect">
            <a:avLst>
              <a:gd name="adj" fmla="val 7619"/>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16" name="Shape 14"/>
          <p:cNvSpPr/>
          <p:nvPr/>
        </p:nvSpPr>
        <p:spPr>
          <a:xfrm>
            <a:off x="4873752" y="1280160"/>
            <a:ext cx="256032" cy="256032"/>
          </a:xfrm>
          <a:prstGeom prst="ellipse">
            <a:avLst/>
          </a:prstGeom>
          <a:solidFill>
            <a:srgbClr val="660099"/>
          </a:solidFill>
          <a:ln/>
        </p:spPr>
        <p:txBody>
          <a:bodyPr/>
          <a:p/>
        </p:txBody>
      </p:sp>
      <p:sp>
        <p:nvSpPr>
          <p:cNvPr id="17" name="Text 15"/>
          <p:cNvSpPr/>
          <p:nvPr/>
        </p:nvSpPr>
        <p:spPr>
          <a:xfrm>
            <a:off x="5202936" y="1261872"/>
            <a:ext cx="1463040" cy="292608"/>
          </a:xfrm>
          <a:prstGeom prst="rect">
            <a:avLst/>
          </a:prstGeom>
          <a:noFill/>
          <a:ln/>
        </p:spPr>
        <p:txBody>
          <a:bodyPr wrap="square" rtlCol="0" anchor="ctr"/>
          <a:lstStyle/>
          <a:p>
            <a:pPr indent="0" marL="0">
              <a:buNone/>
            </a:pPr>
            <a:r>
              <a:rPr lang="en-US" sz="1050" b="1" dirty="0">
                <a:solidFill>
                  <a:srgbClr val="3B0064"/>
                </a:solidFill>
                <a:latin typeface="Calibri" pitchFamily="34" charset="0"/>
                <a:ea typeface="Calibri" pitchFamily="34" charset="-122"/>
                <a:cs typeface="Calibri" pitchFamily="34" charset="-120"/>
              </a:rPr>
              <a:t>Celebrations</a:t>
            </a:r>
            <a:endParaRPr lang="en-US" sz="1050" dirty="0"/>
          </a:p>
        </p:txBody>
      </p:sp>
      <p:sp>
        <p:nvSpPr>
          <p:cNvPr id="18" name="Text 16"/>
          <p:cNvSpPr/>
          <p:nvPr/>
        </p:nvSpPr>
        <p:spPr>
          <a:xfrm>
            <a:off x="4892040" y="1591056"/>
            <a:ext cx="1773936" cy="210312"/>
          </a:xfrm>
          <a:prstGeom prst="rect">
            <a:avLst/>
          </a:prstGeom>
          <a:noFill/>
          <a:ln/>
        </p:spPr>
        <p:txBody>
          <a:bodyPr wrap="square" rtlCol="0" anchor="ctr"/>
          <a:lstStyle/>
          <a:p>
            <a:pPr indent="0" marL="0">
              <a:buNone/>
            </a:pPr>
            <a:r>
              <a:rPr lang="en-US" sz="850" i="1" dirty="0">
                <a:solidFill>
                  <a:srgbClr val="660099"/>
                </a:solidFill>
                <a:latin typeface="Calibri" pitchFamily="34" charset="0"/>
                <a:ea typeface="Calibri" pitchFamily="34" charset="-122"/>
                <a:cs typeface="Calibri" pitchFamily="34" charset="-120"/>
              </a:rPr>
              <a:t>MDCH_CEL</a:t>
            </a:r>
            <a:endParaRPr lang="en-US" sz="850" dirty="0"/>
          </a:p>
        </p:txBody>
      </p:sp>
      <p:sp>
        <p:nvSpPr>
          <p:cNvPr id="19" name="Text 17"/>
          <p:cNvSpPr/>
          <p:nvPr/>
        </p:nvSpPr>
        <p:spPr>
          <a:xfrm>
            <a:off x="4892040" y="1810512"/>
            <a:ext cx="1773936" cy="256032"/>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Birthday, festivals</a:t>
            </a:r>
            <a:endParaRPr lang="en-US" sz="850" dirty="0"/>
          </a:p>
        </p:txBody>
      </p:sp>
      <p:sp>
        <p:nvSpPr>
          <p:cNvPr id="20" name="Shape 18"/>
          <p:cNvSpPr/>
          <p:nvPr/>
        </p:nvSpPr>
        <p:spPr>
          <a:xfrm>
            <a:off x="6940296" y="1188720"/>
            <a:ext cx="2011680" cy="960120"/>
          </a:xfrm>
          <a:prstGeom prst="roundRect">
            <a:avLst>
              <a:gd name="adj" fmla="val 7619"/>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21" name="Shape 19"/>
          <p:cNvSpPr/>
          <p:nvPr/>
        </p:nvSpPr>
        <p:spPr>
          <a:xfrm>
            <a:off x="7050024" y="1280160"/>
            <a:ext cx="256032" cy="256032"/>
          </a:xfrm>
          <a:prstGeom prst="ellipse">
            <a:avLst/>
          </a:prstGeom>
          <a:solidFill>
            <a:srgbClr val="660099"/>
          </a:solidFill>
          <a:ln/>
        </p:spPr>
        <p:txBody>
          <a:bodyPr/>
          <a:p/>
        </p:txBody>
      </p:sp>
      <p:sp>
        <p:nvSpPr>
          <p:cNvPr id="22" name="Text 20"/>
          <p:cNvSpPr/>
          <p:nvPr/>
        </p:nvSpPr>
        <p:spPr>
          <a:xfrm>
            <a:off x="7379208" y="1261872"/>
            <a:ext cx="1463040" cy="292608"/>
          </a:xfrm>
          <a:prstGeom prst="rect">
            <a:avLst/>
          </a:prstGeom>
          <a:noFill/>
          <a:ln/>
        </p:spPr>
        <p:txBody>
          <a:bodyPr wrap="square" rtlCol="0" anchor="ctr"/>
          <a:lstStyle/>
          <a:p>
            <a:pPr indent="0" marL="0">
              <a:buNone/>
            </a:pPr>
            <a:r>
              <a:rPr lang="en-US" sz="1050" b="1" dirty="0">
                <a:solidFill>
                  <a:srgbClr val="3B0064"/>
                </a:solidFill>
                <a:latin typeface="Calibri" pitchFamily="34" charset="0"/>
                <a:ea typeface="Calibri" pitchFamily="34" charset="-122"/>
                <a:cs typeface="Calibri" pitchFamily="34" charset="-120"/>
              </a:rPr>
              <a:t>Warm coat</a:t>
            </a:r>
            <a:endParaRPr lang="en-US" sz="1050" dirty="0"/>
          </a:p>
        </p:txBody>
      </p:sp>
      <p:sp>
        <p:nvSpPr>
          <p:cNvPr id="23" name="Text 21"/>
          <p:cNvSpPr/>
          <p:nvPr/>
        </p:nvSpPr>
        <p:spPr>
          <a:xfrm>
            <a:off x="7068312" y="1591056"/>
            <a:ext cx="1773936" cy="210312"/>
          </a:xfrm>
          <a:prstGeom prst="rect">
            <a:avLst/>
          </a:prstGeom>
          <a:noFill/>
          <a:ln/>
        </p:spPr>
        <p:txBody>
          <a:bodyPr wrap="square" rtlCol="0" anchor="ctr"/>
          <a:lstStyle/>
          <a:p>
            <a:pPr indent="0" marL="0">
              <a:buNone/>
            </a:pPr>
            <a:r>
              <a:rPr lang="en-US" sz="850" i="1" dirty="0">
                <a:solidFill>
                  <a:srgbClr val="660099"/>
                </a:solidFill>
                <a:latin typeface="Calibri" pitchFamily="34" charset="0"/>
                <a:ea typeface="Calibri" pitchFamily="34" charset="-122"/>
                <a:cs typeface="Calibri" pitchFamily="34" charset="-120"/>
              </a:rPr>
              <a:t>MDCH_COAT</a:t>
            </a:r>
            <a:endParaRPr lang="en-US" sz="850" dirty="0"/>
          </a:p>
        </p:txBody>
      </p:sp>
      <p:sp>
        <p:nvSpPr>
          <p:cNvPr id="24" name="Text 22"/>
          <p:cNvSpPr/>
          <p:nvPr/>
        </p:nvSpPr>
        <p:spPr>
          <a:xfrm>
            <a:off x="7068312" y="1810512"/>
            <a:ext cx="1773936" cy="256032"/>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Suitable coat</a:t>
            </a:r>
            <a:endParaRPr lang="en-US" sz="850" dirty="0"/>
          </a:p>
        </p:txBody>
      </p:sp>
      <p:sp>
        <p:nvSpPr>
          <p:cNvPr id="25" name="Shape 23"/>
          <p:cNvSpPr/>
          <p:nvPr/>
        </p:nvSpPr>
        <p:spPr>
          <a:xfrm>
            <a:off x="411480" y="2267712"/>
            <a:ext cx="2011680" cy="960120"/>
          </a:xfrm>
          <a:prstGeom prst="roundRect">
            <a:avLst>
              <a:gd name="adj" fmla="val 7619"/>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26" name="Shape 24"/>
          <p:cNvSpPr/>
          <p:nvPr/>
        </p:nvSpPr>
        <p:spPr>
          <a:xfrm>
            <a:off x="521208" y="2359152"/>
            <a:ext cx="256032" cy="256032"/>
          </a:xfrm>
          <a:prstGeom prst="ellipse">
            <a:avLst/>
          </a:prstGeom>
          <a:solidFill>
            <a:srgbClr val="660099"/>
          </a:solidFill>
          <a:ln/>
        </p:spPr>
        <p:txBody>
          <a:bodyPr/>
          <a:p/>
        </p:txBody>
      </p:sp>
      <p:sp>
        <p:nvSpPr>
          <p:cNvPr id="27" name="Text 25"/>
          <p:cNvSpPr/>
          <p:nvPr/>
        </p:nvSpPr>
        <p:spPr>
          <a:xfrm>
            <a:off x="850392" y="2340864"/>
            <a:ext cx="1463040" cy="292608"/>
          </a:xfrm>
          <a:prstGeom prst="rect">
            <a:avLst/>
          </a:prstGeom>
          <a:noFill/>
          <a:ln/>
        </p:spPr>
        <p:txBody>
          <a:bodyPr wrap="square" rtlCol="0" anchor="ctr"/>
          <a:lstStyle/>
          <a:p>
            <a:pPr indent="0" marL="0">
              <a:buNone/>
            </a:pPr>
            <a:r>
              <a:rPr lang="en-US" sz="1050" b="1" dirty="0">
                <a:solidFill>
                  <a:srgbClr val="3B0064"/>
                </a:solidFill>
                <a:latin typeface="Calibri" pitchFamily="34" charset="0"/>
                <a:ea typeface="Calibri" pitchFamily="34" charset="-122"/>
                <a:cs typeface="Calibri" pitchFamily="34" charset="-120"/>
              </a:rPr>
              <a:t>School equip.</a:t>
            </a:r>
            <a:endParaRPr lang="en-US" sz="1050" dirty="0"/>
          </a:p>
        </p:txBody>
      </p:sp>
      <p:sp>
        <p:nvSpPr>
          <p:cNvPr id="28" name="Text 26"/>
          <p:cNvSpPr/>
          <p:nvPr/>
        </p:nvSpPr>
        <p:spPr>
          <a:xfrm>
            <a:off x="539496" y="2670048"/>
            <a:ext cx="1773936" cy="210312"/>
          </a:xfrm>
          <a:prstGeom prst="rect">
            <a:avLst/>
          </a:prstGeom>
          <a:noFill/>
          <a:ln/>
        </p:spPr>
        <p:txBody>
          <a:bodyPr wrap="square" rtlCol="0" anchor="ctr"/>
          <a:lstStyle/>
          <a:p>
            <a:pPr indent="0" marL="0">
              <a:buNone/>
            </a:pPr>
            <a:r>
              <a:rPr lang="en-US" sz="850" i="1" dirty="0">
                <a:solidFill>
                  <a:srgbClr val="660099"/>
                </a:solidFill>
                <a:latin typeface="Calibri" pitchFamily="34" charset="0"/>
                <a:ea typeface="Calibri" pitchFamily="34" charset="-122"/>
                <a:cs typeface="Calibri" pitchFamily="34" charset="-120"/>
              </a:rPr>
              <a:t>MDCH_EQP</a:t>
            </a:r>
            <a:endParaRPr lang="en-US" sz="850" dirty="0"/>
          </a:p>
        </p:txBody>
      </p:sp>
      <p:sp>
        <p:nvSpPr>
          <p:cNvPr id="29" name="Text 27"/>
          <p:cNvSpPr/>
          <p:nvPr/>
        </p:nvSpPr>
        <p:spPr>
          <a:xfrm>
            <a:off x="539496" y="2889504"/>
            <a:ext cx="1773936" cy="256032"/>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Books, uniform</a:t>
            </a:r>
            <a:endParaRPr lang="en-US" sz="850" dirty="0"/>
          </a:p>
        </p:txBody>
      </p:sp>
      <p:sp>
        <p:nvSpPr>
          <p:cNvPr id="30" name="Shape 28"/>
          <p:cNvSpPr/>
          <p:nvPr/>
        </p:nvSpPr>
        <p:spPr>
          <a:xfrm>
            <a:off x="2587752" y="2267712"/>
            <a:ext cx="2011680" cy="960120"/>
          </a:xfrm>
          <a:prstGeom prst="roundRect">
            <a:avLst>
              <a:gd name="adj" fmla="val 7619"/>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31" name="Shape 29"/>
          <p:cNvSpPr/>
          <p:nvPr/>
        </p:nvSpPr>
        <p:spPr>
          <a:xfrm>
            <a:off x="2697480" y="2359152"/>
            <a:ext cx="256032" cy="256032"/>
          </a:xfrm>
          <a:prstGeom prst="ellipse">
            <a:avLst/>
          </a:prstGeom>
          <a:solidFill>
            <a:srgbClr val="660099"/>
          </a:solidFill>
          <a:ln/>
        </p:spPr>
        <p:txBody>
          <a:bodyPr/>
          <a:p/>
        </p:txBody>
      </p:sp>
      <p:sp>
        <p:nvSpPr>
          <p:cNvPr id="32" name="Text 30"/>
          <p:cNvSpPr/>
          <p:nvPr/>
        </p:nvSpPr>
        <p:spPr>
          <a:xfrm>
            <a:off x="3026664" y="2340864"/>
            <a:ext cx="1463040" cy="292608"/>
          </a:xfrm>
          <a:prstGeom prst="rect">
            <a:avLst/>
          </a:prstGeom>
          <a:noFill/>
          <a:ln/>
        </p:spPr>
        <p:txBody>
          <a:bodyPr wrap="square" rtlCol="0" anchor="ctr"/>
          <a:lstStyle/>
          <a:p>
            <a:pPr indent="0" marL="0">
              <a:buNone/>
            </a:pPr>
            <a:r>
              <a:rPr lang="en-US" sz="1050" b="1" dirty="0">
                <a:solidFill>
                  <a:srgbClr val="3B0064"/>
                </a:solidFill>
                <a:latin typeface="Calibri" pitchFamily="34" charset="0"/>
                <a:ea typeface="Calibri" pitchFamily="34" charset="-122"/>
                <a:cs typeface="Calibri" pitchFamily="34" charset="-120"/>
              </a:rPr>
              <a:t>Holiday</a:t>
            </a:r>
            <a:endParaRPr lang="en-US" sz="1050" dirty="0"/>
          </a:p>
        </p:txBody>
      </p:sp>
      <p:sp>
        <p:nvSpPr>
          <p:cNvPr id="33" name="Text 31"/>
          <p:cNvSpPr/>
          <p:nvPr/>
        </p:nvSpPr>
        <p:spPr>
          <a:xfrm>
            <a:off x="2715768" y="2670048"/>
            <a:ext cx="1773936" cy="210312"/>
          </a:xfrm>
          <a:prstGeom prst="rect">
            <a:avLst/>
          </a:prstGeom>
          <a:noFill/>
          <a:ln/>
        </p:spPr>
        <p:txBody>
          <a:bodyPr wrap="square" rtlCol="0" anchor="ctr"/>
          <a:lstStyle/>
          <a:p>
            <a:pPr indent="0" marL="0">
              <a:buNone/>
            </a:pPr>
            <a:r>
              <a:rPr lang="en-US" sz="850" i="1" dirty="0">
                <a:solidFill>
                  <a:srgbClr val="660099"/>
                </a:solidFill>
                <a:latin typeface="Calibri" pitchFamily="34" charset="0"/>
                <a:ea typeface="Calibri" pitchFamily="34" charset="-122"/>
                <a:cs typeface="Calibri" pitchFamily="34" charset="-120"/>
              </a:rPr>
              <a:t>MDCH_HOL</a:t>
            </a:r>
            <a:endParaRPr lang="en-US" sz="850" dirty="0"/>
          </a:p>
        </p:txBody>
      </p:sp>
      <p:sp>
        <p:nvSpPr>
          <p:cNvPr id="34" name="Text 32"/>
          <p:cNvSpPr/>
          <p:nvPr/>
        </p:nvSpPr>
        <p:spPr>
          <a:xfrm>
            <a:off x="2715768" y="2889504"/>
            <a:ext cx="1773936" cy="256032"/>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Away from home</a:t>
            </a:r>
            <a:endParaRPr lang="en-US" sz="850" dirty="0"/>
          </a:p>
        </p:txBody>
      </p:sp>
      <p:sp>
        <p:nvSpPr>
          <p:cNvPr id="35" name="Shape 33"/>
          <p:cNvSpPr/>
          <p:nvPr/>
        </p:nvSpPr>
        <p:spPr>
          <a:xfrm>
            <a:off x="4764024" y="2267712"/>
            <a:ext cx="2011680" cy="960120"/>
          </a:xfrm>
          <a:prstGeom prst="roundRect">
            <a:avLst>
              <a:gd name="adj" fmla="val 7619"/>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36" name="Shape 34"/>
          <p:cNvSpPr/>
          <p:nvPr/>
        </p:nvSpPr>
        <p:spPr>
          <a:xfrm>
            <a:off x="4873752" y="2359152"/>
            <a:ext cx="256032" cy="256032"/>
          </a:xfrm>
          <a:prstGeom prst="ellipse">
            <a:avLst/>
          </a:prstGeom>
          <a:solidFill>
            <a:srgbClr val="660099"/>
          </a:solidFill>
          <a:ln/>
        </p:spPr>
        <p:txBody>
          <a:bodyPr/>
          <a:p/>
        </p:txBody>
      </p:sp>
      <p:sp>
        <p:nvSpPr>
          <p:cNvPr id="37" name="Text 35"/>
          <p:cNvSpPr/>
          <p:nvPr/>
        </p:nvSpPr>
        <p:spPr>
          <a:xfrm>
            <a:off x="5202936" y="2340864"/>
            <a:ext cx="1463040" cy="292608"/>
          </a:xfrm>
          <a:prstGeom prst="rect">
            <a:avLst/>
          </a:prstGeom>
          <a:noFill/>
          <a:ln/>
        </p:spPr>
        <p:txBody>
          <a:bodyPr wrap="square" rtlCol="0" anchor="ctr"/>
          <a:lstStyle/>
          <a:p>
            <a:pPr indent="0" marL="0">
              <a:buNone/>
            </a:pPr>
            <a:r>
              <a:rPr lang="en-US" sz="1050" b="1" dirty="0">
                <a:solidFill>
                  <a:srgbClr val="3B0064"/>
                </a:solidFill>
                <a:latin typeface="Calibri" pitchFamily="34" charset="0"/>
                <a:ea typeface="Calibri" pitchFamily="34" charset="-122"/>
                <a:cs typeface="Calibri" pitchFamily="34" charset="-120"/>
              </a:rPr>
              <a:t>Leisure</a:t>
            </a:r>
            <a:endParaRPr lang="en-US" sz="1050" dirty="0"/>
          </a:p>
        </p:txBody>
      </p:sp>
      <p:sp>
        <p:nvSpPr>
          <p:cNvPr id="38" name="Text 36"/>
          <p:cNvSpPr/>
          <p:nvPr/>
        </p:nvSpPr>
        <p:spPr>
          <a:xfrm>
            <a:off x="4892040" y="2670048"/>
            <a:ext cx="1773936" cy="210312"/>
          </a:xfrm>
          <a:prstGeom prst="rect">
            <a:avLst/>
          </a:prstGeom>
          <a:noFill/>
          <a:ln/>
        </p:spPr>
        <p:txBody>
          <a:bodyPr wrap="square" rtlCol="0" anchor="ctr"/>
          <a:lstStyle/>
          <a:p>
            <a:pPr indent="0" marL="0">
              <a:buNone/>
            </a:pPr>
            <a:r>
              <a:rPr lang="en-US" sz="850" i="1" dirty="0">
                <a:solidFill>
                  <a:srgbClr val="660099"/>
                </a:solidFill>
                <a:latin typeface="Calibri" pitchFamily="34" charset="0"/>
                <a:ea typeface="Calibri" pitchFamily="34" charset="-122"/>
                <a:cs typeface="Calibri" pitchFamily="34" charset="-120"/>
              </a:rPr>
              <a:t>MDCH_LES</a:t>
            </a:r>
            <a:endParaRPr lang="en-US" sz="850" dirty="0"/>
          </a:p>
        </p:txBody>
      </p:sp>
      <p:sp>
        <p:nvSpPr>
          <p:cNvPr id="39" name="Text 37"/>
          <p:cNvSpPr/>
          <p:nvPr/>
        </p:nvSpPr>
        <p:spPr>
          <a:xfrm>
            <a:off x="4892040" y="2889504"/>
            <a:ext cx="1773936" cy="256032"/>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Hobby activities</a:t>
            </a:r>
            <a:endParaRPr lang="en-US" sz="850" dirty="0"/>
          </a:p>
        </p:txBody>
      </p:sp>
      <p:sp>
        <p:nvSpPr>
          <p:cNvPr id="40" name="Shape 38"/>
          <p:cNvSpPr/>
          <p:nvPr/>
        </p:nvSpPr>
        <p:spPr>
          <a:xfrm>
            <a:off x="6940296" y="2267712"/>
            <a:ext cx="2011680" cy="960120"/>
          </a:xfrm>
          <a:prstGeom prst="roundRect">
            <a:avLst>
              <a:gd name="adj" fmla="val 7619"/>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41" name="Shape 39"/>
          <p:cNvSpPr/>
          <p:nvPr/>
        </p:nvSpPr>
        <p:spPr>
          <a:xfrm>
            <a:off x="7050024" y="2359152"/>
            <a:ext cx="256032" cy="256032"/>
          </a:xfrm>
          <a:prstGeom prst="ellipse">
            <a:avLst/>
          </a:prstGeom>
          <a:solidFill>
            <a:srgbClr val="660099"/>
          </a:solidFill>
          <a:ln/>
        </p:spPr>
        <p:txBody>
          <a:bodyPr/>
          <a:p/>
        </p:txBody>
      </p:sp>
      <p:sp>
        <p:nvSpPr>
          <p:cNvPr id="42" name="Text 40"/>
          <p:cNvSpPr/>
          <p:nvPr/>
        </p:nvSpPr>
        <p:spPr>
          <a:xfrm>
            <a:off x="7379208" y="2340864"/>
            <a:ext cx="1463040" cy="292608"/>
          </a:xfrm>
          <a:prstGeom prst="rect">
            <a:avLst/>
          </a:prstGeom>
          <a:noFill/>
          <a:ln/>
        </p:spPr>
        <p:txBody>
          <a:bodyPr wrap="square" rtlCol="0" anchor="ctr"/>
          <a:lstStyle/>
          <a:p>
            <a:pPr indent="0" marL="0">
              <a:buNone/>
            </a:pPr>
            <a:r>
              <a:rPr lang="en-US" sz="1050" b="1" dirty="0">
                <a:solidFill>
                  <a:srgbClr val="3B0064"/>
                </a:solidFill>
                <a:latin typeface="Calibri" pitchFamily="34" charset="0"/>
                <a:ea typeface="Calibri" pitchFamily="34" charset="-122"/>
                <a:cs typeface="Calibri" pitchFamily="34" charset="-120"/>
              </a:rPr>
              <a:t>Indoor play</a:t>
            </a:r>
            <a:endParaRPr lang="en-US" sz="1050" dirty="0"/>
          </a:p>
        </p:txBody>
      </p:sp>
      <p:sp>
        <p:nvSpPr>
          <p:cNvPr id="43" name="Text 41"/>
          <p:cNvSpPr/>
          <p:nvPr/>
        </p:nvSpPr>
        <p:spPr>
          <a:xfrm>
            <a:off x="7068312" y="2670048"/>
            <a:ext cx="1773936" cy="210312"/>
          </a:xfrm>
          <a:prstGeom prst="rect">
            <a:avLst/>
          </a:prstGeom>
          <a:noFill/>
          <a:ln/>
        </p:spPr>
        <p:txBody>
          <a:bodyPr wrap="square" rtlCol="0" anchor="ctr"/>
          <a:lstStyle/>
          <a:p>
            <a:pPr indent="0" marL="0">
              <a:buNone/>
            </a:pPr>
            <a:r>
              <a:rPr lang="en-US" sz="850" i="1" dirty="0">
                <a:solidFill>
                  <a:srgbClr val="660099"/>
                </a:solidFill>
                <a:latin typeface="Calibri" pitchFamily="34" charset="0"/>
                <a:ea typeface="Calibri" pitchFamily="34" charset="-122"/>
                <a:cs typeface="Calibri" pitchFamily="34" charset="-120"/>
              </a:rPr>
              <a:t>MDCH_PLAY</a:t>
            </a:r>
            <a:endParaRPr lang="en-US" sz="850" dirty="0"/>
          </a:p>
        </p:txBody>
      </p:sp>
      <p:sp>
        <p:nvSpPr>
          <p:cNvPr id="44" name="Text 42"/>
          <p:cNvSpPr/>
          <p:nvPr/>
        </p:nvSpPr>
        <p:spPr>
          <a:xfrm>
            <a:off x="7068312" y="2889504"/>
            <a:ext cx="1773936" cy="256032"/>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Games/toys</a:t>
            </a:r>
            <a:endParaRPr lang="en-US" sz="850" dirty="0"/>
          </a:p>
        </p:txBody>
      </p:sp>
      <p:sp>
        <p:nvSpPr>
          <p:cNvPr id="45" name="Shape 43"/>
          <p:cNvSpPr/>
          <p:nvPr/>
        </p:nvSpPr>
        <p:spPr>
          <a:xfrm>
            <a:off x="411480" y="3346704"/>
            <a:ext cx="2011680" cy="960120"/>
          </a:xfrm>
          <a:prstGeom prst="roundRect">
            <a:avLst>
              <a:gd name="adj" fmla="val 7619"/>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46" name="Shape 44"/>
          <p:cNvSpPr/>
          <p:nvPr/>
        </p:nvSpPr>
        <p:spPr>
          <a:xfrm>
            <a:off x="521208" y="3438144"/>
            <a:ext cx="256032" cy="256032"/>
          </a:xfrm>
          <a:prstGeom prst="ellipse">
            <a:avLst/>
          </a:prstGeom>
          <a:solidFill>
            <a:srgbClr val="660099"/>
          </a:solidFill>
          <a:ln/>
        </p:spPr>
        <p:txBody>
          <a:bodyPr/>
          <a:p/>
        </p:txBody>
      </p:sp>
      <p:sp>
        <p:nvSpPr>
          <p:cNvPr id="47" name="Text 45"/>
          <p:cNvSpPr/>
          <p:nvPr/>
        </p:nvSpPr>
        <p:spPr>
          <a:xfrm>
            <a:off x="850392" y="3419856"/>
            <a:ext cx="1463040" cy="292608"/>
          </a:xfrm>
          <a:prstGeom prst="rect">
            <a:avLst/>
          </a:prstGeom>
          <a:noFill/>
          <a:ln/>
        </p:spPr>
        <p:txBody>
          <a:bodyPr wrap="square" rtlCol="0" anchor="ctr"/>
          <a:lstStyle/>
          <a:p>
            <a:pPr indent="0" marL="0">
              <a:buNone/>
            </a:pPr>
            <a:r>
              <a:rPr lang="en-US" sz="1050" b="1" dirty="0">
                <a:solidFill>
                  <a:srgbClr val="3B0064"/>
                </a:solidFill>
                <a:latin typeface="Calibri" pitchFamily="34" charset="0"/>
                <a:ea typeface="Calibri" pitchFamily="34" charset="-122"/>
                <a:cs typeface="Calibri" pitchFamily="34" charset="-120"/>
              </a:rPr>
              <a:t>Outdoor play</a:t>
            </a:r>
            <a:endParaRPr lang="en-US" sz="1050" dirty="0"/>
          </a:p>
        </p:txBody>
      </p:sp>
      <p:sp>
        <p:nvSpPr>
          <p:cNvPr id="48" name="Text 46"/>
          <p:cNvSpPr/>
          <p:nvPr/>
        </p:nvSpPr>
        <p:spPr>
          <a:xfrm>
            <a:off x="539496" y="3749040"/>
            <a:ext cx="1773936" cy="210312"/>
          </a:xfrm>
          <a:prstGeom prst="rect">
            <a:avLst/>
          </a:prstGeom>
          <a:noFill/>
          <a:ln/>
        </p:spPr>
        <p:txBody>
          <a:bodyPr wrap="square" rtlCol="0" anchor="ctr"/>
          <a:lstStyle/>
          <a:p>
            <a:pPr indent="0" marL="0">
              <a:buNone/>
            </a:pPr>
            <a:r>
              <a:rPr lang="en-US" sz="850" i="1" dirty="0">
                <a:solidFill>
                  <a:srgbClr val="660099"/>
                </a:solidFill>
                <a:latin typeface="Calibri" pitchFamily="34" charset="0"/>
                <a:ea typeface="Calibri" pitchFamily="34" charset="-122"/>
                <a:cs typeface="Calibri" pitchFamily="34" charset="-120"/>
              </a:rPr>
              <a:t>MDCH_PLY</a:t>
            </a:r>
            <a:endParaRPr lang="en-US" sz="850" dirty="0"/>
          </a:p>
        </p:txBody>
      </p:sp>
      <p:sp>
        <p:nvSpPr>
          <p:cNvPr id="49" name="Text 47"/>
          <p:cNvSpPr/>
          <p:nvPr/>
        </p:nvSpPr>
        <p:spPr>
          <a:xfrm>
            <a:off x="539496" y="3968496"/>
            <a:ext cx="1773936" cy="256032"/>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Play area</a:t>
            </a:r>
            <a:endParaRPr lang="en-US" sz="850" dirty="0"/>
          </a:p>
        </p:txBody>
      </p:sp>
      <p:sp>
        <p:nvSpPr>
          <p:cNvPr id="50" name="Shape 48"/>
          <p:cNvSpPr/>
          <p:nvPr/>
        </p:nvSpPr>
        <p:spPr>
          <a:xfrm>
            <a:off x="2587752" y="3346704"/>
            <a:ext cx="2011680" cy="960120"/>
          </a:xfrm>
          <a:prstGeom prst="roundRect">
            <a:avLst>
              <a:gd name="adj" fmla="val 7619"/>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51" name="Shape 49"/>
          <p:cNvSpPr/>
          <p:nvPr/>
        </p:nvSpPr>
        <p:spPr>
          <a:xfrm>
            <a:off x="2697480" y="3438144"/>
            <a:ext cx="256032" cy="256032"/>
          </a:xfrm>
          <a:prstGeom prst="ellipse">
            <a:avLst/>
          </a:prstGeom>
          <a:solidFill>
            <a:srgbClr val="660099"/>
          </a:solidFill>
          <a:ln/>
        </p:spPr>
        <p:txBody>
          <a:bodyPr/>
          <a:p/>
        </p:txBody>
      </p:sp>
      <p:sp>
        <p:nvSpPr>
          <p:cNvPr id="52" name="Text 50"/>
          <p:cNvSpPr/>
          <p:nvPr/>
        </p:nvSpPr>
        <p:spPr>
          <a:xfrm>
            <a:off x="3026664" y="3419856"/>
            <a:ext cx="1463040" cy="292608"/>
          </a:xfrm>
          <a:prstGeom prst="rect">
            <a:avLst/>
          </a:prstGeom>
          <a:noFill/>
          <a:ln/>
        </p:spPr>
        <p:txBody>
          <a:bodyPr wrap="square" rtlCol="0" anchor="ctr"/>
          <a:lstStyle/>
          <a:p>
            <a:pPr indent="0" marL="0">
              <a:buNone/>
            </a:pPr>
            <a:r>
              <a:rPr lang="en-US" sz="1050" b="1" dirty="0">
                <a:solidFill>
                  <a:srgbClr val="3B0064"/>
                </a:solidFill>
                <a:latin typeface="Calibri" pitchFamily="34" charset="0"/>
                <a:ea typeface="Calibri" pitchFamily="34" charset="-122"/>
                <a:cs typeface="Calibri" pitchFamily="34" charset="-120"/>
              </a:rPr>
              <a:t>Fresh fruit/veg</a:t>
            </a:r>
            <a:endParaRPr lang="en-US" sz="1050" dirty="0"/>
          </a:p>
        </p:txBody>
      </p:sp>
      <p:sp>
        <p:nvSpPr>
          <p:cNvPr id="53" name="Text 51"/>
          <p:cNvSpPr/>
          <p:nvPr/>
        </p:nvSpPr>
        <p:spPr>
          <a:xfrm>
            <a:off x="2715768" y="3749040"/>
            <a:ext cx="1773936" cy="210312"/>
          </a:xfrm>
          <a:prstGeom prst="rect">
            <a:avLst/>
          </a:prstGeom>
          <a:noFill/>
          <a:ln/>
        </p:spPr>
        <p:txBody>
          <a:bodyPr wrap="square" rtlCol="0" anchor="ctr"/>
          <a:lstStyle/>
          <a:p>
            <a:pPr indent="0" marL="0">
              <a:buNone/>
            </a:pPr>
            <a:r>
              <a:rPr lang="en-US" sz="850" i="1" dirty="0">
                <a:solidFill>
                  <a:srgbClr val="660099"/>
                </a:solidFill>
                <a:latin typeface="Calibri" pitchFamily="34" charset="0"/>
                <a:ea typeface="Calibri" pitchFamily="34" charset="-122"/>
                <a:cs typeface="Calibri" pitchFamily="34" charset="-120"/>
              </a:rPr>
              <a:t>MDCH_TEA</a:t>
            </a:r>
            <a:endParaRPr lang="en-US" sz="850" dirty="0"/>
          </a:p>
        </p:txBody>
      </p:sp>
      <p:sp>
        <p:nvSpPr>
          <p:cNvPr id="54" name="Text 52"/>
          <p:cNvSpPr/>
          <p:nvPr/>
        </p:nvSpPr>
        <p:spPr>
          <a:xfrm>
            <a:off x="2715768" y="3968496"/>
            <a:ext cx="1773936" cy="256032"/>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Daily portions</a:t>
            </a:r>
            <a:endParaRPr lang="en-US" sz="850" dirty="0"/>
          </a:p>
        </p:txBody>
      </p:sp>
      <p:sp>
        <p:nvSpPr>
          <p:cNvPr id="55" name="Shape 53"/>
          <p:cNvSpPr/>
          <p:nvPr/>
        </p:nvSpPr>
        <p:spPr>
          <a:xfrm>
            <a:off x="4764024" y="3346704"/>
            <a:ext cx="2011680" cy="960120"/>
          </a:xfrm>
          <a:prstGeom prst="roundRect">
            <a:avLst>
              <a:gd name="adj" fmla="val 7619"/>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56" name="Shape 54"/>
          <p:cNvSpPr/>
          <p:nvPr/>
        </p:nvSpPr>
        <p:spPr>
          <a:xfrm>
            <a:off x="4873752" y="3438144"/>
            <a:ext cx="256032" cy="256032"/>
          </a:xfrm>
          <a:prstGeom prst="ellipse">
            <a:avLst/>
          </a:prstGeom>
          <a:solidFill>
            <a:srgbClr val="660099"/>
          </a:solidFill>
          <a:ln/>
        </p:spPr>
        <p:txBody>
          <a:bodyPr/>
          <a:p/>
        </p:txBody>
      </p:sp>
      <p:sp>
        <p:nvSpPr>
          <p:cNvPr id="57" name="Text 55"/>
          <p:cNvSpPr/>
          <p:nvPr/>
        </p:nvSpPr>
        <p:spPr>
          <a:xfrm>
            <a:off x="5202936" y="3419856"/>
            <a:ext cx="1463040" cy="292608"/>
          </a:xfrm>
          <a:prstGeom prst="rect">
            <a:avLst/>
          </a:prstGeom>
          <a:noFill/>
          <a:ln/>
        </p:spPr>
        <p:txBody>
          <a:bodyPr wrap="square" rtlCol="0" anchor="ctr"/>
          <a:lstStyle/>
          <a:p>
            <a:pPr indent="0" marL="0">
              <a:buNone/>
            </a:pPr>
            <a:r>
              <a:rPr lang="en-US" sz="1050" b="1" dirty="0">
                <a:solidFill>
                  <a:srgbClr val="3B0064"/>
                </a:solidFill>
                <a:latin typeface="Calibri" pitchFamily="34" charset="0"/>
                <a:ea typeface="Calibri" pitchFamily="34" charset="-122"/>
                <a:cs typeface="Calibri" pitchFamily="34" charset="-120"/>
              </a:rPr>
              <a:t>Trips/outings</a:t>
            </a:r>
            <a:endParaRPr lang="en-US" sz="1050" dirty="0"/>
          </a:p>
        </p:txBody>
      </p:sp>
      <p:sp>
        <p:nvSpPr>
          <p:cNvPr id="58" name="Text 56"/>
          <p:cNvSpPr/>
          <p:nvPr/>
        </p:nvSpPr>
        <p:spPr>
          <a:xfrm>
            <a:off x="4892040" y="3749040"/>
            <a:ext cx="1773936" cy="210312"/>
          </a:xfrm>
          <a:prstGeom prst="rect">
            <a:avLst/>
          </a:prstGeom>
          <a:noFill/>
          <a:ln/>
        </p:spPr>
        <p:txBody>
          <a:bodyPr wrap="square" rtlCol="0" anchor="ctr"/>
          <a:lstStyle/>
          <a:p>
            <a:pPr indent="0" marL="0">
              <a:buNone/>
            </a:pPr>
            <a:r>
              <a:rPr lang="en-US" sz="850" i="1" dirty="0">
                <a:solidFill>
                  <a:srgbClr val="660099"/>
                </a:solidFill>
                <a:latin typeface="Calibri" pitchFamily="34" charset="0"/>
                <a:ea typeface="Calibri" pitchFamily="34" charset="-122"/>
                <a:cs typeface="Calibri" pitchFamily="34" charset="-120"/>
              </a:rPr>
              <a:t>MDCH_TRP</a:t>
            </a:r>
            <a:endParaRPr lang="en-US" sz="850" dirty="0"/>
          </a:p>
        </p:txBody>
      </p:sp>
      <p:sp>
        <p:nvSpPr>
          <p:cNvPr id="59" name="Text 57"/>
          <p:cNvSpPr/>
          <p:nvPr/>
        </p:nvSpPr>
        <p:spPr>
          <a:xfrm>
            <a:off x="4892040" y="3968496"/>
            <a:ext cx="1773936" cy="256032"/>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Day trips</a:t>
            </a:r>
            <a:endParaRPr lang="en-US" sz="850" dirty="0"/>
          </a:p>
        </p:txBody>
      </p:sp>
      <p:sp>
        <p:nvSpPr>
          <p:cNvPr id="60" name="Shape 58"/>
          <p:cNvSpPr/>
          <p:nvPr/>
        </p:nvSpPr>
        <p:spPr>
          <a:xfrm>
            <a:off x="6940296" y="3346704"/>
            <a:ext cx="2011680" cy="960120"/>
          </a:xfrm>
          <a:prstGeom prst="roundRect">
            <a:avLst>
              <a:gd name="adj" fmla="val 7619"/>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61" name="Shape 59"/>
          <p:cNvSpPr/>
          <p:nvPr/>
        </p:nvSpPr>
        <p:spPr>
          <a:xfrm>
            <a:off x="7050024" y="3438144"/>
            <a:ext cx="256032" cy="256032"/>
          </a:xfrm>
          <a:prstGeom prst="ellipse">
            <a:avLst/>
          </a:prstGeom>
          <a:solidFill>
            <a:srgbClr val="660099"/>
          </a:solidFill>
          <a:ln/>
        </p:spPr>
        <p:txBody>
          <a:bodyPr/>
          <a:p/>
        </p:txBody>
      </p:sp>
      <p:sp>
        <p:nvSpPr>
          <p:cNvPr id="62" name="Text 60"/>
          <p:cNvSpPr/>
          <p:nvPr/>
        </p:nvSpPr>
        <p:spPr>
          <a:xfrm>
            <a:off x="7379208" y="3419856"/>
            <a:ext cx="1463040" cy="292608"/>
          </a:xfrm>
          <a:prstGeom prst="rect">
            <a:avLst/>
          </a:prstGeom>
          <a:noFill/>
          <a:ln/>
        </p:spPr>
        <p:txBody>
          <a:bodyPr wrap="square" rtlCol="0" anchor="ctr"/>
          <a:lstStyle/>
          <a:p>
            <a:pPr indent="0" marL="0">
              <a:buNone/>
            </a:pPr>
            <a:r>
              <a:rPr lang="en-US" sz="1050" b="1" dirty="0">
                <a:solidFill>
                  <a:srgbClr val="3B0064"/>
                </a:solidFill>
                <a:latin typeface="Calibri" pitchFamily="34" charset="0"/>
                <a:ea typeface="Calibri" pitchFamily="34" charset="-122"/>
                <a:cs typeface="Calibri" pitchFamily="34" charset="-120"/>
              </a:rPr>
              <a:t>Vegetables</a:t>
            </a:r>
            <a:endParaRPr lang="en-US" sz="1050" dirty="0"/>
          </a:p>
        </p:txBody>
      </p:sp>
      <p:sp>
        <p:nvSpPr>
          <p:cNvPr id="63" name="Text 61"/>
          <p:cNvSpPr/>
          <p:nvPr/>
        </p:nvSpPr>
        <p:spPr>
          <a:xfrm>
            <a:off x="7068312" y="3749040"/>
            <a:ext cx="1773936" cy="210312"/>
          </a:xfrm>
          <a:prstGeom prst="rect">
            <a:avLst/>
          </a:prstGeom>
          <a:noFill/>
          <a:ln/>
        </p:spPr>
        <p:txBody>
          <a:bodyPr wrap="square" rtlCol="0" anchor="ctr"/>
          <a:lstStyle/>
          <a:p>
            <a:pPr indent="0" marL="0">
              <a:buNone/>
            </a:pPr>
            <a:r>
              <a:rPr lang="en-US" sz="850" i="1" dirty="0">
                <a:solidFill>
                  <a:srgbClr val="660099"/>
                </a:solidFill>
                <a:latin typeface="Calibri" pitchFamily="34" charset="0"/>
                <a:ea typeface="Calibri" pitchFamily="34" charset="-122"/>
                <a:cs typeface="Calibri" pitchFamily="34" charset="-120"/>
              </a:rPr>
              <a:t>MDCH_VEG</a:t>
            </a:r>
            <a:endParaRPr lang="en-US" sz="850" dirty="0"/>
          </a:p>
        </p:txBody>
      </p:sp>
      <p:sp>
        <p:nvSpPr>
          <p:cNvPr id="64" name="Text 62"/>
          <p:cNvSpPr/>
          <p:nvPr/>
        </p:nvSpPr>
        <p:spPr>
          <a:xfrm>
            <a:off x="7068312" y="3968496"/>
            <a:ext cx="1773936" cy="256032"/>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Regular vegetables</a:t>
            </a:r>
            <a:endParaRPr lang="en-US" sz="850" dirty="0"/>
          </a:p>
        </p:txBody>
      </p:sp>
      <p:sp>
        <p:nvSpPr>
          <p:cNvPr id="65" name="Shape 63"/>
          <p:cNvSpPr/>
          <p:nvPr/>
        </p:nvSpPr>
        <p:spPr>
          <a:xfrm>
            <a:off x="411480" y="4425696"/>
            <a:ext cx="8321040" cy="621792"/>
          </a:xfrm>
          <a:prstGeom prst="roundRect">
            <a:avLst>
              <a:gd name="adj" fmla="val 11765"/>
            </a:avLst>
          </a:prstGeom>
          <a:solidFill>
            <a:srgbClr val="EDE0F7"/>
          </a:solidFill>
          <a:ln/>
        </p:spPr>
        <p:txBody>
          <a:bodyPr/>
          <a:p/>
        </p:txBody>
      </p:sp>
      <p:sp>
        <p:nvSpPr>
          <p:cNvPr id="66" name="Text 64"/>
          <p:cNvSpPr/>
          <p:nvPr/>
        </p:nvSpPr>
        <p:spPr>
          <a:xfrm>
            <a:off x="548640" y="4498848"/>
            <a:ext cx="8046720" cy="493776"/>
          </a:xfrm>
          <a:prstGeom prst="rect">
            <a:avLst/>
          </a:prstGeom>
          <a:noFill/>
          <a:ln/>
        </p:spPr>
        <p:txBody>
          <a:bodyPr wrap="square" rtlCol="0" anchor="ctr"/>
          <a:lstStyle/>
          <a:p>
            <a:pPr indent="0" marL="0">
              <a:buNone/>
            </a:pPr>
            <a:r>
              <a:rPr lang="en-US" sz="900" dirty="0">
                <a:solidFill>
                  <a:srgbClr val="3B0064"/>
                </a:solidFill>
                <a:latin typeface="Calibri" pitchFamily="34" charset="0"/>
                <a:ea typeface="Calibri" pitchFamily="34" charset="-122"/>
                <a:cs typeface="Calibri" pitchFamily="34" charset="-120"/>
              </a:rPr>
              <a:t>Coding: 1 = has item → 0 (not deprived)   |   2 = lacks due to cost → 1 (deprived)   |   3 / –9 = N/A → NaN</a:t>
            </a:r>
            <a:endParaRPr lang="en-US" sz="900" dirty="0"/>
          </a:p>
          <a:p>
            <a:pPr indent="0" marL="0">
              <a:buNone/>
            </a:pPr>
            <a:r>
              <a:rPr lang="en-US" sz="900" dirty="0">
                <a:solidFill>
                  <a:srgbClr val="3B0064"/>
                </a:solidFill>
                <a:latin typeface="Calibri" pitchFamily="34" charset="0"/>
                <a:ea typeface="Calibri" pitchFamily="34" charset="-122"/>
                <a:cs typeface="Calibri" pitchFamily="34" charset="-120"/>
              </a:rPr>
              <a:t>Composite: mdch_count = sum(12 items)  |  mdch_any = any deprivation  |  mdch_severe = 3+ items  |  Prevalence rates: TBC after script run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8F5FF"/>
        </a:solidFill>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algn="l" indent="0" marL="0">
              <a:buNone/>
            </a:pPr>
            <a:r>
              <a:rPr lang="en-US" sz="2800" b="1" dirty="0">
                <a:solidFill>
                  <a:srgbClr val="3B0064"/>
                </a:solidFill>
                <a:latin typeface="Calibri" pitchFamily="34" charset="0"/>
                <a:ea typeface="Calibri" pitchFamily="34" charset="-122"/>
                <a:cs typeface="Calibri" pitchFamily="34" charset="-120"/>
              </a:rPr>
              <a:t>Pre-Treatment Parallel Trends</a:t>
            </a:r>
            <a:endParaRPr lang="en-US" sz="2800" dirty="0"/>
          </a:p>
        </p:txBody>
      </p:sp>
      <p:sp>
        <p:nvSpPr>
          <p:cNvPr id="3" name="Shape 1"/>
          <p:cNvSpPr/>
          <p:nvPr/>
        </p:nvSpPr>
        <p:spPr>
          <a:xfrm>
            <a:off x="457200" y="777240"/>
            <a:ext cx="8229600" cy="27432"/>
          </a:xfrm>
          <a:prstGeom prst="rect">
            <a:avLst/>
          </a:prstGeom>
          <a:solidFill>
            <a:srgbClr val="660099"/>
          </a:solidFill>
          <a:ln/>
        </p:spPr>
        <p:txBody>
          <a:bodyPr/>
          <a:p/>
        </p:txBody>
      </p:sp>
      <p:sp>
        <p:nvSpPr>
          <p:cNvPr id="4" name="Caption MDCH Flag"/>
          <p:cNvSpPr/>
          <p:nvPr/>
        </p:nvSpPr>
        <p:spPr>
          <a:xfrm>
            <a:off x="457200" y="900000"/>
            <a:ext cx="3900000" cy="280000"/>
          </a:xfrm>
          <a:prstGeom prst="rect">
            <a:avLst/>
          </a:prstGeom>
          <a:noFill/>
          <a:ln/>
        </p:spPr>
        <p:txBody>
          <a:bodyPr wrap="square" rtlCol="0" anchor="ctr"/>
          <a:lstStyle/>
          <a:p>
            <a:pPr algn="ctr" indent="0" marL="0">
              <a:buNone/>
            </a:pPr>
            <a:r>
              <a:rPr lang="en-US" sz="1000" b="1" dirty="0">
                <a:solidFill>
                  <a:srgbClr val="3B0064"/>
                </a:solidFill>
                <a:latin typeface="Calibri" pitchFamily="34" charset="0"/>
                <a:ea typeface="Calibri" pitchFamily="34" charset="-122"/>
                <a:cs typeface="Calibri" pitchFamily="34" charset="-120"/>
              </a:rPr>
              <a:t>MDCH: Official DWP flag — Scotland vs. England</a:t>
            </a:r>
            <a:endParaRPr lang="en-US" sz="1000" dirty="0"/>
          </a:p>
        </p:txBody>
      </p:sp>
      <p:pic>
        <p:nvPicPr>
          <p:cNvPr id="5" name="Image MDCH Flag Trend"/>
          <p:cNvPicPr>
            <a:picLocks noChangeAspect="1"/>
          </p:cNvPicPr>
          <p:nvPr/>
        </p:nvPicPr>
        <p:blipFill>
          <a:blip r:embed="rId7"/>
          <a:stretch>
            <a:fillRect/>
          </a:stretch>
        </p:blipFill>
        <p:spPr>
          <a:xfrm>
            <a:off x="527200" y="1200000"/>
            <a:ext cx="3760000" cy="2350000"/>
          </a:xfrm>
          <a:prstGeom prst="rect">
            <a:avLst/>
          </a:prstGeom>
        </p:spPr>
      </p:pic>
      <p:graphicFrame>
        <p:nvGraphicFramePr>
          <p:cNvPr id="6" name="Coefficient Table"/>
          <p:cNvGraphicFramePr>
            <a:graphicFrameLocks noGrp="1"/>
          </p:cNvGraphicFramePr>
          <p:nvPr/>
        </p:nvGraphicFramePr>
        <p:xfrm>
          <a:off x="4607200" y="1145000"/>
          <a:ext cx="4079600" cy="1820000"/>
        </p:xfrm>
        <a:graphic>
          <a:graphicData uri="http://schemas.openxmlformats.org/drawingml/2006/table">
            <a:tbl>
              <a:tblPr firstRow="1" bandRow="1">
                <a:tableStyleId>{5C22544A-7EE6-4342-B048-85BDC9FD1C3A}</a:tableStyleId>
              </a:tblPr>
              <a:tblGrid>
                <a:gridCol w="1050000"/>
                <a:gridCol w="1505000"/>
                <a:gridCol w="1524600"/>
              </a:tblGrid>
              <a:tr h="260000">
                <a:tc>
                  <a:txBody>
                    <a:bodyPr/>
                    <a:lstStyle/>
                    <a:p>
                      <a:pPr algn="ctr"/>
                      <a:r>
                        <a:rPr lang="en-US" sz="900" b="1" dirty="0">
                          <a:solidFill>
                            <a:srgbClr val="FFFFFF"/>
                          </a:solidFill>
                          <a:latin typeface="Calibri" pitchFamily="34" charset="0"/>
                        </a:rPr>
                        <a:t>FYE</a:t>
                      </a:r>
                    </a:p>
                  </a:txBody>
                  <a:tcPr anchor="ctr">
                    <a:solidFill>
                      <a:srgbClr val="3B0064"/>
                    </a:solidFill>
                  </a:tcPr>
                </a:tc>
                <a:tc>
                  <a:txBody>
                    <a:bodyPr/>
                    <a:lstStyle/>
                    <a:p>
                      <a:pPr algn="ctr"/>
                      <a:r>
                        <a:rPr lang="en-US" sz="900" b="1" dirty="0">
                          <a:solidFill>
                            <a:srgbClr val="FFFFFF"/>
                          </a:solidFill>
                          <a:latin typeface="Calibri" pitchFamily="34" charset="0"/>
                        </a:rPr>
                        <a:t>Unadjusted β (SE)</a:t>
                      </a:r>
                    </a:p>
                  </a:txBody>
                  <a:tcPr anchor="ctr">
                    <a:solidFill>
                      <a:srgbClr val="3B0064"/>
                    </a:solidFill>
                  </a:tcPr>
                </a:tc>
                <a:tc>
                  <a:txBody>
                    <a:bodyPr/>
                    <a:lstStyle/>
                    <a:p>
                      <a:pPr algn="ctr"/>
                      <a:r>
                        <a:rPr lang="en-US" sz="900" b="1" dirty="0">
                          <a:solidFill>
                            <a:srgbClr val="FFFFFF"/>
                          </a:solidFill>
                          <a:latin typeface="Calibri" pitchFamily="34" charset="0"/>
                        </a:rPr>
                        <a:t>Adjusted β (SE)</a:t>
                      </a:r>
                    </a:p>
                  </a:txBody>
                  <a:tcPr anchor="ctr">
                    <a:solidFill>
                      <a:srgbClr val="3B0064"/>
                    </a:solidFill>
                  </a:tcPr>
                </a:tc>
              </a:tr>
              <a:tr h="260000">
                <a:tc>
                  <a:txBody>
                    <a:bodyPr/>
                    <a:lstStyle/>
                    <a:p>
                      <a:pPr algn="ctr"/>
                      <a:r>
                        <a:rPr lang="en-US" sz="900" dirty="0">
                          <a:solidFill>
                            <a:srgbClr val="1A1A2E"/>
                          </a:solidFill>
                          <a:latin typeface="Calibri" pitchFamily="34" charset="0"/>
                        </a:rPr>
                        <a:t>FYE 2018</a:t>
                      </a:r>
                    </a:p>
                  </a:txBody>
                  <a:tcPr anchor="ctr">
                    <a:solidFill>
                      <a:srgbClr val="FFFFFF"/>
                    </a:solidFill>
                  </a:tcPr>
                </a:tc>
                <a:tc>
                  <a:txBody>
                    <a:bodyPr/>
                    <a:lstStyle/>
                    <a:p>
                      <a:pPr algn="ctr"/>
                      <a:r>
                        <a:rPr lang="en-US" sz="900" dirty="0">
                          <a:solidFill>
                            <a:srgbClr val="1A1A2E"/>
                          </a:solidFill>
                          <a:latin typeface="Calibri" pitchFamily="34" charset="0"/>
                        </a:rPr>
                        <a:t>−0.000 (0.005)</a:t>
                      </a:r>
                    </a:p>
                  </a:txBody>
                  <a:tcPr anchor="ctr">
                    <a:solidFill>
                      <a:srgbClr val="FFFFFF"/>
                    </a:solidFill>
                  </a:tcPr>
                </a:tc>
                <a:tc>
                  <a:txBody>
                    <a:bodyPr/>
                    <a:lstStyle/>
                    <a:p>
                      <a:pPr algn="ctr"/>
                      <a:r>
                        <a:rPr lang="en-US" sz="900" dirty="0">
                          <a:solidFill>
                            <a:srgbClr val="1A1A2E"/>
                          </a:solidFill>
                          <a:latin typeface="Calibri" pitchFamily="34" charset="0"/>
                        </a:rPr>
                        <a:t>−0.004 (0.006)</a:t>
                      </a:r>
                    </a:p>
                  </a:txBody>
                  <a:tcPr anchor="ctr">
                    <a:solidFill>
                      <a:srgbClr val="FFFFFF"/>
                    </a:solidFill>
                  </a:tcPr>
                </a:tc>
              </a:tr>
              <a:tr h="260000">
                <a:tc>
                  <a:txBody>
                    <a:bodyPr/>
                    <a:lstStyle/>
                    <a:p>
                      <a:pPr algn="ctr"/>
                      <a:r>
                        <a:rPr lang="en-US" sz="900" dirty="0">
                          <a:solidFill>
                            <a:srgbClr val="1A1A2E"/>
                          </a:solidFill>
                          <a:latin typeface="Calibri" pitchFamily="34" charset="0"/>
                        </a:rPr>
                        <a:t>FYE 2019</a:t>
                      </a:r>
                    </a:p>
                  </a:txBody>
                  <a:tcPr anchor="ctr">
                    <a:solidFill>
                      <a:srgbClr val="EDE0F7"/>
                    </a:solidFill>
                  </a:tcPr>
                </a:tc>
                <a:tc>
                  <a:txBody>
                    <a:bodyPr/>
                    <a:lstStyle/>
                    <a:p>
                      <a:pPr algn="ctr"/>
                      <a:r>
                        <a:rPr lang="en-US" sz="900" dirty="0">
                          <a:solidFill>
                            <a:srgbClr val="1A1A2E"/>
                          </a:solidFill>
                          <a:latin typeface="Calibri" pitchFamily="34" charset="0"/>
                        </a:rPr>
                        <a:t>0.025 (0.017)</a:t>
                      </a:r>
                    </a:p>
                  </a:txBody>
                  <a:tcPr anchor="ctr">
                    <a:solidFill>
                      <a:srgbClr val="EDE0F7"/>
                    </a:solidFill>
                  </a:tcPr>
                </a:tc>
                <a:tc>
                  <a:txBody>
                    <a:bodyPr/>
                    <a:lstStyle/>
                    <a:p>
                      <a:pPr algn="ctr"/>
                      <a:r>
                        <a:rPr lang="en-US" sz="900" dirty="0">
                          <a:solidFill>
                            <a:srgbClr val="1A1A2E"/>
                          </a:solidFill>
                          <a:latin typeface="Calibri" pitchFamily="34" charset="0"/>
                        </a:rPr>
                        <a:t>0.019 (0.016)</a:t>
                      </a:r>
                    </a:p>
                  </a:txBody>
                  <a:tcPr anchor="ctr">
                    <a:solidFill>
                      <a:srgbClr val="EDE0F7"/>
                    </a:solidFill>
                  </a:tcPr>
                </a:tc>
              </a:tr>
              <a:tr h="260000">
                <a:tc>
                  <a:txBody>
                    <a:bodyPr/>
                    <a:lstStyle/>
                    <a:p>
                      <a:pPr algn="ctr"/>
                      <a:r>
                        <a:rPr lang="en-US" sz="900" dirty="0">
                          <a:solidFill>
                            <a:srgbClr val="1A1A2E"/>
                          </a:solidFill>
                          <a:latin typeface="Calibri" pitchFamily="34" charset="0"/>
                        </a:rPr>
                        <a:t>FYE 2020</a:t>
                      </a:r>
                    </a:p>
                  </a:txBody>
                  <a:tcPr anchor="ctr">
                    <a:solidFill>
                      <a:srgbClr val="FFFFFF"/>
                    </a:solidFill>
                  </a:tcPr>
                </a:tc>
                <a:tc>
                  <a:txBody>
                    <a:bodyPr/>
                    <a:lstStyle/>
                    <a:p>
                      <a:pPr algn="ctr"/>
                      <a:r>
                        <a:rPr lang="en-US" sz="900" b="1" dirty="0">
                          <a:solidFill>
                            <a:srgbClr val="660099"/>
                          </a:solidFill>
                          <a:latin typeface="Calibri" pitchFamily="34" charset="0"/>
                        </a:rPr>
                        <a:t>0.038** (0.010)</a:t>
                      </a:r>
                    </a:p>
                  </a:txBody>
                  <a:tcPr anchor="ctr">
                    <a:solidFill>
                      <a:srgbClr val="FFFFFF"/>
                    </a:solidFill>
                  </a:tcPr>
                </a:tc>
                <a:tc>
                  <a:txBody>
                    <a:bodyPr/>
                    <a:lstStyle/>
                    <a:p>
                      <a:pPr algn="ctr"/>
                      <a:r>
                        <a:rPr lang="en-US" sz="900" dirty="0">
                          <a:solidFill>
                            <a:srgbClr val="1A1A2E"/>
                          </a:solidFill>
                          <a:latin typeface="Calibri" pitchFamily="34" charset="0"/>
                        </a:rPr>
                        <a:t>0.026 (0.012)</a:t>
                      </a:r>
                    </a:p>
                  </a:txBody>
                  <a:tcPr anchor="ctr">
                    <a:solidFill>
                      <a:srgbClr val="FFFFFF"/>
                    </a:solidFill>
                  </a:tcPr>
                </a:tc>
              </a:tr>
              <a:tr h="260000">
                <a:tc>
                  <a:txBody>
                    <a:bodyPr/>
                    <a:lstStyle/>
                    <a:p>
                      <a:pPr algn="ctr"/>
                      <a:r>
                        <a:rPr lang="en-US" sz="900" dirty="0">
                          <a:solidFill>
                            <a:srgbClr val="1A1A2E"/>
                          </a:solidFill>
                          <a:latin typeface="Calibri" pitchFamily="34" charset="0"/>
                        </a:rPr>
                        <a:t>FYE 2022</a:t>
                      </a:r>
                    </a:p>
                  </a:txBody>
                  <a:tcPr anchor="ctr">
                    <a:solidFill>
                      <a:srgbClr val="EDE0F7"/>
                    </a:solidFill>
                  </a:tcPr>
                </a:tc>
                <a:tc>
                  <a:txBody>
                    <a:bodyPr/>
                    <a:lstStyle/>
                    <a:p>
                      <a:pPr algn="ctr"/>
                      <a:r>
                        <a:rPr lang="en-US" sz="900" dirty="0">
                          <a:solidFill>
                            <a:srgbClr val="1A1A2E"/>
                          </a:solidFill>
                          <a:latin typeface="Calibri" pitchFamily="34" charset="0"/>
                        </a:rPr>
                        <a:t>−0.016 (0.019)</a:t>
                      </a:r>
                    </a:p>
                  </a:txBody>
                  <a:tcPr anchor="ctr">
                    <a:solidFill>
                      <a:srgbClr val="EDE0F7"/>
                    </a:solidFill>
                  </a:tcPr>
                </a:tc>
                <a:tc>
                  <a:txBody>
                    <a:bodyPr/>
                    <a:lstStyle/>
                    <a:p>
                      <a:pPr algn="ctr"/>
                      <a:r>
                        <a:rPr lang="en-US" sz="900" dirty="0">
                          <a:solidFill>
                            <a:srgbClr val="1A1A2E"/>
                          </a:solidFill>
                          <a:latin typeface="Calibri" pitchFamily="34" charset="0"/>
                        </a:rPr>
                        <a:t>0.002 (0.020)</a:t>
                      </a:r>
                    </a:p>
                  </a:txBody>
                  <a:tcPr anchor="ctr">
                    <a:solidFill>
                      <a:srgbClr val="EDE0F7"/>
                    </a:solidFill>
                  </a:tcPr>
                </a:tc>
              </a:tr>
              <a:tr h="260000">
                <a:tc>
                  <a:txBody>
                    <a:bodyPr/>
                    <a:lstStyle/>
                    <a:p>
                      <a:pPr algn="ctr"/>
                      <a:r>
                        <a:rPr lang="en-US" sz="900" dirty="0">
                          <a:solidFill>
                            <a:srgbClr val="1A1A2E"/>
                          </a:solidFill>
                          <a:latin typeface="Calibri" pitchFamily="34" charset="0"/>
                        </a:rPr>
                        <a:t>FYE 2023</a:t>
                      </a:r>
                    </a:p>
                  </a:txBody>
                  <a:tcPr anchor="ctr">
                    <a:solidFill>
                      <a:srgbClr val="FFFFFF"/>
                    </a:solidFill>
                  </a:tcPr>
                </a:tc>
                <a:tc>
                  <a:txBody>
                    <a:bodyPr/>
                    <a:lstStyle/>
                    <a:p>
                      <a:pPr algn="ctr"/>
                      <a:r>
                        <a:rPr lang="en-US" sz="900" dirty="0">
                          <a:solidFill>
                            <a:srgbClr val="1A1A2E"/>
                          </a:solidFill>
                          <a:latin typeface="Calibri" pitchFamily="34" charset="0"/>
                        </a:rPr>
                        <a:t>−0.020 (0.016)</a:t>
                      </a:r>
                    </a:p>
                  </a:txBody>
                  <a:tcPr anchor="ctr">
                    <a:solidFill>
                      <a:srgbClr val="FFFFFF"/>
                    </a:solidFill>
                  </a:tcPr>
                </a:tc>
                <a:tc>
                  <a:txBody>
                    <a:bodyPr/>
                    <a:lstStyle/>
                    <a:p>
                      <a:pPr algn="ctr"/>
                      <a:r>
                        <a:rPr lang="en-US" sz="900" dirty="0">
                          <a:solidFill>
                            <a:srgbClr val="1A1A2E"/>
                          </a:solidFill>
                          <a:latin typeface="Calibri" pitchFamily="34" charset="0"/>
                        </a:rPr>
                        <a:t>−0.019 (0.015)</a:t>
                      </a:r>
                    </a:p>
                  </a:txBody>
                  <a:tcPr anchor="ctr">
                    <a:solidFill>
                      <a:srgbClr val="FFFFFF"/>
                    </a:solidFill>
                  </a:tcPr>
                </a:tc>
              </a:tr>
              <a:tr h="260000">
                <a:tc>
                  <a:txBody>
                    <a:bodyPr/>
                    <a:lstStyle/>
                    <a:p>
                      <a:pPr algn="ctr"/>
                      <a:r>
                        <a:rPr lang="en-US" sz="900" dirty="0">
                          <a:solidFill>
                            <a:srgbClr val="1A1A2E"/>
                          </a:solidFill>
                          <a:latin typeface="Calibri" pitchFamily="34" charset="0"/>
                        </a:rPr>
                        <a:t>FYE 2024</a:t>
                      </a:r>
                    </a:p>
                  </a:txBody>
                  <a:tcPr anchor="ctr">
                    <a:solidFill>
                      <a:srgbClr val="EDE0F7"/>
                    </a:solidFill>
                  </a:tcPr>
                </a:tc>
                <a:tc>
                  <a:txBody>
                    <a:bodyPr/>
                    <a:lstStyle/>
                    <a:p>
                      <a:pPr algn="ctr"/>
                      <a:r>
                        <a:rPr lang="en-US" sz="900" b="1" dirty="0">
                          <a:solidFill>
                            <a:srgbClr val="660099"/>
                          </a:solidFill>
                          <a:latin typeface="Calibri" pitchFamily="34" charset="0"/>
                        </a:rPr>
                        <a:t>−0.058** (0.014)</a:t>
                      </a:r>
                    </a:p>
                  </a:txBody>
                  <a:tcPr anchor="ctr">
                    <a:solidFill>
                      <a:srgbClr val="EDE0F7"/>
                    </a:solidFill>
                  </a:tcPr>
                </a:tc>
                <a:tc>
                  <a:txBody>
                    <a:bodyPr/>
                    <a:lstStyle/>
                    <a:p>
                      <a:pPr algn="ctr"/>
                      <a:r>
                        <a:rPr lang="en-US" sz="900" b="1" dirty="0">
                          <a:solidFill>
                            <a:srgbClr val="660099"/>
                          </a:solidFill>
                          <a:latin typeface="Calibri" pitchFamily="34" charset="0"/>
                        </a:rPr>
                        <a:t>−0.067*** (0.013)</a:t>
                      </a:r>
                    </a:p>
                  </a:txBody>
                  <a:tcPr anchor="ctr">
                    <a:solidFill>
                      <a:srgbClr val="EDE0F7"/>
                    </a:solidFill>
                  </a:tcPr>
                </a:tc>
              </a:tr>
            </a:tbl>
          </a:graphicData>
        </a:graphic>
      </p:graphicFrame>
      <p:sp>
        <p:nvSpPr>
          <p:cNvPr id="7" name="Table Note"/>
          <p:cNvSpPr/>
          <p:nvPr/>
        </p:nvSpPr>
        <p:spPr>
          <a:xfrm>
            <a:off x="4607200" y="3055000"/>
            <a:ext cx="4079600" cy="300000"/>
          </a:xfrm>
          <a:prstGeom prst="rect">
            <a:avLst/>
          </a:prstGeom>
          <a:noFill/>
          <a:ln/>
        </p:spPr>
        <p:txBody>
          <a:bodyPr wrap="square" rtlCol="0" anchor="t"/>
          <a:lstStyle/>
          <a:p>
            <a:pPr algn="l" indent="0" marL="0">
              <a:buNone/>
            </a:pPr>
            <a:r>
              <a:rPr lang="en-US" sz="800" i="1" dirty="0">
                <a:solidFill>
                  <a:srgbClr val="64748B"/>
                </a:solidFill>
                <a:latin typeface="Calibri" pitchFamily="34" charset="0"/>
                <a:ea typeface="Calibri" pitchFamily="34" charset="-122"/>
                <a:cs typeface="Calibri" pitchFamily="34" charset="-120"/>
              </a:rPr>
              <a:t>Joint pre-trend Wald test: unadj. p=0.004, adj. p=0.034 (BH-adj. 0.005/0.040) — flagged.</a:t>
            </a:r>
            <a:endParaRPr lang="en-US" sz="800" i="1" dirty="0"/>
          </a:p>
        </p:txBody>
      </p:sp>
      <p:sp>
        <p:nvSpPr>
          <p:cNvPr id="8" name="Mitigation Card BG"/>
          <p:cNvSpPr/>
          <p:nvPr/>
        </p:nvSpPr>
        <p:spPr>
          <a:xfrm>
            <a:off x="457200" y="3650000"/>
            <a:ext cx="8229600" cy="1300000"/>
          </a:xfrm>
          <a:prstGeom prst="roundRect">
            <a:avLst>
              <a:gd name="adj" fmla="val 4000"/>
            </a:avLst>
          </a:prstGeom>
          <a:solidFill>
            <a:srgbClr val="EDE0F7"/>
          </a:solidFill>
          <a:ln/>
          <a:effectLst>
            <a:outerShdw sx="100000" sy="100000" kx="0" ky="0" algn="bl" rotWithShape="0" blurRad="101600" dist="25400" dir="2700000">
              <a:srgbClr val="000000">
                <a:alpha val="12000"/>
              </a:srgbClr>
            </a:outerShdw>
          </a:effectLst>
        </p:spPr>
        <p:txBody>
          <a:bodyPr/>
          <a:p/>
        </p:txBody>
      </p:sp>
      <p:sp>
        <p:nvSpPr>
          <p:cNvPr id="9" name="Mitigation Title"/>
          <p:cNvSpPr/>
          <p:nvPr/>
        </p:nvSpPr>
        <p:spPr>
          <a:xfrm>
            <a:off x="557200" y="3700000"/>
            <a:ext cx="8029600" cy="260000"/>
          </a:xfrm>
          <a:prstGeom prst="rect">
            <a:avLst/>
          </a:prstGeom>
          <a:noFill/>
          <a:ln/>
        </p:spPr>
        <p:txBody>
          <a:bodyPr wrap="square" rtlCol="0" anchor="ctr"/>
          <a:lstStyle/>
          <a:p>
            <a:pPr algn="l" indent="0" marL="0">
              <a:buNone/>
            </a:pPr>
            <a:r>
              <a:rPr lang="en-US" sz="1100" b="1" dirty="0">
                <a:solidFill>
                  <a:srgbClr val="3B0064"/>
                </a:solidFill>
                <a:latin typeface="Calibri" pitchFamily="34" charset="0"/>
                <a:ea typeface="Calibri" pitchFamily="34" charset="-122"/>
                <a:cs typeface="Calibri" pitchFamily="34" charset="-120"/>
              </a:rPr>
              <a:t>How we deal with this</a:t>
            </a:r>
            <a:endParaRPr lang="en-US" sz="1100" dirty="0"/>
          </a:p>
        </p:txBody>
      </p:sp>
      <p:sp>
        <p:nvSpPr>
          <p:cNvPr id="10" name="Mitigation Body"/>
          <p:cNvSpPr/>
          <p:nvPr/>
        </p:nvSpPr>
        <p:spPr>
          <a:xfrm>
            <a:off x="557200" y="3960000"/>
            <a:ext cx="8029600" cy="930000"/>
          </a:xfrm>
          <a:prstGeom prst="rect">
            <a:avLst/>
          </a:prstGeom>
          <a:noFill/>
          <a:ln/>
        </p:spPr>
        <p:txBody>
          <a:bodyPr wrap="square" rtlCol="0" anchor="t"/>
          <a:lstStyle/>
          <a:p>
            <a:pPr indent="0" marL="0">
              <a:buNone/>
            </a:pPr>
            <a:r>
              <a:rPr lang="en-US" sz="1000" dirty="0">
                <a:solidFill>
                  <a:srgbClr val="1A1A2E"/>
                </a:solidFill>
                <a:latin typeface="Calibri" pitchFamily="34" charset="0"/>
                <a:ea typeface="Calibri" pitchFamily="34" charset="-122"/>
                <a:cs typeface="Calibri" pitchFamily="34" charset="-120"/>
              </a:rPr>
              <a:t>Once covariates are added, none of the individual pre-2022 year coefficients are significant on their own — only 2024, after the expansion, remains significant in both specifications. The joint test is still marginally flagged (adj. p=0.034, BH-adj. 0.040), a residual caveat rather than a clear violation. We report the adjusted model as preferred (Abadie, 2005), disclose the test rather than hide it, and note ~6,000 Scottish vs ~45,000 English households make these joint tests underpowered by construction (Roth, 2022).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3B0064"/>
        </a:solidFill>
      </p:bgPr>
    </p:bg>
    <p:spTree>
      <p:nvGrpSpPr>
        <p:cNvPr id="1" name=""/>
        <p:cNvGrpSpPr/>
        <p:nvPr/>
      </p:nvGrpSpPr>
      <p:grpSpPr>
        <a:xfrm>
          <a:off x="0" y="0"/>
          <a:ext cx="0" cy="0"/>
          <a:chOff x="0" y="0"/>
          <a:chExt cx="0" cy="0"/>
        </a:xfrm>
      </p:grpSpPr>
      <p:sp>
        <p:nvSpPr>
          <p:cNvPr id="2" name="Text 0"/>
          <p:cNvSpPr/>
          <p:nvPr/>
        </p:nvSpPr>
        <p:spPr>
          <a:xfrm>
            <a:off x="548640" y="274320"/>
            <a:ext cx="8046720"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Methodology: Three-Stage Design</a:t>
            </a:r>
            <a:endParaRPr lang="en-US" sz="3200" dirty="0"/>
          </a:p>
        </p:txBody>
      </p:sp>
      <p:sp>
        <p:nvSpPr>
          <p:cNvPr id="3" name="Text 1"/>
          <p:cNvSpPr/>
          <p:nvPr/>
        </p:nvSpPr>
        <p:spPr>
          <a:xfrm>
            <a:off x="548640" y="960120"/>
            <a:ext cx="8046720" cy="365760"/>
          </a:xfrm>
          <a:prstGeom prst="rect">
            <a:avLst/>
          </a:prstGeom>
          <a:noFill/>
          <a:ln/>
        </p:spPr>
        <p:txBody>
          <a:bodyPr wrap="square" rtlCol="0" anchor="ctr"/>
          <a:lstStyle/>
          <a:p>
            <a:pPr algn="l" indent="0" marL="0">
              <a:buNone/>
            </a:pPr>
            <a:r>
              <a:rPr lang="en-US" sz="1400" i="1" dirty="0">
                <a:solidFill>
                  <a:srgbClr val="F5A623"/>
                </a:solidFill>
                <a:latin typeface="Calibri" pitchFamily="34" charset="0"/>
                <a:ea typeface="Calibri" pitchFamily="34" charset="-122"/>
                <a:cs typeface="Calibri" pitchFamily="34" charset="-120"/>
              </a:rPr>
              <a:t>Benchmark → Extension → Decomposition</a:t>
            </a:r>
            <a:endParaRPr lang="en-US" sz="1400" dirty="0"/>
          </a:p>
        </p:txBody>
      </p:sp>
      <p:sp>
        <p:nvSpPr>
          <p:cNvPr id="4" name="Shape 2"/>
          <p:cNvSpPr/>
          <p:nvPr/>
        </p:nvSpPr>
        <p:spPr>
          <a:xfrm>
            <a:off x="411480" y="1325880"/>
            <a:ext cx="2651760" cy="1737360"/>
          </a:xfrm>
          <a:prstGeom prst="roundRect">
            <a:avLst>
              <a:gd name="adj" fmla="val 3448"/>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5" name="Shape 3"/>
          <p:cNvSpPr/>
          <p:nvPr/>
        </p:nvSpPr>
        <p:spPr>
          <a:xfrm>
            <a:off x="576072" y="1463040"/>
            <a:ext cx="457200" cy="457200"/>
          </a:xfrm>
          <a:prstGeom prst="ellipse">
            <a:avLst/>
          </a:prstGeom>
          <a:solidFill>
            <a:srgbClr val="660099"/>
          </a:solidFill>
          <a:ln/>
        </p:spPr>
        <p:txBody>
          <a:bodyPr/>
          <a:p/>
        </p:txBody>
      </p:sp>
      <p:sp>
        <p:nvSpPr>
          <p:cNvPr id="6" name="Text 4"/>
          <p:cNvSpPr/>
          <p:nvPr/>
        </p:nvSpPr>
        <p:spPr>
          <a:xfrm>
            <a:off x="576072" y="1463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5"/>
          <p:cNvSpPr/>
          <p:nvPr/>
        </p:nvSpPr>
        <p:spPr>
          <a:xfrm>
            <a:off x="1124712" y="1463040"/>
            <a:ext cx="1773936" cy="365760"/>
          </a:xfrm>
          <a:prstGeom prst="rect">
            <a:avLst/>
          </a:prstGeom>
          <a:noFill/>
          <a:ln/>
        </p:spPr>
        <p:txBody>
          <a:bodyPr wrap="square" rtlCol="0" anchor="ctr"/>
          <a:lstStyle/>
          <a:p>
            <a:pPr indent="0" marL="0">
              <a:buNone/>
            </a:pPr>
            <a:r>
              <a:rPr lang="en-US" sz="1300" b="1" dirty="0">
                <a:solidFill>
                  <a:srgbClr val="3B0064"/>
                </a:solidFill>
                <a:latin typeface="Calibri" pitchFamily="34" charset="0"/>
                <a:ea typeface="Calibri" pitchFamily="34" charset="-122"/>
                <a:cs typeface="Calibri" pitchFamily="34" charset="-120"/>
              </a:rPr>
              <a:t>Benchmark DiD</a:t>
            </a:r>
            <a:endParaRPr lang="en-US" sz="1300" dirty="0"/>
          </a:p>
        </p:txBody>
      </p:sp>
      <p:sp>
        <p:nvSpPr>
          <p:cNvPr id="8" name="Text 6"/>
          <p:cNvSpPr/>
          <p:nvPr/>
        </p:nvSpPr>
        <p:spPr>
          <a:xfrm>
            <a:off x="612648" y="1892808"/>
            <a:ext cx="2286000" cy="90000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Linear DiD replicating Stewart et al. (2025) on composite outcomes.</a:t>
            </a:r>
            <a:endParaRPr lang="en-US" sz="1100" dirty="0"/>
          </a:p>
        </p:txBody>
      </p:sp>
      <p:sp>
        <p:nvSpPr>
          <p:cNvPr id="9" name="Shape 7"/>
          <p:cNvSpPr/>
          <p:nvPr/>
        </p:nvSpPr>
        <p:spPr>
          <a:xfrm>
            <a:off x="3246120" y="1325880"/>
            <a:ext cx="2651760" cy="1737360"/>
          </a:xfrm>
          <a:prstGeom prst="roundRect">
            <a:avLst>
              <a:gd name="adj" fmla="val 3448"/>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10" name="Shape 8"/>
          <p:cNvSpPr/>
          <p:nvPr/>
        </p:nvSpPr>
        <p:spPr>
          <a:xfrm>
            <a:off x="3410712" y="1463040"/>
            <a:ext cx="457200" cy="457200"/>
          </a:xfrm>
          <a:prstGeom prst="ellipse">
            <a:avLst/>
          </a:prstGeom>
          <a:solidFill>
            <a:srgbClr val="660099"/>
          </a:solidFill>
          <a:ln/>
        </p:spPr>
        <p:txBody>
          <a:bodyPr/>
          <a:p/>
        </p:txBody>
      </p:sp>
      <p:sp>
        <p:nvSpPr>
          <p:cNvPr id="11" name="Text 9"/>
          <p:cNvSpPr/>
          <p:nvPr/>
        </p:nvSpPr>
        <p:spPr>
          <a:xfrm>
            <a:off x="3410712" y="1463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10"/>
          <p:cNvSpPr/>
          <p:nvPr/>
        </p:nvSpPr>
        <p:spPr>
          <a:xfrm>
            <a:off x="3959352" y="1463040"/>
            <a:ext cx="1773936" cy="365760"/>
          </a:xfrm>
          <a:prstGeom prst="rect">
            <a:avLst/>
          </a:prstGeom>
          <a:noFill/>
          <a:ln/>
        </p:spPr>
        <p:txBody>
          <a:bodyPr wrap="square" rtlCol="0" anchor="ctr"/>
          <a:lstStyle/>
          <a:p>
            <a:pPr indent="0" marL="0">
              <a:buNone/>
            </a:pPr>
            <a:r>
              <a:rPr lang="en-US" sz="1300" b="1" dirty="0">
                <a:solidFill>
                  <a:srgbClr val="3B0064"/>
                </a:solidFill>
                <a:latin typeface="Calibri" pitchFamily="34" charset="0"/>
                <a:ea typeface="Calibri" pitchFamily="34" charset="-122"/>
                <a:cs typeface="Calibri" pitchFamily="34" charset="-120"/>
              </a:rPr>
              <a:t>Double ML DiD</a:t>
            </a:r>
            <a:endParaRPr lang="en-US" sz="1300" dirty="0"/>
          </a:p>
        </p:txBody>
      </p:sp>
      <p:sp>
        <p:nvSpPr>
          <p:cNvPr id="13" name="Text 11"/>
          <p:cNvSpPr/>
          <p:nvPr/>
        </p:nvSpPr>
        <p:spPr>
          <a:xfrm>
            <a:off x="3447288" y="1892808"/>
            <a:ext cx="2286000" cy="90000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Same outcomes, ML-flexible covariate adjustment (Chang 2020).</a:t>
            </a:r>
            <a:endParaRPr lang="en-US" sz="1100" dirty="0"/>
          </a:p>
        </p:txBody>
      </p:sp>
      <p:sp>
        <p:nvSpPr>
          <p:cNvPr id="14" name="Shape 12"/>
          <p:cNvSpPr/>
          <p:nvPr/>
        </p:nvSpPr>
        <p:spPr>
          <a:xfrm>
            <a:off x="6080760" y="1325880"/>
            <a:ext cx="2651760" cy="1737360"/>
          </a:xfrm>
          <a:prstGeom prst="roundRect">
            <a:avLst>
              <a:gd name="adj" fmla="val 3448"/>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15" name="Shape 13"/>
          <p:cNvSpPr/>
          <p:nvPr/>
        </p:nvSpPr>
        <p:spPr>
          <a:xfrm>
            <a:off x="6245352" y="1463040"/>
            <a:ext cx="457200" cy="457200"/>
          </a:xfrm>
          <a:prstGeom prst="ellipse">
            <a:avLst/>
          </a:prstGeom>
          <a:solidFill>
            <a:srgbClr val="660099"/>
          </a:solidFill>
          <a:ln/>
        </p:spPr>
        <p:txBody>
          <a:bodyPr/>
          <a:p/>
        </p:txBody>
      </p:sp>
      <p:sp>
        <p:nvSpPr>
          <p:cNvPr id="16" name="Text 14"/>
          <p:cNvSpPr/>
          <p:nvPr/>
        </p:nvSpPr>
        <p:spPr>
          <a:xfrm>
            <a:off x="6245352" y="1463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7" name="Text 15"/>
          <p:cNvSpPr/>
          <p:nvPr/>
        </p:nvSpPr>
        <p:spPr>
          <a:xfrm>
            <a:off x="6793992" y="1463040"/>
            <a:ext cx="1773936" cy="365760"/>
          </a:xfrm>
          <a:prstGeom prst="rect">
            <a:avLst/>
          </a:prstGeom>
          <a:noFill/>
          <a:ln/>
        </p:spPr>
        <p:txBody>
          <a:bodyPr wrap="square" rtlCol="0" anchor="ctr"/>
          <a:lstStyle/>
          <a:p>
            <a:pPr indent="0" marL="0">
              <a:buNone/>
            </a:pPr>
            <a:r>
              <a:rPr lang="en-US" sz="1300" b="1" dirty="0">
                <a:solidFill>
                  <a:srgbClr val="3B0064"/>
                </a:solidFill>
                <a:latin typeface="Calibri" pitchFamily="34" charset="0"/>
                <a:ea typeface="Calibri" pitchFamily="34" charset="-122"/>
                <a:cs typeface="Calibri" pitchFamily="34" charset="-120"/>
              </a:rPr>
              <a:t>Item-Level Decomposition</a:t>
            </a:r>
            <a:endParaRPr lang="en-US" sz="1300" dirty="0"/>
          </a:p>
        </p:txBody>
      </p:sp>
      <p:sp>
        <p:nvSpPr>
          <p:cNvPr id="18" name="Text 16"/>
          <p:cNvSpPr/>
          <p:nvPr/>
        </p:nvSpPr>
        <p:spPr>
          <a:xfrm>
            <a:off x="6281928" y="1892808"/>
            <a:ext cx="2286000" cy="90000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DML-DiD on each of 12 MDCH items, with FDR correction.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8F5FF"/>
        </a:solidFill>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algn="l" indent="0" marL="0">
              <a:buNone/>
            </a:pPr>
            <a:r>
              <a:rPr lang="en-US" sz="2800" b="1" dirty="0">
                <a:solidFill>
                  <a:srgbClr val="3B0064"/>
                </a:solidFill>
                <a:latin typeface="Calibri" pitchFamily="34" charset="0"/>
                <a:ea typeface="Calibri" pitchFamily="34" charset="-122"/>
                <a:cs typeface="Calibri" pitchFamily="34" charset="-120"/>
              </a:rPr>
              <a:t>Empirical Strategy: Benchmark DiD</a:t>
            </a:r>
            <a:endParaRPr lang="en-US" sz="2800" dirty="0"/>
          </a:p>
        </p:txBody>
      </p:sp>
      <p:sp>
        <p:nvSpPr>
          <p:cNvPr id="3" name="Shape 1"/>
          <p:cNvSpPr/>
          <p:nvPr/>
        </p:nvSpPr>
        <p:spPr>
          <a:xfrm>
            <a:off x="457200" y="777240"/>
            <a:ext cx="8229600" cy="27432"/>
          </a:xfrm>
          <a:prstGeom prst="rect">
            <a:avLst/>
          </a:prstGeom>
          <a:solidFill>
            <a:srgbClr val="660099"/>
          </a:solidFill>
          <a:ln/>
        </p:spPr>
        <p:txBody>
          <a:bodyPr/>
          <a:p/>
        </p:txBody>
      </p:sp>
      <p:sp>
        <p:nvSpPr>
          <p:cNvPr id="4" name="Text 2"/>
          <p:cNvSpPr/>
          <p:nvPr/>
        </p:nvSpPr>
        <p:spPr>
          <a:xfrm>
            <a:off x="457200" y="932688"/>
            <a:ext cx="4480560" cy="301752"/>
          </a:xfrm>
          <a:prstGeom prst="rect">
            <a:avLst/>
          </a:prstGeom>
          <a:noFill/>
          <a:ln/>
        </p:spPr>
        <p:txBody>
          <a:bodyPr wrap="square" rtlCol="0" anchor="ctr"/>
          <a:lstStyle/>
          <a:p>
            <a:pPr indent="0" marL="0">
              <a:buNone/>
            </a:pPr>
            <a:r>
              <a:rPr lang="en-US" sz="1300" b="1" dirty="0">
                <a:solidFill>
                  <a:srgbClr val="660099"/>
                </a:solidFill>
                <a:latin typeface="Calibri" pitchFamily="34" charset="0"/>
                <a:ea typeface="Calibri" pitchFamily="34" charset="-122"/>
                <a:cs typeface="Calibri" pitchFamily="34" charset="-120"/>
              </a:rPr>
              <a:t>Empirical Specification</a:t>
            </a:r>
            <a:endParaRPr lang="en-US" sz="1300" dirty="0"/>
          </a:p>
        </p:txBody>
      </p:sp>
      <p:sp>
        <p:nvSpPr>
          <p:cNvPr id="5" name="Shape 3"/>
          <p:cNvSpPr/>
          <p:nvPr/>
        </p:nvSpPr>
        <p:spPr>
          <a:xfrm>
            <a:off x="457200" y="1280160"/>
            <a:ext cx="4480560" cy="822960"/>
          </a:xfrm>
          <a:prstGeom prst="roundRect">
            <a:avLst>
              <a:gd name="adj" fmla="val 8889"/>
            </a:avLst>
          </a:prstGeom>
          <a:solidFill>
            <a:srgbClr val="3B0064"/>
          </a:solidFill>
          <a:ln/>
        </p:spPr>
        <p:txBody>
          <a:bodyPr/>
          <a:p/>
        </p:txBody>
      </p:sp>
      <p:sp>
        <p:nvSpPr>
          <p:cNvPr id="6" name="Text 4"/>
          <p:cNvSpPr/>
          <p:nvPr/>
        </p:nvSpPr>
        <p:spPr>
          <a:xfrm>
            <a:off x="548640" y="1399032"/>
            <a:ext cx="429768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Y_it  =  α  +  δ (Scotland_i × Post_t)  +  β X_it  +  γ_t  +  ε_it</a:t>
            </a:r>
            <a:endParaRPr lang="en-US" sz="1200" dirty="0"/>
          </a:p>
        </p:txBody>
      </p:sp>
      <p:sp>
        <p:nvSpPr>
          <p:cNvPr id="7" name="Text 5"/>
          <p:cNvSpPr/>
          <p:nvPr/>
        </p:nvSpPr>
        <p:spPr>
          <a:xfrm>
            <a:off x="457200" y="2176272"/>
            <a:ext cx="4480560" cy="365760"/>
          </a:xfrm>
          <a:prstGeom prst="rect">
            <a:avLst/>
          </a:prstGeom>
          <a:noFill/>
          <a:ln/>
        </p:spPr>
        <p:txBody>
          <a:bodyPr wrap="square" rtlCol="0" anchor="ctr"/>
          <a:lstStyle/>
          <a:p>
            <a:pPr indent="0" marL="0">
              <a:buNone/>
            </a:pPr>
            <a:r>
              <a:rPr lang="en-US" sz="1000" b="1" dirty="0">
                <a:solidFill>
                  <a:srgbClr val="660099"/>
                </a:solidFill>
                <a:latin typeface="Calibri" pitchFamily="34" charset="0"/>
                <a:ea typeface="Calibri" pitchFamily="34" charset="-122"/>
                <a:cs typeface="Calibri" pitchFamily="34" charset="-120"/>
              </a:rPr>
              <a:t>δ</a:t>
            </a:r>
            <a:pPr indent="0" marL="0">
              <a:buNone/>
            </a:pPr>
            <a:r>
              <a:rPr lang="en-US" sz="1000" dirty="0">
                <a:solidFill>
                  <a:srgbClr val="1A1A2E"/>
                </a:solidFill>
                <a:latin typeface="Calibri" pitchFamily="34" charset="0"/>
                <a:ea typeface="Calibri" pitchFamily="34" charset="-122"/>
                <a:cs typeface="Calibri" pitchFamily="34" charset="-120"/>
              </a:rPr>
              <a:t xml:space="preserve"> = treatment effect of interest  |  </a:t>
            </a:r>
            <a:pPr indent="0" marL="0">
              <a:buNone/>
            </a:pPr>
            <a:r>
              <a:rPr lang="en-US" sz="1000" b="1" dirty="0">
                <a:solidFill>
                  <a:srgbClr val="660099"/>
                </a:solidFill>
                <a:latin typeface="Calibri" pitchFamily="34" charset="0"/>
                <a:ea typeface="Calibri" pitchFamily="34" charset="-122"/>
                <a:cs typeface="Calibri" pitchFamily="34" charset="-120"/>
              </a:rPr>
              <a:t>Post</a:t>
            </a:r>
            <a:pPr indent="0" marL="0">
              <a:buNone/>
            </a:pPr>
            <a:r>
              <a:rPr lang="en-US" sz="1000" dirty="0">
                <a:solidFill>
                  <a:srgbClr val="1A1A2E"/>
                </a:solidFill>
                <a:latin typeface="Calibri" pitchFamily="34" charset="0"/>
                <a:ea typeface="Calibri" pitchFamily="34" charset="-122"/>
                <a:cs typeface="Calibri" pitchFamily="34" charset="-120"/>
              </a:rPr>
              <a:t xml:space="preserve"> = 1 after Nov 2022 expansion  |  </a:t>
            </a:r>
            <a:pPr indent="0" marL="0">
              <a:buNone/>
            </a:pPr>
            <a:r>
              <a:rPr lang="en-US" sz="1000" b="1" dirty="0">
                <a:solidFill>
                  <a:srgbClr val="660099"/>
                </a:solidFill>
                <a:latin typeface="Calibri" pitchFamily="34" charset="0"/>
                <a:ea typeface="Calibri" pitchFamily="34" charset="-122"/>
                <a:cs typeface="Calibri" pitchFamily="34" charset="-120"/>
              </a:rPr>
              <a:t>γ_t</a:t>
            </a:r>
            <a:pPr indent="0" marL="0">
              <a:buNone/>
            </a:pPr>
            <a:r>
              <a:rPr lang="en-US" sz="1000" dirty="0">
                <a:solidFill>
                  <a:srgbClr val="1A1A2E"/>
                </a:solidFill>
                <a:latin typeface="Calibri" pitchFamily="34" charset="0"/>
                <a:ea typeface="Calibri" pitchFamily="34" charset="-122"/>
                <a:cs typeface="Calibri" pitchFamily="34" charset="-120"/>
              </a:rPr>
              <a:t xml:space="preserve"> = year fixed effects</a:t>
            </a:r>
            <a:endParaRPr lang="en-US" sz="1000" dirty="0"/>
          </a:p>
        </p:txBody>
      </p:sp>
      <p:sp>
        <p:nvSpPr>
          <p:cNvPr id="8" name="Text 6"/>
          <p:cNvSpPr/>
          <p:nvPr/>
        </p:nvSpPr>
        <p:spPr>
          <a:xfrm>
            <a:off x="457200" y="2606040"/>
            <a:ext cx="4480560" cy="274320"/>
          </a:xfrm>
          <a:prstGeom prst="rect">
            <a:avLst/>
          </a:prstGeom>
          <a:noFill/>
          <a:ln/>
        </p:spPr>
        <p:txBody>
          <a:bodyPr wrap="square" rtlCol="0" anchor="ctr"/>
          <a:lstStyle/>
          <a:p>
            <a:pPr indent="0" marL="0">
              <a:buNone/>
            </a:pPr>
            <a:r>
              <a:rPr lang="en-US" sz="1100" b="1" dirty="0">
                <a:solidFill>
                  <a:srgbClr val="660099"/>
                </a:solidFill>
                <a:latin typeface="Calibri" pitchFamily="34" charset="0"/>
                <a:ea typeface="Calibri" pitchFamily="34" charset="-122"/>
                <a:cs typeface="Calibri" pitchFamily="34" charset="-120"/>
              </a:rPr>
              <a:t>Controls (X_it) — linear in benchmark:</a:t>
            </a:r>
            <a:endParaRPr lang="en-US" sz="1100" dirty="0"/>
          </a:p>
        </p:txBody>
      </p:sp>
      <p:sp>
        <p:nvSpPr>
          <p:cNvPr id="9" name="Text 7"/>
          <p:cNvSpPr/>
          <p:nvPr/>
        </p:nvSpPr>
        <p:spPr>
          <a:xfrm>
            <a:off x="457200" y="2907792"/>
            <a:ext cx="4480560" cy="1874520"/>
          </a:xfrm>
          <a:prstGeom prst="rect">
            <a:avLst/>
          </a:prstGeom>
          <a:noFill/>
          <a:ln/>
        </p:spPr>
        <p:txBody>
          <a:bodyPr wrap="square" rtlCol="0" anchor="ctr"/>
          <a:lstStyle/>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Income (S_OE_AHC), family type, tenure, number of children, age</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Year fixed effects — absorb common UK macro shocks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Clustered SEs at country level (Bertrand, Duflo &amp; Mullainathan 2004)</a:t>
            </a:r>
            <a:endParaRPr lang="en-US" sz="1100" dirty="0"/>
          </a:p>
        </p:txBody>
      </p:sp>
      <p:sp>
        <p:nvSpPr>
          <p:cNvPr id="10" name="Text 8"/>
          <p:cNvSpPr/>
          <p:nvPr/>
        </p:nvSpPr>
        <p:spPr>
          <a:xfrm>
            <a:off x="5212080" y="932688"/>
            <a:ext cx="3566160" cy="301752"/>
          </a:xfrm>
          <a:prstGeom prst="rect">
            <a:avLst/>
          </a:prstGeom>
          <a:noFill/>
          <a:ln/>
        </p:spPr>
        <p:txBody>
          <a:bodyPr wrap="square" rtlCol="0" anchor="ctr"/>
          <a:lstStyle/>
          <a:p>
            <a:pPr indent="0" marL="0">
              <a:buNone/>
            </a:pPr>
            <a:r>
              <a:rPr lang="en-US" sz="1300" b="1" dirty="0">
                <a:solidFill>
                  <a:srgbClr val="660099"/>
                </a:solidFill>
                <a:latin typeface="Calibri" pitchFamily="34" charset="0"/>
                <a:ea typeface="Calibri" pitchFamily="34" charset="-122"/>
                <a:cs typeface="Calibri" pitchFamily="34" charset="-120"/>
              </a:rPr>
              <a:t>Identifying Assumption</a:t>
            </a:r>
            <a:endParaRPr lang="en-US" sz="1300" dirty="0"/>
          </a:p>
        </p:txBody>
      </p:sp>
      <p:sp>
        <p:nvSpPr>
          <p:cNvPr id="11" name="Shape 9"/>
          <p:cNvSpPr/>
          <p:nvPr/>
        </p:nvSpPr>
        <p:spPr>
          <a:xfrm>
            <a:off x="5212080" y="1280160"/>
            <a:ext cx="3566160" cy="1417320"/>
          </a:xfrm>
          <a:prstGeom prst="roundRect">
            <a:avLst>
              <a:gd name="adj" fmla="val 5161"/>
            </a:avLst>
          </a:prstGeom>
          <a:solidFill>
            <a:srgbClr val="EDE0F7"/>
          </a:solidFill>
          <a:ln/>
        </p:spPr>
        <p:txBody>
          <a:bodyPr/>
          <a:p/>
        </p:txBody>
      </p:sp>
      <p:sp>
        <p:nvSpPr>
          <p:cNvPr id="12" name="Text 10"/>
          <p:cNvSpPr/>
          <p:nvPr/>
        </p:nvSpPr>
        <p:spPr>
          <a:xfrm>
            <a:off x="5349240" y="1389888"/>
            <a:ext cx="3291840" cy="1207008"/>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Parallel trends: absent SCP, Scotland and England track together. Testable pre-2022. See next slide.</a:t>
            </a:r>
            <a:endParaRPr lang="en-US" sz="1100" dirty="0"/>
          </a:p>
        </p:txBody>
      </p:sp>
      <p:sp>
        <p:nvSpPr>
          <p:cNvPr id="13" name="Text 11"/>
          <p:cNvSpPr/>
          <p:nvPr/>
        </p:nvSpPr>
        <p:spPr>
          <a:xfrm>
            <a:off x="5212080" y="2788920"/>
            <a:ext cx="3566160" cy="274320"/>
          </a:xfrm>
          <a:prstGeom prst="rect">
            <a:avLst/>
          </a:prstGeom>
          <a:noFill/>
          <a:ln/>
        </p:spPr>
        <p:txBody>
          <a:bodyPr wrap="square" rtlCol="0" anchor="ctr"/>
          <a:lstStyle/>
          <a:p>
            <a:pPr indent="0" marL="0">
              <a:buNone/>
            </a:pPr>
            <a:r>
              <a:rPr lang="en-US" sz="1100" b="1" dirty="0">
                <a:solidFill>
                  <a:srgbClr val="660099"/>
                </a:solidFill>
                <a:latin typeface="Calibri" pitchFamily="34" charset="0"/>
                <a:ea typeface="Calibri" pitchFamily="34" charset="-122"/>
                <a:cs typeface="Calibri" pitchFamily="34" charset="-120"/>
              </a:rPr>
              <a:t>Why This Is a Valid Quasi-Experiment</a:t>
            </a:r>
            <a:endParaRPr lang="en-US" sz="1100" dirty="0"/>
          </a:p>
        </p:txBody>
      </p:sp>
      <p:sp>
        <p:nvSpPr>
          <p:cNvPr id="14" name="Text 12"/>
          <p:cNvSpPr/>
          <p:nvPr/>
        </p:nvSpPr>
        <p:spPr>
          <a:xfrm>
            <a:off x="5212080" y="3090672"/>
            <a:ext cx="3566160" cy="1737360"/>
          </a:xfrm>
          <a:prstGeom prst="rect">
            <a:avLst/>
          </a:prstGeom>
          <a:noFill/>
          <a:ln/>
        </p:spPr>
        <p:txBody>
          <a:bodyPr wrap="square" rtlCol="0" anchor="ctr"/>
          <a:lstStyle/>
          <a:p>
            <a:pPr marL="342900" indent="-342900">
              <a:spcAft>
                <a:spcPts val="800"/>
              </a:spcAft>
              <a:buSzPct val="100000"/>
              <a:buChar char="•"/>
            </a:pPr>
            <a:r>
              <a:rPr lang="en-US" sz="1050" dirty="0">
                <a:solidFill>
                  <a:srgbClr val="1A1A2E"/>
                </a:solidFill>
                <a:latin typeface="Calibri" pitchFamily="34" charset="0"/>
                <a:ea typeface="Calibri" pitchFamily="34" charset="-122"/>
                <a:cs typeface="Calibri" pitchFamily="34" charset="-120"/>
              </a:rPr>
              <a:t>SCP is Scotland-only — England has no equivalent payment</a:t>
            </a:r>
          </a:p>
          <a:p>
            <a:pPr marL="342900" indent="-342900">
              <a:spcAft>
                <a:spcPts val="800"/>
              </a:spcAft>
              <a:buSzPct val="100000"/>
              <a:buChar char="•"/>
            </a:pPr>
            <a:r>
              <a:rPr lang="en-US" sz="1050" dirty="0">
                <a:solidFill>
                  <a:srgbClr val="1A1A2E"/>
                </a:solidFill>
                <a:latin typeface="Calibri" pitchFamily="34" charset="0"/>
                <a:ea typeface="Calibri" pitchFamily="34" charset="-122"/>
                <a:cs typeface="Calibri" pitchFamily="34" charset="-120"/>
              </a:rPr>
              <a:t>Same HBAI survey both countries — no measurement discontinuity</a:t>
            </a:r>
          </a:p>
          <a:p>
            <a:pPr marL="342900" indent="-342900">
              <a:spcAft>
                <a:spcPts val="800"/>
              </a:spcAft>
              <a:buSzPct val="100000"/>
              <a:buChar char="•"/>
            </a:pPr>
            <a:r>
              <a:rPr lang="en-US" sz="1050" dirty="0">
                <a:solidFill>
                  <a:srgbClr val="1A1A2E"/>
                </a:solidFill>
                <a:latin typeface="Calibri" pitchFamily="34" charset="0"/>
                <a:ea typeface="Calibri" pitchFamily="34" charset="-122"/>
                <a:cs typeface="Calibri" pitchFamily="34" charset="-120"/>
              </a:rPr>
              <a:t>Staggered rollout (2021, 2022) gives two waves of variation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8F5FF"/>
        </a:solidFill>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algn="l" indent="0" marL="0">
              <a:buNone/>
            </a:pPr>
            <a:r>
              <a:rPr lang="en-US" sz="2800" b="1" dirty="0">
                <a:solidFill>
                  <a:srgbClr val="3B0064"/>
                </a:solidFill>
                <a:latin typeface="Calibri" pitchFamily="34" charset="0"/>
                <a:ea typeface="Calibri" pitchFamily="34" charset="-122"/>
                <a:cs typeface="Calibri" pitchFamily="34" charset="-120"/>
              </a:rPr>
              <a:t>Stage 2: Double Machine Learning DiD</a:t>
            </a:r>
            <a:endParaRPr lang="en-US" sz="2800" dirty="0"/>
          </a:p>
        </p:txBody>
      </p:sp>
      <p:sp>
        <p:nvSpPr>
          <p:cNvPr id="3" name="Shape 1"/>
          <p:cNvSpPr/>
          <p:nvPr/>
        </p:nvSpPr>
        <p:spPr>
          <a:xfrm>
            <a:off x="457200" y="777240"/>
            <a:ext cx="8229600" cy="27432"/>
          </a:xfrm>
          <a:prstGeom prst="rect">
            <a:avLst/>
          </a:prstGeom>
          <a:solidFill>
            <a:srgbClr val="660099"/>
          </a:solidFill>
          <a:ln/>
        </p:spPr>
        <p:txBody>
          <a:bodyPr/>
          <a:p/>
        </p:txBody>
      </p:sp>
      <p:sp>
        <p:nvSpPr>
          <p:cNvPr id="4" name="Text 2"/>
          <p:cNvSpPr/>
          <p:nvPr/>
        </p:nvSpPr>
        <p:spPr>
          <a:xfrm>
            <a:off x="457200" y="932688"/>
            <a:ext cx="4114800" cy="301752"/>
          </a:xfrm>
          <a:prstGeom prst="rect">
            <a:avLst/>
          </a:prstGeom>
          <a:noFill/>
          <a:ln/>
        </p:spPr>
        <p:txBody>
          <a:bodyPr wrap="square" rtlCol="0" anchor="ctr"/>
          <a:lstStyle/>
          <a:p>
            <a:pPr indent="0" marL="0">
              <a:buNone/>
            </a:pPr>
            <a:r>
              <a:rPr lang="en-US" sz="1300" b="1" dirty="0">
                <a:solidFill>
                  <a:srgbClr val="660099"/>
                </a:solidFill>
                <a:latin typeface="Calibri" pitchFamily="34" charset="0"/>
                <a:ea typeface="Calibri" pitchFamily="34" charset="-122"/>
                <a:cs typeface="Calibri" pitchFamily="34" charset="-120"/>
              </a:rPr>
              <a:t>Why DML over linear DiD?</a:t>
            </a:r>
            <a:endParaRPr lang="en-US" sz="1300" dirty="0"/>
          </a:p>
        </p:txBody>
      </p:sp>
      <p:sp>
        <p:nvSpPr>
          <p:cNvPr id="5" name="Text 3"/>
          <p:cNvSpPr/>
          <p:nvPr/>
        </p:nvSpPr>
        <p:spPr>
          <a:xfrm>
            <a:off x="457200" y="1261872"/>
            <a:ext cx="4114800" cy="2194560"/>
          </a:xfrm>
          <a:prstGeom prst="rect">
            <a:avLst/>
          </a:prstGeom>
          <a:noFill/>
          <a:ln/>
        </p:spPr>
        <p:txBody>
          <a:bodyPr wrap="square" rtlCol="0" anchor="ctr"/>
          <a:lstStyle/>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Linear controls assume additive, separable effects — likely wrong for income × family type interactions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DML estimates nuisance functions f(X) and g(X) flexibly using ML</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Valid inference despite using ML: Neyman orthogonality + cross-fitting eliminate regularisation bias</a:t>
            </a:r>
            <a:endParaRPr lang="en-US" sz="1100" dirty="0"/>
          </a:p>
          <a:p>
            <a:pPr marL="342900" indent="-342900">
              <a:spcAft>
                <a:spcPts val="800"/>
              </a:spcAft>
              <a:buSzPct val="100000"/>
              <a:buChar char="•"/>
            </a:pPr>
            <a:r>
              <a:rPr lang="en-US" sz="1100" dirty="0">
                <a:solidFill>
                  <a:srgbClr val="1A1A2E"/>
                </a:solidFill>
                <a:latin typeface="Calibri" pitchFamily="34" charset="0"/>
                <a:ea typeface="Calibri" pitchFamily="34" charset="-122"/>
                <a:cs typeface="Calibri" pitchFamily="34" charset="-120"/>
              </a:rPr>
              <a:t>Directly comparable to Stage 1 — same data, same outcome, different adjustment</a:t>
            </a:r>
            <a:endParaRPr lang="en-US" sz="1100" dirty="0"/>
          </a:p>
        </p:txBody>
      </p:sp>
      <p:sp>
        <p:nvSpPr>
          <p:cNvPr id="6" name="Text 4"/>
          <p:cNvSpPr/>
          <p:nvPr/>
        </p:nvSpPr>
        <p:spPr>
          <a:xfrm>
            <a:off x="457200" y="3493008"/>
            <a:ext cx="4114800" cy="256032"/>
          </a:xfrm>
          <a:prstGeom prst="rect">
            <a:avLst/>
          </a:prstGeom>
          <a:noFill/>
          <a:ln/>
        </p:spPr>
        <p:txBody>
          <a:bodyPr wrap="square"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Chang (2020); Sant’Anna &amp; Zhao (2020) doubly-robust extension</a:t>
            </a:r>
            <a:endParaRPr lang="en-US" sz="950" dirty="0"/>
          </a:p>
        </p:txBody>
      </p:sp>
      <p:sp>
        <p:nvSpPr>
          <p:cNvPr id="7" name="Text 5"/>
          <p:cNvSpPr/>
          <p:nvPr/>
        </p:nvSpPr>
        <p:spPr>
          <a:xfrm>
            <a:off x="457200" y="3749040"/>
            <a:ext cx="4114800" cy="256032"/>
          </a:xfrm>
          <a:prstGeom prst="rect">
            <a:avLst/>
          </a:prstGeom>
          <a:noFill/>
          <a:ln/>
        </p:spPr>
        <p:txBody>
          <a:bodyPr wrap="square"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Implementation: Python doubleml package (Bach et al. 2022)</a:t>
            </a:r>
            <a:endParaRPr lang="en-US" sz="950" dirty="0"/>
          </a:p>
        </p:txBody>
      </p:sp>
      <p:sp>
        <p:nvSpPr>
          <p:cNvPr id="8" name="Text 6"/>
          <p:cNvSpPr/>
          <p:nvPr/>
        </p:nvSpPr>
        <p:spPr>
          <a:xfrm>
            <a:off x="4892040" y="932688"/>
            <a:ext cx="3886200" cy="301752"/>
          </a:xfrm>
          <a:prstGeom prst="rect">
            <a:avLst/>
          </a:prstGeom>
          <a:noFill/>
          <a:ln/>
        </p:spPr>
        <p:txBody>
          <a:bodyPr wrap="square" rtlCol="0" anchor="ctr"/>
          <a:lstStyle/>
          <a:p>
            <a:pPr indent="0" marL="0">
              <a:buNone/>
            </a:pPr>
            <a:r>
              <a:rPr lang="en-US" sz="1300" b="1" dirty="0">
                <a:solidFill>
                  <a:srgbClr val="660099"/>
                </a:solidFill>
                <a:latin typeface="Calibri" pitchFamily="34" charset="0"/>
                <a:ea typeface="Calibri" pitchFamily="34" charset="-122"/>
                <a:cs typeface="Calibri" pitchFamily="34" charset="-120"/>
              </a:rPr>
              <a:t>Procedure (Chang 2020 DML-DiD)</a:t>
            </a:r>
            <a:endParaRPr lang="en-US" sz="1300" dirty="0"/>
          </a:p>
        </p:txBody>
      </p:sp>
      <p:sp>
        <p:nvSpPr>
          <p:cNvPr id="9" name="Shape 7"/>
          <p:cNvSpPr/>
          <p:nvPr/>
        </p:nvSpPr>
        <p:spPr>
          <a:xfrm>
            <a:off x="4892040" y="1298448"/>
            <a:ext cx="3886200" cy="777240"/>
          </a:xfrm>
          <a:prstGeom prst="roundRect">
            <a:avLst>
              <a:gd name="adj" fmla="val 9412"/>
            </a:avLst>
          </a:prstGeom>
          <a:solidFill>
            <a:srgbClr val="3B0064"/>
          </a:solidFill>
          <a:ln/>
        </p:spPr>
        <p:txBody>
          <a:bodyPr/>
          <a:p/>
        </p:txBody>
      </p:sp>
      <p:sp>
        <p:nvSpPr>
          <p:cNvPr id="10" name="Shape 8"/>
          <p:cNvSpPr/>
          <p:nvPr/>
        </p:nvSpPr>
        <p:spPr>
          <a:xfrm>
            <a:off x="5029200" y="1453896"/>
            <a:ext cx="411480" cy="411480"/>
          </a:xfrm>
          <a:prstGeom prst="ellipse">
            <a:avLst/>
          </a:prstGeom>
          <a:solidFill>
            <a:srgbClr val="F5A623"/>
          </a:solidFill>
          <a:ln/>
        </p:spPr>
        <p:txBody>
          <a:bodyPr/>
          <a:p/>
        </p:txBody>
      </p:sp>
      <p:sp>
        <p:nvSpPr>
          <p:cNvPr id="11" name="Text 9"/>
          <p:cNvSpPr/>
          <p:nvPr/>
        </p:nvSpPr>
        <p:spPr>
          <a:xfrm>
            <a:off x="5029200" y="1453896"/>
            <a:ext cx="411480" cy="411480"/>
          </a:xfrm>
          <a:prstGeom prst="rect">
            <a:avLst/>
          </a:prstGeom>
          <a:noFill/>
          <a:ln/>
        </p:spPr>
        <p:txBody>
          <a:bodyPr wrap="square" lIns="0" tIns="0" rIns="0" bIns="0" rtlCol="0" anchor="ctr"/>
          <a:lstStyle/>
          <a:p>
            <a:pPr algn="ctr" indent="0" marL="0">
              <a:buNone/>
            </a:pPr>
            <a:r>
              <a:rPr lang="en-US" sz="1300" b="1" dirty="0">
                <a:solidFill>
                  <a:srgbClr val="3B0064"/>
                </a:solidFill>
              </a:rPr>
              <a:t>1</a:t>
            </a:r>
            <a:endParaRPr lang="en-US" sz="1300" dirty="0"/>
          </a:p>
        </p:txBody>
      </p:sp>
      <p:sp>
        <p:nvSpPr>
          <p:cNvPr id="12" name="Text 10"/>
          <p:cNvSpPr/>
          <p:nvPr/>
        </p:nvSpPr>
        <p:spPr>
          <a:xfrm>
            <a:off x="5532120" y="1389888"/>
            <a:ext cx="3108960" cy="274320"/>
          </a:xfrm>
          <a:prstGeom prst="rect">
            <a:avLst/>
          </a:prstGeom>
          <a:noFill/>
          <a:ln/>
        </p:spPr>
        <p:txBody>
          <a:bodyPr wrap="square"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Split data</a:t>
            </a:r>
            <a:endParaRPr lang="en-US" sz="1100" dirty="0"/>
          </a:p>
        </p:txBody>
      </p:sp>
      <p:sp>
        <p:nvSpPr>
          <p:cNvPr id="13" name="Text 11"/>
          <p:cNvSpPr/>
          <p:nvPr/>
        </p:nvSpPr>
        <p:spPr>
          <a:xfrm>
            <a:off x="5532120" y="1664208"/>
            <a:ext cx="3108960" cy="347472"/>
          </a:xfrm>
          <a:prstGeom prst="rect">
            <a:avLst/>
          </a:prstGeom>
          <a:noFill/>
          <a:ln/>
        </p:spPr>
        <p:txBody>
          <a:bodyPr wrap="square" rtlCol="0" anchor="ctr"/>
          <a:lstStyle/>
          <a:p>
            <a:pPr indent="0" marL="0">
              <a:buNone/>
            </a:pPr>
            <a:r>
              <a:rPr lang="en-US" sz="1000" dirty="0">
                <a:solidFill>
                  <a:srgbClr val="EDE0F7"/>
                </a:solidFill>
                <a:latin typeface="Calibri" pitchFamily="34" charset="0"/>
                <a:ea typeface="Calibri" pitchFamily="34" charset="-122"/>
                <a:cs typeface="Calibri" pitchFamily="34" charset="-120"/>
              </a:rPr>
              <a:t>K=5 folds for cross-fitting</a:t>
            </a:r>
            <a:endParaRPr lang="en-US" sz="1000" dirty="0"/>
          </a:p>
        </p:txBody>
      </p:sp>
      <p:sp>
        <p:nvSpPr>
          <p:cNvPr id="14" name="Shape 12"/>
          <p:cNvSpPr/>
          <p:nvPr/>
        </p:nvSpPr>
        <p:spPr>
          <a:xfrm>
            <a:off x="4892040" y="2194560"/>
            <a:ext cx="3886200" cy="777240"/>
          </a:xfrm>
          <a:prstGeom prst="roundRect">
            <a:avLst>
              <a:gd name="adj" fmla="val 9412"/>
            </a:avLst>
          </a:prstGeom>
          <a:solidFill>
            <a:srgbClr val="EDE0F7"/>
          </a:solidFill>
          <a:ln/>
        </p:spPr>
        <p:txBody>
          <a:bodyPr/>
          <a:p/>
        </p:txBody>
      </p:sp>
      <p:sp>
        <p:nvSpPr>
          <p:cNvPr id="15" name="Shape 13"/>
          <p:cNvSpPr/>
          <p:nvPr/>
        </p:nvSpPr>
        <p:spPr>
          <a:xfrm>
            <a:off x="5029200" y="2350008"/>
            <a:ext cx="411480" cy="411480"/>
          </a:xfrm>
          <a:prstGeom prst="ellipse">
            <a:avLst/>
          </a:prstGeom>
          <a:solidFill>
            <a:srgbClr val="660099"/>
          </a:solidFill>
          <a:ln/>
        </p:spPr>
        <p:txBody>
          <a:bodyPr/>
          <a:p/>
        </p:txBody>
      </p:sp>
      <p:sp>
        <p:nvSpPr>
          <p:cNvPr id="16" name="Text 14"/>
          <p:cNvSpPr/>
          <p:nvPr/>
        </p:nvSpPr>
        <p:spPr>
          <a:xfrm>
            <a:off x="5029200" y="235000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5"/>
          <p:cNvSpPr/>
          <p:nvPr/>
        </p:nvSpPr>
        <p:spPr>
          <a:xfrm>
            <a:off x="5532120" y="2286000"/>
            <a:ext cx="3108960" cy="274320"/>
          </a:xfrm>
          <a:prstGeom prst="rect">
            <a:avLst/>
          </a:prstGeom>
          <a:noFill/>
          <a:ln/>
        </p:spPr>
        <p:txBody>
          <a:bodyPr wrap="square" rtlCol="0" anchor="ctr"/>
          <a:lstStyle/>
          <a:p>
            <a:pPr indent="0" marL="0">
              <a:buNone/>
            </a:pPr>
            <a:r>
              <a:rPr lang="en-US" sz="1100" b="1" dirty="0">
                <a:solidFill>
                  <a:srgbClr val="3B0064"/>
                </a:solidFill>
                <a:latin typeface="Calibri" pitchFamily="34" charset="0"/>
                <a:ea typeface="Calibri" pitchFamily="34" charset="-122"/>
                <a:cs typeface="Calibri" pitchFamily="34" charset="-120"/>
              </a:rPr>
              <a:t>Partial out outcome</a:t>
            </a:r>
            <a:endParaRPr lang="en-US" sz="1100" dirty="0"/>
          </a:p>
        </p:txBody>
      </p:sp>
      <p:sp>
        <p:nvSpPr>
          <p:cNvPr id="18" name="Text 16"/>
          <p:cNvSpPr/>
          <p:nvPr/>
        </p:nvSpPr>
        <p:spPr>
          <a:xfrm>
            <a:off x="5532120" y="2560320"/>
            <a:ext cx="3108960" cy="347472"/>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Ỹ = Y − f̂(X)  lasso + random forest</a:t>
            </a:r>
            <a:endParaRPr lang="en-US" sz="1000" dirty="0"/>
          </a:p>
        </p:txBody>
      </p:sp>
      <p:sp>
        <p:nvSpPr>
          <p:cNvPr id="19" name="Shape 17"/>
          <p:cNvSpPr/>
          <p:nvPr/>
        </p:nvSpPr>
        <p:spPr>
          <a:xfrm>
            <a:off x="4892040" y="3090672"/>
            <a:ext cx="3886200" cy="777240"/>
          </a:xfrm>
          <a:prstGeom prst="roundRect">
            <a:avLst>
              <a:gd name="adj" fmla="val 9412"/>
            </a:avLst>
          </a:prstGeom>
          <a:solidFill>
            <a:srgbClr val="3B0064"/>
          </a:solidFill>
          <a:ln/>
        </p:spPr>
        <p:txBody>
          <a:bodyPr/>
          <a:p/>
        </p:txBody>
      </p:sp>
      <p:sp>
        <p:nvSpPr>
          <p:cNvPr id="20" name="Shape 18"/>
          <p:cNvSpPr/>
          <p:nvPr/>
        </p:nvSpPr>
        <p:spPr>
          <a:xfrm>
            <a:off x="5029200" y="3246120"/>
            <a:ext cx="411480" cy="411480"/>
          </a:xfrm>
          <a:prstGeom prst="ellipse">
            <a:avLst/>
          </a:prstGeom>
          <a:solidFill>
            <a:srgbClr val="F5A623"/>
          </a:solidFill>
          <a:ln/>
        </p:spPr>
        <p:txBody>
          <a:bodyPr/>
          <a:p/>
        </p:txBody>
      </p:sp>
      <p:sp>
        <p:nvSpPr>
          <p:cNvPr id="21" name="Text 19"/>
          <p:cNvSpPr/>
          <p:nvPr/>
        </p:nvSpPr>
        <p:spPr>
          <a:xfrm>
            <a:off x="5029200" y="3246120"/>
            <a:ext cx="411480" cy="411480"/>
          </a:xfrm>
          <a:prstGeom prst="rect">
            <a:avLst/>
          </a:prstGeom>
          <a:noFill/>
          <a:ln/>
        </p:spPr>
        <p:txBody>
          <a:bodyPr wrap="square" lIns="0" tIns="0" rIns="0" bIns="0" rtlCol="0" anchor="ctr"/>
          <a:lstStyle/>
          <a:p>
            <a:pPr algn="ctr" indent="0" marL="0">
              <a:buNone/>
            </a:pPr>
            <a:r>
              <a:rPr lang="en-US" sz="1300" b="1" dirty="0">
                <a:solidFill>
                  <a:srgbClr val="3B0064"/>
                </a:solidFill>
              </a:rPr>
              <a:t>3</a:t>
            </a:r>
            <a:endParaRPr lang="en-US" sz="1300" dirty="0"/>
          </a:p>
        </p:txBody>
      </p:sp>
      <p:sp>
        <p:nvSpPr>
          <p:cNvPr id="22" name="Text 20"/>
          <p:cNvSpPr/>
          <p:nvPr/>
        </p:nvSpPr>
        <p:spPr>
          <a:xfrm>
            <a:off x="5532120" y="3182112"/>
            <a:ext cx="3108960" cy="274320"/>
          </a:xfrm>
          <a:prstGeom prst="rect">
            <a:avLst/>
          </a:prstGeom>
          <a:noFill/>
          <a:ln/>
        </p:spPr>
        <p:txBody>
          <a:bodyPr wrap="square"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Partial out treatment</a:t>
            </a:r>
            <a:endParaRPr lang="en-US" sz="1100" dirty="0"/>
          </a:p>
        </p:txBody>
      </p:sp>
      <p:sp>
        <p:nvSpPr>
          <p:cNvPr id="23" name="Text 21"/>
          <p:cNvSpPr/>
          <p:nvPr/>
        </p:nvSpPr>
        <p:spPr>
          <a:xfrm>
            <a:off x="5532120" y="3456432"/>
            <a:ext cx="3108960" cy="347472"/>
          </a:xfrm>
          <a:prstGeom prst="rect">
            <a:avLst/>
          </a:prstGeom>
          <a:noFill/>
          <a:ln/>
        </p:spPr>
        <p:txBody>
          <a:bodyPr wrap="square" rtlCol="0" anchor="ctr"/>
          <a:lstStyle/>
          <a:p>
            <a:pPr indent="0" marL="0">
              <a:buNone/>
            </a:pPr>
            <a:r>
              <a:rPr lang="en-US" sz="1000" dirty="0">
                <a:solidFill>
                  <a:srgbClr val="EDE0F7"/>
                </a:solidFill>
                <a:latin typeface="Calibri" pitchFamily="34" charset="0"/>
                <a:ea typeface="Calibri" pitchFamily="34" charset="-122"/>
                <a:cs typeface="Calibri" pitchFamily="34" charset="-120"/>
              </a:rPr>
              <a:t>D̃ = D − ĝ(X)  same learners</a:t>
            </a:r>
            <a:endParaRPr lang="en-US" sz="1000" dirty="0"/>
          </a:p>
        </p:txBody>
      </p:sp>
      <p:sp>
        <p:nvSpPr>
          <p:cNvPr id="24" name="Shape 22"/>
          <p:cNvSpPr/>
          <p:nvPr/>
        </p:nvSpPr>
        <p:spPr>
          <a:xfrm>
            <a:off x="4892040" y="3986784"/>
            <a:ext cx="3886200" cy="777240"/>
          </a:xfrm>
          <a:prstGeom prst="roundRect">
            <a:avLst>
              <a:gd name="adj" fmla="val 9412"/>
            </a:avLst>
          </a:prstGeom>
          <a:solidFill>
            <a:srgbClr val="EDE0F7"/>
          </a:solidFill>
          <a:ln/>
        </p:spPr>
        <p:txBody>
          <a:bodyPr/>
          <a:p/>
        </p:txBody>
      </p:sp>
      <p:sp>
        <p:nvSpPr>
          <p:cNvPr id="25" name="Shape 23"/>
          <p:cNvSpPr/>
          <p:nvPr/>
        </p:nvSpPr>
        <p:spPr>
          <a:xfrm>
            <a:off x="5029200" y="4142232"/>
            <a:ext cx="411480" cy="411480"/>
          </a:xfrm>
          <a:prstGeom prst="ellipse">
            <a:avLst/>
          </a:prstGeom>
          <a:solidFill>
            <a:srgbClr val="660099"/>
          </a:solidFill>
          <a:ln/>
        </p:spPr>
        <p:txBody>
          <a:bodyPr/>
          <a:p/>
        </p:txBody>
      </p:sp>
      <p:sp>
        <p:nvSpPr>
          <p:cNvPr id="26" name="Text 24"/>
          <p:cNvSpPr/>
          <p:nvPr/>
        </p:nvSpPr>
        <p:spPr>
          <a:xfrm>
            <a:off x="5029200" y="414223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7" name="Text 25"/>
          <p:cNvSpPr/>
          <p:nvPr/>
        </p:nvSpPr>
        <p:spPr>
          <a:xfrm>
            <a:off x="5532120" y="4078224"/>
            <a:ext cx="3108960" cy="274320"/>
          </a:xfrm>
          <a:prstGeom prst="rect">
            <a:avLst/>
          </a:prstGeom>
          <a:noFill/>
          <a:ln/>
        </p:spPr>
        <p:txBody>
          <a:bodyPr wrap="square" rtlCol="0" anchor="ctr"/>
          <a:lstStyle/>
          <a:p>
            <a:pPr indent="0" marL="0">
              <a:buNone/>
            </a:pPr>
            <a:r>
              <a:rPr lang="en-US" sz="1100" b="1" dirty="0">
                <a:solidFill>
                  <a:srgbClr val="3B0064"/>
                </a:solidFill>
                <a:latin typeface="Calibri" pitchFamily="34" charset="0"/>
                <a:ea typeface="Calibri" pitchFamily="34" charset="-122"/>
                <a:cs typeface="Calibri" pitchFamily="34" charset="-120"/>
              </a:rPr>
              <a:t>Estimate δ</a:t>
            </a:r>
            <a:endParaRPr lang="en-US" sz="1100" dirty="0"/>
          </a:p>
        </p:txBody>
      </p:sp>
      <p:sp>
        <p:nvSpPr>
          <p:cNvPr id="28" name="Text 26"/>
          <p:cNvSpPr/>
          <p:nvPr/>
        </p:nvSpPr>
        <p:spPr>
          <a:xfrm>
            <a:off x="5532120" y="4352544"/>
            <a:ext cx="3108960" cy="347472"/>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OLS of Ỹ on D̃ — yields orthogonal, low-bias ATT estimate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bg>
      <p:bgPr>
        <a:solidFill>
          <a:srgbClr val="F8F5FF"/>
        </a:solidFill>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algn="l" indent="0" marL="0">
              <a:buNone/>
            </a:pPr>
            <a:r>
              <a:rPr lang="en-US" sz="2800" b="1" dirty="0">
                <a:solidFill>
                  <a:srgbClr val="3B0064"/>
                </a:solidFill>
                <a:latin typeface="Calibri" pitchFamily="34" charset="0"/>
                <a:ea typeface="Calibri" pitchFamily="34" charset="-122"/>
                <a:cs typeface="Calibri" pitchFamily="34" charset="-120"/>
              </a:rPr>
              <a:t>Stage 3: Addressing Measurement Error</a:t>
            </a:r>
            <a:endParaRPr lang="en-US" sz="2800" dirty="0"/>
          </a:p>
        </p:txBody>
      </p:sp>
      <p:sp>
        <p:nvSpPr>
          <p:cNvPr id="3" name="Shape 1"/>
          <p:cNvSpPr/>
          <p:nvPr/>
        </p:nvSpPr>
        <p:spPr>
          <a:xfrm>
            <a:off x="457200" y="777240"/>
            <a:ext cx="8229600" cy="27432"/>
          </a:xfrm>
          <a:prstGeom prst="rect">
            <a:avLst/>
          </a:prstGeom>
          <a:solidFill>
            <a:srgbClr val="660099"/>
          </a:solidFill>
          <a:ln/>
        </p:spPr>
        <p:txBody>
          <a:bodyPr/>
          <a:p/>
        </p:txBody>
      </p:sp>
      <p:sp>
        <p:nvSpPr>
          <p:cNvPr id="4" name="Shape 2"/>
          <p:cNvSpPr/>
          <p:nvPr/>
        </p:nvSpPr>
        <p:spPr>
          <a:xfrm>
            <a:off x="411480" y="932688"/>
            <a:ext cx="2651760" cy="3200000"/>
          </a:xfrm>
          <a:prstGeom prst="roundRect">
            <a:avLst>
              <a:gd name="adj" fmla="val 3448"/>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5" name="Shape 3"/>
          <p:cNvSpPr/>
          <p:nvPr/>
        </p:nvSpPr>
        <p:spPr>
          <a:xfrm>
            <a:off x="411480" y="932688"/>
            <a:ext cx="2651760" cy="457200"/>
          </a:xfrm>
          <a:prstGeom prst="roundRect">
            <a:avLst>
              <a:gd name="adj" fmla="val 20000"/>
            </a:avLst>
          </a:prstGeom>
          <a:solidFill>
            <a:srgbClr val="3B0064"/>
          </a:solidFill>
          <a:ln/>
        </p:spPr>
        <p:txBody>
          <a:bodyPr/>
          <a:p/>
        </p:txBody>
      </p:sp>
      <p:sp>
        <p:nvSpPr>
          <p:cNvPr id="6" name="Shape 4"/>
          <p:cNvSpPr/>
          <p:nvPr/>
        </p:nvSpPr>
        <p:spPr>
          <a:xfrm>
            <a:off x="411480" y="1234440"/>
            <a:ext cx="2651760" cy="155448"/>
          </a:xfrm>
          <a:prstGeom prst="rect">
            <a:avLst/>
          </a:prstGeom>
          <a:solidFill>
            <a:srgbClr val="3B0064"/>
          </a:solidFill>
          <a:ln/>
        </p:spPr>
        <p:txBody>
          <a:bodyPr/>
          <a:p/>
        </p:txBody>
      </p:sp>
      <p:sp>
        <p:nvSpPr>
          <p:cNvPr id="7" name="Text 5"/>
          <p:cNvSpPr/>
          <p:nvPr/>
        </p:nvSpPr>
        <p:spPr>
          <a:xfrm>
            <a:off x="502920" y="987552"/>
            <a:ext cx="2468880" cy="34747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Problem</a:t>
            </a:r>
            <a:endParaRPr lang="en-US" sz="1200" dirty="0"/>
          </a:p>
        </p:txBody>
      </p:sp>
      <p:sp>
        <p:nvSpPr>
          <p:cNvPr id="8" name="Text 6"/>
          <p:cNvSpPr/>
          <p:nvPr/>
        </p:nvSpPr>
        <p:spPr>
          <a:xfrm>
            <a:off x="521208" y="1481328"/>
            <a:ext cx="2432304" cy="2422760"/>
          </a:xfrm>
          <a:prstGeom prst="rect">
            <a:avLst/>
          </a:prstGeom>
          <a:noFill/>
          <a:ln/>
        </p:spPr>
        <p:txBody>
          <a:bodyPr wrap="square" lIns="0" tIns="0" rIns="0" bIns="0" rtlCol="0" anchor="t"/>
          <a:lstStyle/>
          <a:p>
            <a:pPr marL="342900" indent="-342900">
              <a:spcAft>
                <a:spcPts val="800"/>
              </a:spcAft>
              <a:buSzPct val="100000"/>
              <a:buChar char="•"/>
            </a:pPr>
            <a:r>
              <a:rPr lang="en-US" sz="1000" dirty="0">
                <a:solidFill>
                  <a:srgbClr val="1A1A2E"/>
                </a:solidFill>
                <a:latin typeface="Calibri" pitchFamily="34" charset="0"/>
                <a:ea typeface="Calibri" pitchFamily="34" charset="-122"/>
                <a:cs typeface="Calibri" pitchFamily="34" charset="-120"/>
              </a:rPr>
              <a:t>Binary hardship outcomes measured with error in household surveys (Bound et al. 2001)</a:t>
            </a:r>
            <a:endParaRPr lang="en-US" sz="1000" dirty="0"/>
          </a:p>
          <a:p>
            <a:pPr marL="342900" indent="-342900">
              <a:spcAft>
                <a:spcPts val="800"/>
              </a:spcAft>
              <a:buSzPct val="100000"/>
              <a:buChar char="•"/>
            </a:pPr>
            <a:r>
              <a:rPr lang="en-US" sz="1000" dirty="0">
                <a:solidFill>
                  <a:srgbClr val="1A1A2E"/>
                </a:solidFill>
                <a:latin typeface="Calibri" pitchFamily="34" charset="0"/>
                <a:ea typeface="Calibri" pitchFamily="34" charset="-122"/>
                <a:cs typeface="Calibri" pitchFamily="34" charset="-120"/>
              </a:rPr>
              <a:t>Classical ME in outcome Y attenuates DiD estimates: δ̂ = δ · (1 − λ) where λ is noise-to-signal ratio</a:t>
            </a:r>
            <a:endParaRPr lang="en-US" sz="1000" dirty="0"/>
          </a:p>
          <a:p>
            <a:pPr marL="342900" indent="-342900">
              <a:spcAft>
                <a:spcPts val="800"/>
              </a:spcAft>
              <a:buSzPct val="100000"/>
              <a:buChar char="•"/>
            </a:pPr>
            <a:r>
              <a:rPr lang="en-US" sz="1000" dirty="0">
                <a:solidFill>
                  <a:srgbClr val="1A1A2E"/>
                </a:solidFill>
                <a:latin typeface="Calibri" pitchFamily="34" charset="0"/>
                <a:ea typeface="Calibri" pitchFamily="34" charset="-122"/>
                <a:cs typeface="Calibri" pitchFamily="34" charset="-120"/>
              </a:rPr>
              <a:t>Composite indices (mdch_any) average over 12 items — measurement error partially cancels</a:t>
            </a:r>
            <a:endParaRPr lang="en-US" sz="1000" dirty="0"/>
          </a:p>
        </p:txBody>
      </p:sp>
      <p:sp>
        <p:nvSpPr>
          <p:cNvPr id="9" name="Shape 7"/>
          <p:cNvSpPr/>
          <p:nvPr/>
        </p:nvSpPr>
        <p:spPr>
          <a:xfrm>
            <a:off x="3246120" y="932688"/>
            <a:ext cx="2651760" cy="3200000"/>
          </a:xfrm>
          <a:prstGeom prst="roundRect">
            <a:avLst>
              <a:gd name="adj" fmla="val 3448"/>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10" name="Shape 8"/>
          <p:cNvSpPr/>
          <p:nvPr/>
        </p:nvSpPr>
        <p:spPr>
          <a:xfrm>
            <a:off x="3246120" y="932688"/>
            <a:ext cx="2651760" cy="457200"/>
          </a:xfrm>
          <a:prstGeom prst="roundRect">
            <a:avLst>
              <a:gd name="adj" fmla="val 20000"/>
            </a:avLst>
          </a:prstGeom>
          <a:solidFill>
            <a:srgbClr val="660099"/>
          </a:solidFill>
          <a:ln/>
        </p:spPr>
        <p:txBody>
          <a:bodyPr/>
          <a:p/>
        </p:txBody>
      </p:sp>
      <p:sp>
        <p:nvSpPr>
          <p:cNvPr id="11" name="Shape 9"/>
          <p:cNvSpPr/>
          <p:nvPr/>
        </p:nvSpPr>
        <p:spPr>
          <a:xfrm>
            <a:off x="3246120" y="1234440"/>
            <a:ext cx="2651760" cy="155448"/>
          </a:xfrm>
          <a:prstGeom prst="rect">
            <a:avLst/>
          </a:prstGeom>
          <a:solidFill>
            <a:srgbClr val="660099"/>
          </a:solidFill>
          <a:ln/>
        </p:spPr>
        <p:txBody>
          <a:bodyPr/>
          <a:p/>
        </p:txBody>
      </p:sp>
      <p:sp>
        <p:nvSpPr>
          <p:cNvPr id="12" name="Text 10"/>
          <p:cNvSpPr/>
          <p:nvPr/>
        </p:nvSpPr>
        <p:spPr>
          <a:xfrm>
            <a:off x="3337560" y="987552"/>
            <a:ext cx="2468880" cy="34747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Risk</a:t>
            </a:r>
            <a:endParaRPr lang="en-US" sz="1200" dirty="0"/>
          </a:p>
        </p:txBody>
      </p:sp>
      <p:sp>
        <p:nvSpPr>
          <p:cNvPr id="13" name="Text 11"/>
          <p:cNvSpPr/>
          <p:nvPr/>
        </p:nvSpPr>
        <p:spPr>
          <a:xfrm>
            <a:off x="3355848" y="1481328"/>
            <a:ext cx="2432304" cy="2422760"/>
          </a:xfrm>
          <a:prstGeom prst="rect">
            <a:avLst/>
          </a:prstGeom>
          <a:noFill/>
          <a:ln/>
        </p:spPr>
        <p:txBody>
          <a:bodyPr wrap="square" lIns="0" tIns="0" rIns="0" bIns="0" rtlCol="0" anchor="t"/>
          <a:lstStyle/>
          <a:p>
            <a:pPr marL="342900" indent="-342900">
              <a:spcAft>
                <a:spcPts val="800"/>
              </a:spcAft>
              <a:buSzPct val="100000"/>
              <a:buChar char="•"/>
            </a:pPr>
            <a:r>
              <a:rPr lang="en-US" sz="1000" dirty="0">
                <a:solidFill>
                  <a:srgbClr val="1A1A2E"/>
                </a:solidFill>
                <a:latin typeface="Calibri" pitchFamily="34" charset="0"/>
                <a:ea typeface="Calibri" pitchFamily="34" charset="-122"/>
                <a:cs typeface="Calibri" pitchFamily="34" charset="-120"/>
              </a:rPr>
              <a:t>SCP may change how recipients self-report hardship — “awareness effect” (Meyer et al. 2015)</a:t>
            </a:r>
            <a:endParaRPr lang="en-US" sz="1000" dirty="0"/>
          </a:p>
          <a:p>
            <a:pPr marL="342900" indent="-342900">
              <a:spcAft>
                <a:spcPts val="800"/>
              </a:spcAft>
              <a:buSzPct val="100000"/>
              <a:buChar char="•"/>
            </a:pPr>
            <a:r>
              <a:rPr lang="en-US" sz="1000" dirty="0">
                <a:solidFill>
                  <a:srgbClr val="1A1A2E"/>
                </a:solidFill>
                <a:latin typeface="Calibri" pitchFamily="34" charset="0"/>
                <a:ea typeface="Calibri" pitchFamily="34" charset="-122"/>
                <a:cs typeface="Calibri" pitchFamily="34" charset="-120"/>
              </a:rPr>
              <a:t>If reporting bias differs Scotland vs. England post-2022, DiD captures attitude change not true hardship change</a:t>
            </a:r>
            <a:endParaRPr lang="en-US" sz="1000" dirty="0"/>
          </a:p>
          <a:p>
            <a:pPr marL="342900" indent="-342900">
              <a:spcAft>
                <a:spcPts val="800"/>
              </a:spcAft>
              <a:buSzPct val="100000"/>
              <a:buChar char="•"/>
            </a:pPr>
            <a:r>
              <a:rPr lang="en-US" sz="1000" dirty="0">
                <a:solidFill>
                  <a:srgbClr val="1A1A2E"/>
                </a:solidFill>
                <a:latin typeface="Calibri" pitchFamily="34" charset="0"/>
                <a:ea typeface="Calibri" pitchFamily="34" charset="-122"/>
                <a:cs typeface="Calibri" pitchFamily="34" charset="-120"/>
              </a:rPr>
              <a:t>Kreider et al. (2012): partial identification approach to bound effects under non-classical ME</a:t>
            </a:r>
            <a:endParaRPr lang="en-US" sz="1000" dirty="0"/>
          </a:p>
        </p:txBody>
      </p:sp>
      <p:sp>
        <p:nvSpPr>
          <p:cNvPr id="14" name="Shape 12"/>
          <p:cNvSpPr/>
          <p:nvPr/>
        </p:nvSpPr>
        <p:spPr>
          <a:xfrm>
            <a:off x="6080760" y="932688"/>
            <a:ext cx="2651760" cy="3200000"/>
          </a:xfrm>
          <a:prstGeom prst="roundRect">
            <a:avLst>
              <a:gd name="adj" fmla="val 3448"/>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15" name="Shape 13"/>
          <p:cNvSpPr/>
          <p:nvPr/>
        </p:nvSpPr>
        <p:spPr>
          <a:xfrm>
            <a:off x="6080760" y="932688"/>
            <a:ext cx="2651760" cy="457200"/>
          </a:xfrm>
          <a:prstGeom prst="roundRect">
            <a:avLst>
              <a:gd name="adj" fmla="val 20000"/>
            </a:avLst>
          </a:prstGeom>
          <a:solidFill>
            <a:srgbClr val="9333C8"/>
          </a:solidFill>
          <a:ln/>
        </p:spPr>
        <p:txBody>
          <a:bodyPr/>
          <a:p/>
        </p:txBody>
      </p:sp>
      <p:sp>
        <p:nvSpPr>
          <p:cNvPr id="16" name="Shape 14"/>
          <p:cNvSpPr/>
          <p:nvPr/>
        </p:nvSpPr>
        <p:spPr>
          <a:xfrm>
            <a:off x="6080760" y="1234440"/>
            <a:ext cx="2651760" cy="155448"/>
          </a:xfrm>
          <a:prstGeom prst="rect">
            <a:avLst/>
          </a:prstGeom>
          <a:solidFill>
            <a:srgbClr val="9333C8"/>
          </a:solidFill>
          <a:ln/>
        </p:spPr>
        <p:txBody>
          <a:bodyPr/>
          <a:p/>
        </p:txBody>
      </p:sp>
      <p:sp>
        <p:nvSpPr>
          <p:cNvPr id="17" name="Text 15"/>
          <p:cNvSpPr/>
          <p:nvPr/>
        </p:nvSpPr>
        <p:spPr>
          <a:xfrm>
            <a:off x="6172200" y="987552"/>
            <a:ext cx="2468880" cy="34747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Our Approach (Stage 3)</a:t>
            </a:r>
            <a:endParaRPr lang="en-US" sz="1200" dirty="0"/>
          </a:p>
        </p:txBody>
      </p:sp>
      <p:sp>
        <p:nvSpPr>
          <p:cNvPr id="18" name="Text 16"/>
          <p:cNvSpPr/>
          <p:nvPr/>
        </p:nvSpPr>
        <p:spPr>
          <a:xfrm>
            <a:off x="6190488" y="1481328"/>
            <a:ext cx="2432304" cy="2422760"/>
          </a:xfrm>
          <a:prstGeom prst="rect">
            <a:avLst/>
          </a:prstGeom>
          <a:noFill/>
          <a:ln/>
        </p:spPr>
        <p:txBody>
          <a:bodyPr wrap="square" lIns="0" tIns="0" rIns="0" bIns="0" rtlCol="0" anchor="t"/>
          <a:lstStyle/>
          <a:p>
            <a:pPr marL="342900" indent="-342900">
              <a:spcAft>
                <a:spcPts val="800"/>
              </a:spcAft>
              <a:buSzPct val="100000"/>
              <a:buChar char="•"/>
            </a:pPr>
            <a:r>
              <a:rPr lang="en-US" sz="1000" dirty="0">
                <a:solidFill>
                  <a:srgbClr val="1A1A2E"/>
                </a:solidFill>
                <a:latin typeface="Calibri" pitchFamily="34" charset="0"/>
                <a:ea typeface="Calibri" pitchFamily="34" charset="-122"/>
                <a:cs typeface="Calibri" pitchFamily="34" charset="-120"/>
              </a:rPr>
              <a:t>Run DML-DiD separately on all 12 MDCH items, not just the composite</a:t>
            </a:r>
            <a:endParaRPr lang="en-US" sz="1000" dirty="0"/>
          </a:p>
          <a:p>
            <a:pPr marL="342900" indent="-342900">
              <a:spcAft>
                <a:spcPts val="800"/>
              </a:spcAft>
              <a:buSzPct val="100000"/>
              <a:buChar char="•"/>
            </a:pPr>
            <a:r>
              <a:rPr lang="en-US" sz="1000" dirty="0">
                <a:solidFill>
                  <a:srgbClr val="1A1A2E"/>
                </a:solidFill>
                <a:latin typeface="Calibri" pitchFamily="34" charset="0"/>
                <a:ea typeface="Calibri" pitchFamily="34" charset="-122"/>
                <a:cs typeface="Calibri" pitchFamily="34" charset="-120"/>
              </a:rPr>
              <a:t>Compare attenuation across items with different ME properties — subjective (food security) vs. objective (bed, coat)</a:t>
            </a:r>
            <a:endParaRPr lang="en-US" sz="1000" dirty="0"/>
          </a:p>
          <a:p>
            <a:pPr marL="342900" indent="-342900">
              <a:spcAft>
                <a:spcPts val="800"/>
              </a:spcAft>
              <a:buSzPct val="100000"/>
              <a:buChar char="•"/>
            </a:pPr>
            <a:r>
              <a:rPr lang="en-US" sz="1000" dirty="0">
                <a:solidFill>
                  <a:srgbClr val="1A1A2E"/>
                </a:solidFill>
                <a:latin typeface="Calibri" pitchFamily="34" charset="0"/>
                <a:ea typeface="Calibri" pitchFamily="34" charset="-122"/>
                <a:cs typeface="Calibri" pitchFamily="34" charset="-120"/>
              </a:rPr>
              <a:t>BH-FDR correction controls false discoveries; consistent effects across items support real change, scattered effects flag a reporting artefact</a:t>
            </a:r>
            <a:endParaRPr lang="en-US" sz="1000" dirty="0"/>
          </a:p>
        </p:txBody>
      </p:sp>
      <p:sp>
        <p:nvSpPr>
          <p:cNvPr id="19" name="Shape 17"/>
          <p:cNvSpPr/>
          <p:nvPr/>
        </p:nvSpPr>
        <p:spPr>
          <a:xfrm>
            <a:off x="411480" y="4232688"/>
            <a:ext cx="8321040" cy="800000"/>
          </a:xfrm>
          <a:prstGeom prst="roundRect">
            <a:avLst>
              <a:gd name="adj" fmla="val 5797"/>
            </a:avLst>
          </a:prstGeom>
          <a:solidFill>
            <a:srgbClr val="EDE0F7"/>
          </a:solidFill>
          <a:ln/>
        </p:spPr>
        <p:txBody>
          <a:bodyPr wrap="square" rtlCol="0" anchor="ctr"/>
          <a:lstStyle/>
          <a:p>
            <a:pPr algn="ctr" indent="0" marL="0">
              <a:buNone/>
            </a:pPr>
            <a:r>
              <a:rPr lang="en-US" sz="1000" b="1" dirty="0">
                <a:solidFill>
                  <a:srgbClr val="3B0064"/>
                </a:solidFill>
                <a:latin typeface="Calibri" pitchFamily="34" charset="0"/>
                <a:ea typeface="Calibri" pitchFamily="34" charset="-122"/>
                <a:cs typeface="Calibri" pitchFamily="34" charset="-120"/>
              </a:rPr>
              <a:t xml:space="preserve">What is BH-FDR?  </a:t>
            </a:r>
            <a:r>
              <a:rPr lang="en-US" sz="1000" dirty="0">
                <a:solidFill>
                  <a:srgbClr val="1A1A2E"/>
                </a:solidFill>
                <a:latin typeface="Calibri" pitchFamily="34" charset="0"/>
                <a:ea typeface="Calibri" pitchFamily="34" charset="-122"/>
                <a:cs typeface="Calibri" pitchFamily="34" charset="-120"/>
              </a:rPr>
              <a:t>Benjamini-Hochberg ranks the 12 item-level p-values and flags a result significant only if p ≤ (rank ⁄ 12) × α — controlling the expected share of false positives across the 12 simultaneous tests, at some cost in power vs. single-test significance.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8F5FF"/>
        </a:solidFill>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algn="l" indent="0" marL="0">
              <a:buNone/>
            </a:pPr>
            <a:r>
              <a:rPr lang="en-US" sz="2800" b="1" dirty="0">
                <a:solidFill>
                  <a:srgbClr val="3B0064"/>
                </a:solidFill>
                <a:latin typeface="Calibri" pitchFamily="34" charset="0"/>
                <a:ea typeface="Calibri" pitchFamily="34" charset="-122"/>
                <a:cs typeface="Calibri" pitchFamily="34" charset="-120"/>
              </a:rPr>
              <a:t>Benchmark DiD: Initial Results</a:t>
            </a:r>
            <a:endParaRPr lang="en-US" sz="2800" dirty="0"/>
          </a:p>
        </p:txBody>
      </p:sp>
      <p:sp>
        <p:nvSpPr>
          <p:cNvPr id="3" name="Shape 1"/>
          <p:cNvSpPr/>
          <p:nvPr/>
        </p:nvSpPr>
        <p:spPr>
          <a:xfrm>
            <a:off x="457200" y="777240"/>
            <a:ext cx="8229600" cy="27432"/>
          </a:xfrm>
          <a:prstGeom prst="rect">
            <a:avLst/>
          </a:prstGeom>
          <a:solidFill>
            <a:srgbClr val="660099"/>
          </a:solidFill>
          <a:ln/>
        </p:spPr>
        <p:txBody>
          <a:bodyPr/>
          <a:p/>
        </p:txBody>
      </p:sp>
      <p:sp>
        <p:nvSpPr>
          <p:cNvPr id="4" name="Text 2"/>
          <p:cNvSpPr/>
          <p:nvPr/>
        </p:nvSpPr>
        <p:spPr>
          <a:xfrm>
            <a:off x="457200" y="932688"/>
            <a:ext cx="8229600" cy="274320"/>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Stage 1a/1b — unadjusted and covariate-adjusted, year FE, SEs clustered by region</a:t>
            </a:r>
            <a:endParaRPr lang="en-US" sz="1100" dirty="0"/>
          </a:p>
        </p:txBody>
      </p:sp>
      <p:sp>
        <p:nvSpPr>
          <p:cNvPr id="17" name="Shape 15"/>
          <p:cNvSpPr/>
          <p:nvPr/>
        </p:nvSpPr>
        <p:spPr>
          <a:xfrm>
            <a:off x="411480" y="2697480"/>
            <a:ext cx="8321040" cy="2194560"/>
          </a:xfrm>
          <a:prstGeom prst="roundRect">
            <a:avLst>
              <a:gd name="adj" fmla="val 4167"/>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18" name="Text 16"/>
          <p:cNvSpPr/>
          <p:nvPr/>
        </p:nvSpPr>
        <p:spPr>
          <a:xfrm>
            <a:off x="594360" y="2834640"/>
            <a:ext cx="7955280" cy="347472"/>
          </a:xfrm>
          <a:prstGeom prst="rect">
            <a:avLst/>
          </a:prstGeom>
          <a:noFill/>
          <a:ln/>
        </p:spPr>
        <p:txBody>
          <a:bodyPr wrap="square" rtlCol="0" anchor="ctr"/>
          <a:lstStyle/>
          <a:p>
            <a:pPr indent="0" marL="0">
              <a:buNone/>
            </a:pPr>
            <a:r>
              <a:rPr lang="en-US" sz="1300" b="1" dirty="0">
                <a:solidFill>
                  <a:srgbClr val="3B0064"/>
                </a:solidFill>
                <a:latin typeface="Calibri" pitchFamily="34" charset="0"/>
                <a:ea typeface="Calibri" pitchFamily="34" charset="-122"/>
                <a:cs typeface="Calibri" pitchFamily="34" charset="-120"/>
              </a:rPr>
              <a:t>What This Shows</a:t>
            </a:r>
            <a:endParaRPr lang="en-US" sz="1300" dirty="0"/>
          </a:p>
        </p:txBody>
      </p:sp>
      <p:sp>
        <p:nvSpPr>
          <p:cNvPr id="19" name="Text 17"/>
          <p:cNvSpPr/>
          <p:nvPr/>
        </p:nvSpPr>
        <p:spPr>
          <a:xfrm>
            <a:off x="594360" y="3218688"/>
            <a:ext cx="7955280" cy="1554480"/>
          </a:xfrm>
          <a:prstGeom prst="rect">
            <a:avLst/>
          </a:prstGeom>
          <a:noFill/>
          <a:ln/>
        </p:spPr>
        <p:txBody>
          <a:bodyPr wrap="square" rtlCol="0" anchor="ctr"/>
          <a:lstStyle/>
          <a:p>
            <a:pPr marL="342900" indent="-342900">
              <a:spcAft>
                <a:spcPts val="800"/>
              </a:spcAft>
              <a:buSzPct val="100000"/>
              <a:buChar char="•"/>
            </a:pPr>
            <a:r>
              <a:rPr lang="en-US" sz="1100" dirty="0">
                <a:solidFill>
                  <a:srgbClr val="64748B"/>
                </a:solidFill>
                <a:latin typeface="Calibri" pitchFamily="34" charset="0"/>
                <a:ea typeface="Calibri" pitchFamily="34" charset="-122"/>
                <a:cs typeface="Calibri" pitchFamily="34" charset="-120"/>
              </a:rPr>
              <a:t>SCP is associated with significant reductions in any deprivation (mdch_any: −5.1pp adjusted) and the official DWP MDCH flag (−5.2pp) — consistent with Stewart et al.’s (CASE 2025) −8 to −9pp range for composite deprivation.</a:t>
            </a:r>
            <a:endParaRPr lang="en-US" sz="1100" dirty="0"/>
          </a:p>
          <a:p>
            <a:pPr marL="342900" indent="-342900">
              <a:spcAft>
                <a:spcPts val="800"/>
              </a:spcAft>
              <a:buSzPct val="100000"/>
              <a:buChar char="•"/>
            </a:pPr>
            <a:r>
              <a:rPr lang="en-US" sz="1100" dirty="0">
                <a:solidFill>
                  <a:srgbClr val="64748B"/>
                </a:solidFill>
                <a:latin typeface="Calibri" pitchFamily="34" charset="0"/>
                <a:ea typeface="Calibri" pitchFamily="34" charset="-122"/>
                <a:cs typeface="Calibri" pitchFamily="34" charset="-120"/>
              </a:rPr>
              <a:t>Deprivation count (mdch_count) also falls significantly, but severe deprivation (3+ items) shows no effect — SCP appears to move families out of mild/moderate deprivation, not severe deprivation.</a:t>
            </a:r>
            <a:endParaRPr lang="en-US" sz="1100" dirty="0"/>
          </a:p>
          <a:p>
            <a:pPr marL="342900" indent="-342900">
              <a:spcAft>
                <a:spcPts val="800"/>
              </a:spcAft>
              <a:buSzPct val="100000"/>
              <a:buChar char="•"/>
            </a:pPr>
            <a:r>
              <a:rPr lang="en-US" sz="1100" dirty="0">
                <a:solidFill>
                  <a:srgbClr val="64748B"/>
                </a:solidFill>
                <a:latin typeface="Calibri" pitchFamily="34" charset="0"/>
                <a:ea typeface="Calibri" pitchFamily="34" charset="-122"/>
                <a:cs typeface="Calibri" pitchFamily="34" charset="-120"/>
              </a:rPr>
              <a:t>Covariate adjustment increases the mdch_any/mdch_count magnitude but leaves the official flag estimate almost unchanged — controls aren’t simply picking up compositional differences between Scotland and England.</a:t>
            </a:r>
            <a:endParaRPr lang="en-US" sz="1100" dirty="0"/>
          </a:p>
          <a:p>
            <a:pPr marL="342900" indent="-342900">
              <a:spcAft>
                <a:spcPts val="800"/>
              </a:spcAft>
              <a:buSzPct val="100000"/>
              <a:buChar char="•"/>
            </a:pPr>
            <a:r>
              <a:rPr lang="en-US" sz="1100" dirty="0">
                <a:solidFill>
                  <a:srgbClr val="64748B"/>
                </a:solidFill>
                <a:latin typeface="Calibri" pitchFamily="34" charset="0"/>
                <a:ea typeface="Calibri" pitchFamily="34" charset="-122"/>
                <a:cs typeface="Calibri" pitchFamily="34" charset="-120"/>
              </a:rPr>
              <a:t>All significant effects hold at the 1% level. Sample: N=46,941 (item outcomes), N=50,964 (official flag).</a:t>
            </a:r>
            <a:endParaRPr lang="en-US" sz="1100" dirty="0"/>
          </a:p>
        </p:txBody>
      </p:sp>
      <p:graphicFrame>
        <p:nvGraphicFramePr>
          <p:cNvPr id="20" name="Table 19"/>
          <p:cNvGraphicFramePr>
            <a:graphicFrameLocks noGrp="1"/>
          </p:cNvGraphicFramePr>
          <p:nvPr/>
        </p:nvGraphicFramePr>
        <p:xfrm>
          <a:off x="411480" y="1176020"/>
          <a:ext cx="8321040" cy="1360000"/>
        </p:xfrm>
        <a:graphic>
          <a:graphicData uri="http://schemas.openxmlformats.org/drawingml/2006/table">
            <a:tbl>
              <a:tblPr>
                <a:tableStyleId>{5C22544A-7EE6-4342-B048-85BDC9FD1C3A}</a:tableStyleId>
              </a:tblPr>
              <a:tblGrid>
                <a:gridCol w="3560000"/>
                <a:gridCol w="2380520"/>
                <a:gridCol w="2380520"/>
              </a:tblGrid>
              <a:tr h="272000">
                <a:tc>
                  <a:txBody>
                    <a:bodyPr wrap="square"/>
                    <a:lstStyle/>
                    <a:p>
                      <a:pPr algn="l"/>
                      <a:r>
                        <a:rPr b="1" sz="1100">
                          <a:solidFill>
                            <a:srgbClr val="FFFFFF"/>
                          </a:solidFill>
                          <a:latin typeface="Calibri"/>
                        </a:rPr>
                        <a:t>Outcome</a:t>
                      </a:r>
                    </a:p>
                  </a:txBody>
                  <a:tcPr marL="45720" marR="45720" marT="9144" marB="9144" anchor="ctr">
                    <a:solidFill>
                      <a:srgbClr val="660099"/>
                    </a:solidFill>
                  </a:tcPr>
                </a:tc>
                <a:tc>
                  <a:txBody>
                    <a:bodyPr wrap="square"/>
                    <a:lstStyle/>
                    <a:p>
                      <a:pPr algn="ctr"/>
                      <a:r>
                        <a:rPr b="1" sz="1100">
                          <a:solidFill>
                            <a:srgbClr val="FFFFFF"/>
                          </a:solidFill>
                          <a:latin typeface="Calibri"/>
                        </a:rPr>
                        <a:t>Unadjusted</a:t>
                      </a:r>
                    </a:p>
                  </a:txBody>
                  <a:tcPr marL="45720" marR="45720" marT="9144" marB="9144" anchor="ctr">
                    <a:solidFill>
                      <a:srgbClr val="660099"/>
                    </a:solidFill>
                  </a:tcPr>
                </a:tc>
                <a:tc>
                  <a:txBody>
                    <a:bodyPr wrap="square"/>
                    <a:lstStyle/>
                    <a:p>
                      <a:pPr algn="ctr"/>
                      <a:r>
                        <a:rPr b="1" sz="1100">
                          <a:solidFill>
                            <a:srgbClr val="FFFFFF"/>
                          </a:solidFill>
                          <a:latin typeface="Calibri"/>
                        </a:rPr>
                        <a:t>Adjusted (with controls)</a:t>
                      </a:r>
                    </a:p>
                  </a:txBody>
                  <a:tcPr marL="45720" marR="45720" marT="9144" marB="9144" anchor="ctr">
                    <a:solidFill>
                      <a:srgbClr val="660099"/>
                    </a:solidFill>
                  </a:tcPr>
                </a:tc>
              </a:tr>
              <a:tr h="272000">
                <a:tc>
                  <a:txBody>
                    <a:bodyPr wrap="square"/>
                    <a:lstStyle/>
                    <a:p>
                      <a:pPr algn="l"/>
                      <a:r>
                        <a:rPr b="0" sz="1000">
                          <a:solidFill>
                            <a:srgbClr val="3B0064"/>
                          </a:solidFill>
                          <a:latin typeface="Calibri"/>
                        </a:rPr>
                        <a:t>Any deprivation (mdch_any)</a:t>
                      </a:r>
                    </a:p>
                  </a:txBody>
                  <a:tcPr marL="45720" marR="45720" marT="9144" marB="9144" anchor="ctr">
                    <a:solidFill>
                      <a:srgbClr val="EDE0F7"/>
                    </a:solidFill>
                  </a:tcPr>
                </a:tc>
                <a:tc>
                  <a:txBody>
                    <a:bodyPr wrap="square"/>
                    <a:lstStyle/>
                    <a:p>
                      <a:pPr algn="ctr"/>
                      <a:r>
                        <a:rPr b="1" sz="1000">
                          <a:solidFill>
                            <a:srgbClr val="3B0064"/>
                          </a:solidFill>
                          <a:latin typeface="Calibri"/>
                        </a:rPr>
                        <a:t>−0.0387*** (0.0090)</a:t>
                      </a:r>
                    </a:p>
                  </a:txBody>
                  <a:tcPr marL="45720" marR="45720" marT="9144" marB="9144" anchor="ctr">
                    <a:solidFill>
                      <a:srgbClr val="EDE0F7"/>
                    </a:solidFill>
                  </a:tcPr>
                </a:tc>
                <a:tc>
                  <a:txBody>
                    <a:bodyPr wrap="square"/>
                    <a:lstStyle/>
                    <a:p>
                      <a:pPr algn="ctr"/>
                      <a:r>
                        <a:rPr b="1" sz="1000">
                          <a:solidFill>
                            <a:srgbClr val="3B0064"/>
                          </a:solidFill>
                          <a:latin typeface="Calibri"/>
                        </a:rPr>
                        <a:t>−0.0506*** (0.0095)</a:t>
                      </a:r>
                    </a:p>
                  </a:txBody>
                  <a:tcPr marL="45720" marR="45720" marT="9144" marB="9144" anchor="ctr">
                    <a:solidFill>
                      <a:srgbClr val="EDE0F7"/>
                    </a:solidFill>
                  </a:tcPr>
                </a:tc>
              </a:tr>
              <a:tr h="272000">
                <a:tc>
                  <a:txBody>
                    <a:bodyPr wrap="square"/>
                    <a:lstStyle/>
                    <a:p>
                      <a:pPr algn="l"/>
                      <a:r>
                        <a:rPr b="0" sz="1000">
                          <a:solidFill>
                            <a:srgbClr val="3B0064"/>
                          </a:solidFill>
                          <a:latin typeface="Calibri"/>
                        </a:rPr>
                        <a:t>Deprivation count (mdch_count)</a:t>
                      </a:r>
                    </a:p>
                  </a:txBody>
                  <a:tcPr marL="45720" marR="45720" marT="9144" marB="9144" anchor="ctr">
                    <a:solidFill>
                      <a:srgbClr val="FFFFFF"/>
                    </a:solidFill>
                  </a:tcPr>
                </a:tc>
                <a:tc>
                  <a:txBody>
                    <a:bodyPr wrap="square"/>
                    <a:lstStyle/>
                    <a:p>
                      <a:pPr algn="ctr"/>
                      <a:r>
                        <a:rPr b="1" sz="1000">
                          <a:solidFill>
                            <a:srgbClr val="3B0064"/>
                          </a:solidFill>
                          <a:latin typeface="Calibri"/>
                        </a:rPr>
                        <a:t>−0.0613** (0.0207)</a:t>
                      </a:r>
                    </a:p>
                  </a:txBody>
                  <a:tcPr marL="45720" marR="45720" marT="9144" marB="9144" anchor="ctr">
                    <a:solidFill>
                      <a:srgbClr val="FFFFFF"/>
                    </a:solidFill>
                  </a:tcPr>
                </a:tc>
                <a:tc>
                  <a:txBody>
                    <a:bodyPr wrap="square"/>
                    <a:lstStyle/>
                    <a:p>
                      <a:pPr algn="ctr"/>
                      <a:r>
                        <a:rPr b="1" sz="1000">
                          <a:solidFill>
                            <a:srgbClr val="3B0064"/>
                          </a:solidFill>
                          <a:latin typeface="Calibri"/>
                        </a:rPr>
                        <a:t>−0.0839*** (0.0226)</a:t>
                      </a:r>
                    </a:p>
                  </a:txBody>
                  <a:tcPr marL="45720" marR="45720" marT="9144" marB="9144" anchor="ctr">
                    <a:solidFill>
                      <a:srgbClr val="FFFFFF"/>
                    </a:solidFill>
                  </a:tcPr>
                </a:tc>
              </a:tr>
              <a:tr h="272000">
                <a:tc>
                  <a:txBody>
                    <a:bodyPr wrap="square"/>
                    <a:lstStyle/>
                    <a:p>
                      <a:pPr algn="l"/>
                      <a:r>
                        <a:rPr b="0" sz="1000">
                          <a:solidFill>
                            <a:srgbClr val="3B0064"/>
                          </a:solidFill>
                          <a:latin typeface="Calibri"/>
                        </a:rPr>
                        <a:t>Severe deprivation (mdch_severe)</a:t>
                      </a:r>
                    </a:p>
                  </a:txBody>
                  <a:tcPr marL="45720" marR="45720" marT="9144" marB="9144" anchor="ctr">
                    <a:solidFill>
                      <a:srgbClr val="EDE0F7"/>
                    </a:solidFill>
                  </a:tcPr>
                </a:tc>
                <a:tc>
                  <a:txBody>
                    <a:bodyPr wrap="square"/>
                    <a:lstStyle/>
                    <a:p>
                      <a:pPr algn="ctr"/>
                      <a:r>
                        <a:rPr b="1" sz="1000">
                          <a:solidFill>
                            <a:srgbClr val="3B0064"/>
                          </a:solidFill>
                          <a:latin typeface="Calibri"/>
                        </a:rPr>
                        <a:t>−0.0002 (0.0053)</a:t>
                      </a:r>
                    </a:p>
                  </a:txBody>
                  <a:tcPr marL="45720" marR="45720" marT="9144" marB="9144" anchor="ctr">
                    <a:solidFill>
                      <a:srgbClr val="EDE0F7"/>
                    </a:solidFill>
                  </a:tcPr>
                </a:tc>
                <a:tc>
                  <a:txBody>
                    <a:bodyPr wrap="square"/>
                    <a:lstStyle/>
                    <a:p>
                      <a:pPr algn="ctr"/>
                      <a:r>
                        <a:rPr b="1" sz="1000">
                          <a:solidFill>
                            <a:srgbClr val="3B0064"/>
                          </a:solidFill>
                          <a:latin typeface="Calibri"/>
                        </a:rPr>
                        <a:t>−0.0024 (0.0050)</a:t>
                      </a:r>
                    </a:p>
                  </a:txBody>
                  <a:tcPr marL="45720" marR="45720" marT="9144" marB="9144" anchor="ctr">
                    <a:solidFill>
                      <a:srgbClr val="EDE0F7"/>
                    </a:solidFill>
                  </a:tcPr>
                </a:tc>
              </a:tr>
              <a:tr h="272000">
                <a:tc>
                  <a:txBody>
                    <a:bodyPr wrap="square"/>
                    <a:lstStyle/>
                    <a:p>
                      <a:pPr algn="l"/>
                      <a:r>
                        <a:rPr b="0" sz="1000">
                          <a:solidFill>
                            <a:srgbClr val="3B0064"/>
                          </a:solidFill>
                          <a:latin typeface="Calibri"/>
                        </a:rPr>
                        <a:t>Official MDCH flag</a:t>
                      </a:r>
                    </a:p>
                  </a:txBody>
                  <a:tcPr marL="45720" marR="45720" marT="9144" marB="9144" anchor="ctr">
                    <a:solidFill>
                      <a:srgbClr val="FFFFFF"/>
                    </a:solidFill>
                  </a:tcPr>
                </a:tc>
                <a:tc>
                  <a:txBody>
                    <a:bodyPr wrap="square"/>
                    <a:lstStyle/>
                    <a:p>
                      <a:pPr algn="ctr"/>
                      <a:r>
                        <a:rPr b="1" sz="1000">
                          <a:solidFill>
                            <a:srgbClr val="3B0064"/>
                          </a:solidFill>
                          <a:latin typeface="Calibri"/>
                        </a:rPr>
                        <a:t>−0.0480*** (0.0075)</a:t>
                      </a:r>
                    </a:p>
                  </a:txBody>
                  <a:tcPr marL="45720" marR="45720" marT="9144" marB="9144" anchor="ctr">
                    <a:solidFill>
                      <a:srgbClr val="FFFFFF"/>
                    </a:solidFill>
                  </a:tcPr>
                </a:tc>
                <a:tc>
                  <a:txBody>
                    <a:bodyPr wrap="square"/>
                    <a:lstStyle/>
                    <a:p>
                      <a:pPr algn="ctr"/>
                      <a:r>
                        <a:rPr b="1" sz="1000">
                          <a:solidFill>
                            <a:srgbClr val="3B0064"/>
                          </a:solidFill>
                          <a:latin typeface="Calibri"/>
                        </a:rPr>
                        <a:t>−0.0516*** (0.0075)</a:t>
                      </a:r>
                    </a:p>
                  </a:txBody>
                  <a:tcPr marL="45720" marR="45720" marT="9144" marB="9144"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8F5FF"/>
        </a:solidFill>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algn="l" indent="0" marL="0">
              <a:buNone/>
            </a:pPr>
            <a:r>
              <a:rPr lang="en-US" sz="2800" b="1" dirty="0">
                <a:solidFill>
                  <a:srgbClr val="3B0064"/>
                </a:solidFill>
                <a:latin typeface="Calibri" pitchFamily="34" charset="0"/>
                <a:ea typeface="Calibri" pitchFamily="34" charset="-122"/>
                <a:cs typeface="Calibri" pitchFamily="34" charset="-120"/>
              </a:rPr>
              <a:t>Anticipated Issues</a:t>
            </a:r>
            <a:endParaRPr lang="en-US" sz="2800" dirty="0"/>
          </a:p>
        </p:txBody>
      </p:sp>
      <p:sp>
        <p:nvSpPr>
          <p:cNvPr id="3" name="Shape 1"/>
          <p:cNvSpPr/>
          <p:nvPr/>
        </p:nvSpPr>
        <p:spPr>
          <a:xfrm>
            <a:off x="457200" y="777240"/>
            <a:ext cx="8229600" cy="27432"/>
          </a:xfrm>
          <a:prstGeom prst="rect">
            <a:avLst/>
          </a:prstGeom>
          <a:solidFill>
            <a:srgbClr val="660099"/>
          </a:solidFill>
          <a:ln/>
        </p:spPr>
        <p:txBody>
          <a:bodyPr/>
          <a:p/>
        </p:txBody>
      </p:sp>
      <p:sp>
        <p:nvSpPr>
          <p:cNvPr id="4" name="Shape 2"/>
          <p:cNvSpPr/>
          <p:nvPr/>
        </p:nvSpPr>
        <p:spPr>
          <a:xfrm>
            <a:off x="411480" y="932688"/>
            <a:ext cx="4023360" cy="1783080"/>
          </a:xfrm>
          <a:prstGeom prst="roundRect">
            <a:avLst>
              <a:gd name="adj" fmla="val 5128"/>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5" name="Shape 3"/>
          <p:cNvSpPr/>
          <p:nvPr/>
        </p:nvSpPr>
        <p:spPr>
          <a:xfrm>
            <a:off x="548640" y="1042416"/>
            <a:ext cx="822960" cy="256032"/>
          </a:xfrm>
          <a:prstGeom prst="roundRect">
            <a:avLst>
              <a:gd name="adj" fmla="val 17857"/>
            </a:avLst>
          </a:prstGeom>
          <a:solidFill>
            <a:srgbClr val="028090"/>
          </a:solidFill>
          <a:ln/>
        </p:spPr>
        <p:txBody>
          <a:bodyPr/>
          <a:p/>
        </p:txBody>
      </p:sp>
      <p:sp>
        <p:nvSpPr>
          <p:cNvPr id="6" name="Text 4"/>
          <p:cNvSpPr/>
          <p:nvPr/>
        </p:nvSpPr>
        <p:spPr>
          <a:xfrm>
            <a:off x="548640" y="1042416"/>
            <a:ext cx="82296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Low</a:t>
            </a:r>
            <a:endParaRPr lang="en-US" sz="800" dirty="0"/>
          </a:p>
        </p:txBody>
      </p:sp>
      <p:sp>
        <p:nvSpPr>
          <p:cNvPr id="7" name="Text 5"/>
          <p:cNvSpPr/>
          <p:nvPr/>
        </p:nvSpPr>
        <p:spPr>
          <a:xfrm>
            <a:off x="1463040" y="1024128"/>
            <a:ext cx="2834640" cy="320040"/>
          </a:xfrm>
          <a:prstGeom prst="rect">
            <a:avLst/>
          </a:prstGeom>
          <a:noFill/>
          <a:ln/>
        </p:spPr>
        <p:txBody>
          <a:bodyPr wrap="square" rtlCol="0" anchor="ctr"/>
          <a:lstStyle/>
          <a:p>
            <a:pPr indent="0" marL="0">
              <a:buNone/>
            </a:pPr>
            <a:r>
              <a:rPr lang="en-US" sz="1100" b="1" dirty="0">
                <a:solidFill>
                  <a:srgbClr val="3B0064"/>
                </a:solidFill>
                <a:latin typeface="Calibri" pitchFamily="34" charset="0"/>
                <a:ea typeface="Calibri" pitchFamily="34" charset="-122"/>
                <a:cs typeface="Calibri" pitchFamily="34" charset="-120"/>
              </a:rPr>
              <a:t>BSG &amp; Best Start Foods bundling</a:t>
            </a:r>
            <a:endParaRPr lang="en-US" sz="1100" dirty="0"/>
          </a:p>
        </p:txBody>
      </p:sp>
      <p:sp>
        <p:nvSpPr>
          <p:cNvPr id="8" name="Text 6"/>
          <p:cNvSpPr/>
          <p:nvPr/>
        </p:nvSpPr>
        <p:spPr>
          <a:xfrm>
            <a:off x="576072" y="1408176"/>
            <a:ext cx="3703320" cy="123444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BSG becomes automatic alongside SCP from Nov 2022. Fix: restrict sample to ages 6–15, outside BSG/Best Start Foods eligibility.</a:t>
            </a:r>
            <a:endParaRPr lang="en-US" sz="1050" dirty="0"/>
          </a:p>
        </p:txBody>
      </p:sp>
      <p:sp>
        <p:nvSpPr>
          <p:cNvPr id="9" name="Shape 7"/>
          <p:cNvSpPr/>
          <p:nvPr/>
        </p:nvSpPr>
        <p:spPr>
          <a:xfrm>
            <a:off x="4709160" y="932688"/>
            <a:ext cx="4023360" cy="1783080"/>
          </a:xfrm>
          <a:prstGeom prst="roundRect">
            <a:avLst>
              <a:gd name="adj" fmla="val 5128"/>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10" name="Shape 8"/>
          <p:cNvSpPr/>
          <p:nvPr/>
        </p:nvSpPr>
        <p:spPr>
          <a:xfrm>
            <a:off x="4846320" y="1042416"/>
            <a:ext cx="822960" cy="256032"/>
          </a:xfrm>
          <a:prstGeom prst="roundRect">
            <a:avLst>
              <a:gd name="adj" fmla="val 17857"/>
            </a:avLst>
          </a:prstGeom>
          <a:solidFill>
            <a:srgbClr val="660099"/>
          </a:solidFill>
          <a:ln/>
        </p:spPr>
        <p:txBody>
          <a:bodyPr/>
          <a:p/>
        </p:txBody>
      </p:sp>
      <p:sp>
        <p:nvSpPr>
          <p:cNvPr id="11" name="Text 9"/>
          <p:cNvSpPr/>
          <p:nvPr/>
        </p:nvSpPr>
        <p:spPr>
          <a:xfrm>
            <a:off x="4846320" y="1042416"/>
            <a:ext cx="82296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Moderate</a:t>
            </a:r>
            <a:endParaRPr lang="en-US" sz="800" dirty="0"/>
          </a:p>
        </p:txBody>
      </p:sp>
      <p:sp>
        <p:nvSpPr>
          <p:cNvPr id="12" name="Text 10"/>
          <p:cNvSpPr/>
          <p:nvPr/>
        </p:nvSpPr>
        <p:spPr>
          <a:xfrm>
            <a:off x="5760720" y="1024128"/>
            <a:ext cx="2834640" cy="320040"/>
          </a:xfrm>
          <a:prstGeom prst="rect">
            <a:avLst/>
          </a:prstGeom>
          <a:noFill/>
          <a:ln/>
        </p:spPr>
        <p:txBody>
          <a:bodyPr wrap="square" rtlCol="0" anchor="ctr"/>
          <a:lstStyle/>
          <a:p>
            <a:pPr indent="0" marL="0">
              <a:buNone/>
            </a:pPr>
            <a:r>
              <a:rPr lang="en-US" sz="1100" b="1" dirty="0">
                <a:solidFill>
                  <a:srgbClr val="3B0064"/>
                </a:solidFill>
                <a:latin typeface="Calibri" pitchFamily="34" charset="0"/>
                <a:ea typeface="Calibri" pitchFamily="34" charset="-122"/>
                <a:cs typeface="Calibri" pitchFamily="34" charset="-120"/>
              </a:rPr>
              <a:t>Staggered rollout (2021 vs 2022)</a:t>
            </a:r>
            <a:endParaRPr lang="en-US" sz="1100" dirty="0"/>
          </a:p>
        </p:txBody>
      </p:sp>
      <p:sp>
        <p:nvSpPr>
          <p:cNvPr id="13" name="Text 11"/>
          <p:cNvSpPr/>
          <p:nvPr/>
        </p:nvSpPr>
        <p:spPr>
          <a:xfrm>
            <a:off x="4873752" y="1408176"/>
            <a:ext cx="3703320" cy="123444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~100k under-6s already treated before Nov 2022, contaminating the pre-period. Fix: restrict to ages 6–15; Callaway-Sant’Anna explored as an extension.</a:t>
            </a:r>
            <a:endParaRPr lang="en-US" sz="1050" dirty="0"/>
          </a:p>
        </p:txBody>
      </p:sp>
      <p:sp>
        <p:nvSpPr>
          <p:cNvPr id="14" name="Shape 12"/>
          <p:cNvSpPr/>
          <p:nvPr/>
        </p:nvSpPr>
        <p:spPr>
          <a:xfrm>
            <a:off x="411480" y="2852928"/>
            <a:ext cx="4023360" cy="1783080"/>
          </a:xfrm>
          <a:prstGeom prst="roundRect">
            <a:avLst>
              <a:gd name="adj" fmla="val 5128"/>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15" name="Shape 13"/>
          <p:cNvSpPr/>
          <p:nvPr/>
        </p:nvSpPr>
        <p:spPr>
          <a:xfrm>
            <a:off x="548640" y="2962656"/>
            <a:ext cx="822960" cy="256032"/>
          </a:xfrm>
          <a:prstGeom prst="roundRect">
            <a:avLst>
              <a:gd name="adj" fmla="val 17857"/>
            </a:avLst>
          </a:prstGeom>
          <a:solidFill>
            <a:srgbClr val="028090"/>
          </a:solidFill>
          <a:ln/>
        </p:spPr>
        <p:txBody>
          <a:bodyPr/>
          <a:p/>
        </p:txBody>
      </p:sp>
      <p:sp>
        <p:nvSpPr>
          <p:cNvPr id="16" name="Text 14"/>
          <p:cNvSpPr/>
          <p:nvPr/>
        </p:nvSpPr>
        <p:spPr>
          <a:xfrm>
            <a:off x="548640" y="2962656"/>
            <a:ext cx="82296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Low</a:t>
            </a:r>
            <a:endParaRPr lang="en-US" sz="800" dirty="0"/>
          </a:p>
        </p:txBody>
      </p:sp>
      <p:sp>
        <p:nvSpPr>
          <p:cNvPr id="17" name="Text 15"/>
          <p:cNvSpPr/>
          <p:nvPr/>
        </p:nvSpPr>
        <p:spPr>
          <a:xfrm>
            <a:off x="1463040" y="2944368"/>
            <a:ext cx="2834640" cy="320040"/>
          </a:xfrm>
          <a:prstGeom prst="rect">
            <a:avLst/>
          </a:prstGeom>
          <a:noFill/>
          <a:ln/>
        </p:spPr>
        <p:txBody>
          <a:bodyPr wrap="square" rtlCol="0" anchor="ctr"/>
          <a:lstStyle/>
          <a:p>
            <a:pPr indent="0" marL="0">
              <a:buNone/>
            </a:pPr>
            <a:r>
              <a:rPr lang="en-US" sz="1100" b="1" dirty="0">
                <a:solidFill>
                  <a:srgbClr val="3B0064"/>
                </a:solidFill>
                <a:latin typeface="Calibri" pitchFamily="34" charset="0"/>
                <a:ea typeface="Calibri" pitchFamily="34" charset="-122"/>
                <a:cs typeface="Calibri" pitchFamily="34" charset="-120"/>
              </a:rPr>
              <a:t>MDCH question revision in 2023/24</a:t>
            </a:r>
            <a:endParaRPr lang="en-US" sz="1100" dirty="0"/>
          </a:p>
        </p:txBody>
      </p:sp>
      <p:sp>
        <p:nvSpPr>
          <p:cNvPr id="18" name="Text 16"/>
          <p:cNvSpPr/>
          <p:nvPr/>
        </p:nvSpPr>
        <p:spPr>
          <a:xfrm>
            <a:off x="576072" y="3328416"/>
            <a:ext cx="3703320" cy="123444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DWP revised MDCH questions in 2023/24 — verified non-differential across countries (χ²=0.84, p=0.36), but shrinks the FYE2024 item-level sample.</a:t>
            </a:r>
            <a:endParaRPr lang="en-US" sz="1050" dirty="0"/>
          </a:p>
        </p:txBody>
      </p:sp>
      <p:sp>
        <p:nvSpPr>
          <p:cNvPr id="19" name="Shape 17"/>
          <p:cNvSpPr/>
          <p:nvPr/>
        </p:nvSpPr>
        <p:spPr>
          <a:xfrm>
            <a:off x="4709160" y="2852928"/>
            <a:ext cx="4023360" cy="1783080"/>
          </a:xfrm>
          <a:prstGeom prst="roundRect">
            <a:avLst>
              <a:gd name="adj" fmla="val 5128"/>
            </a:avLst>
          </a:prstGeom>
          <a:solidFill>
            <a:srgbClr val="FFFFFF"/>
          </a:solidFill>
          <a:ln/>
          <a:effectLst>
            <a:outerShdw sx="100000" sy="100000" kx="0" ky="0" algn="bl" rotWithShape="0" blurRad="101600" dist="25400" dir="2700000">
              <a:srgbClr val="000000">
                <a:alpha val="12000"/>
              </a:srgbClr>
            </a:outerShdw>
          </a:effectLst>
        </p:spPr>
        <p:txBody>
          <a:bodyPr/>
          <a:p/>
        </p:txBody>
      </p:sp>
      <p:sp>
        <p:nvSpPr>
          <p:cNvPr id="20" name="Shape 18"/>
          <p:cNvSpPr/>
          <p:nvPr/>
        </p:nvSpPr>
        <p:spPr>
          <a:xfrm>
            <a:off x="4846320" y="2962656"/>
            <a:ext cx="822960" cy="256032"/>
          </a:xfrm>
          <a:prstGeom prst="roundRect">
            <a:avLst>
              <a:gd name="adj" fmla="val 17857"/>
            </a:avLst>
          </a:prstGeom>
          <a:solidFill>
            <a:srgbClr val="660099"/>
          </a:solidFill>
          <a:ln/>
        </p:spPr>
        <p:txBody>
          <a:bodyPr/>
          <a:p/>
        </p:txBody>
      </p:sp>
      <p:sp>
        <p:nvSpPr>
          <p:cNvPr id="21" name="Text 19"/>
          <p:cNvSpPr/>
          <p:nvPr/>
        </p:nvSpPr>
        <p:spPr>
          <a:xfrm>
            <a:off x="4846320" y="2962656"/>
            <a:ext cx="82296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Moderate</a:t>
            </a:r>
            <a:endParaRPr lang="en-US" sz="800" dirty="0"/>
          </a:p>
        </p:txBody>
      </p:sp>
      <p:sp>
        <p:nvSpPr>
          <p:cNvPr id="22" name="Text 20"/>
          <p:cNvSpPr/>
          <p:nvPr/>
        </p:nvSpPr>
        <p:spPr>
          <a:xfrm>
            <a:off x="5760720" y="2944368"/>
            <a:ext cx="2834640" cy="320040"/>
          </a:xfrm>
          <a:prstGeom prst="rect">
            <a:avLst/>
          </a:prstGeom>
          <a:noFill/>
          <a:ln/>
        </p:spPr>
        <p:txBody>
          <a:bodyPr wrap="square" rtlCol="0" anchor="ctr"/>
          <a:lstStyle/>
          <a:p>
            <a:pPr indent="0" marL="0">
              <a:buNone/>
            </a:pPr>
            <a:r>
              <a:rPr lang="en-US" sz="1100" b="1" dirty="0">
                <a:solidFill>
                  <a:srgbClr val="3B0064"/>
                </a:solidFill>
                <a:latin typeface="Calibri" pitchFamily="34" charset="0"/>
                <a:ea typeface="Calibri" pitchFamily="34" charset="-122"/>
                <a:cs typeface="Calibri" pitchFamily="34" charset="-120"/>
              </a:rPr>
              <a:t>Multiple testing &amp; labour market</a:t>
            </a:r>
            <a:endParaRPr lang="en-US" sz="1100" dirty="0"/>
          </a:p>
        </p:txBody>
      </p:sp>
      <p:sp>
        <p:nvSpPr>
          <p:cNvPr id="23" name="Text 21"/>
          <p:cNvSpPr/>
          <p:nvPr/>
        </p:nvSpPr>
        <p:spPr>
          <a:xfrm>
            <a:off x="4873752" y="3328416"/>
            <a:ext cx="3703320" cy="1234440"/>
          </a:xfrm>
          <a:prstGeom prst="rect">
            <a:avLst/>
          </a:prstGeom>
          <a:noFill/>
          <a:ln/>
        </p:spPr>
        <p:txBody>
          <a:bodyPr wrap="square" lIns="0" tIns="0" rIns="0" bIns="0" rtlCol="0" anchor="ctr"/>
          <a:lstStyle/>
          <a:p>
            <a:pPr marL="228600" indent="-228600">
              <a:spcAft>
                <a:spcPts val="500"/>
              </a:spcAft>
              <a:buSzPct val="100000"/>
              <a:buChar char="•"/>
            </a:pPr>
            <a:r>
              <a:rPr lang="en-US" sz="950" dirty="0">
                <a:solidFill>
                  <a:srgbClr val="1A1A2E"/>
                </a:solidFill>
                <a:latin typeface="Calibri" pitchFamily="34" charset="0"/>
                <a:ea typeface="Calibri" pitchFamily="34" charset="-122"/>
                <a:cs typeface="Calibri" pitchFamily="34" charset="-120"/>
              </a:rPr>
              <a:t>Multiple testing (12 items): addressed via BH-FDR correction.</a:t>
            </a:r>
            <a:endParaRPr lang="en-US" sz="950" dirty="0"/>
          </a:p>
          <a:p>
            <a:pPr marL="228600" indent="-228600">
              <a:spcAft>
                <a:spcPts val="500"/>
              </a:spcAft>
              <a:buSzPct val="100000"/>
              <a:buChar char="•"/>
            </a:pPr>
            <a:r>
              <a:rPr lang="en-US" sz="950" dirty="0">
                <a:solidFill>
                  <a:srgbClr val="1A1A2E"/>
                </a:solidFill>
                <a:latin typeface="Calibri" pitchFamily="34" charset="0"/>
                <a:ea typeface="Calibri" pitchFamily="34" charset="-122"/>
                <a:cs typeface="Calibri" pitchFamily="34" charset="-120"/>
              </a:rPr>
              <a:t>Labour market: UC-exit effects — no aggregate effect found (Nesom et al. 2025).</a:t>
            </a:r>
            <a:endParaRPr lang="en-US" sz="950" dirty="0"/>
          </a:p>
          <a:p>
            <a:pPr marL="228600" indent="-228600">
              <a:buSzPct val="100000"/>
              <a:buChar char="•"/>
            </a:pPr>
            <a:r>
              <a:rPr lang="en-US" sz="950" dirty="0">
                <a:solidFill>
                  <a:srgbClr val="1A1A2E"/>
                </a:solidFill>
                <a:latin typeface="Calibri" pitchFamily="34" charset="0"/>
                <a:ea typeface="Calibri" pitchFamily="34" charset="-122"/>
                <a:cs typeface="Calibri" pitchFamily="34" charset="-120"/>
              </a:rPr>
              <a:t>Pre-trends: some covariates diverge pre-2022 — addressed via covariate adjustment.</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3B0064"/>
        </a:solidFill>
      </p:bgPr>
    </p:bg>
    <p:spTree>
      <p:nvGrpSpPr>
        <p:cNvPr id="1" name=""/>
        <p:cNvGrpSpPr/>
        <p:nvPr/>
      </p:nvGrpSpPr>
      <p:grpSpPr>
        <a:xfrm>
          <a:off x="0" y="0"/>
          <a:ext cx="0" cy="0"/>
          <a:chOff x="0" y="0"/>
          <a:chExt cx="0" cy="0"/>
        </a:xfrm>
      </p:grpSpPr>
      <p:sp>
        <p:nvSpPr>
          <p:cNvPr id="2" name="Shape 0"/>
          <p:cNvSpPr/>
          <p:nvPr/>
        </p:nvSpPr>
        <p:spPr>
          <a:xfrm>
            <a:off x="6858000" y="-457200"/>
            <a:ext cx="3200400" cy="3200400"/>
          </a:xfrm>
          <a:prstGeom prst="ellipse">
            <a:avLst/>
          </a:prstGeom>
          <a:solidFill>
            <a:srgbClr val="9333C8">
              <a:alpha val="20000"/>
            </a:srgbClr>
          </a:solidFill>
          <a:ln/>
        </p:spPr>
      </p:sp>
      <p:sp>
        <p:nvSpPr>
          <p:cNvPr id="3" name="Shape 1"/>
          <p:cNvSpPr/>
          <p:nvPr/>
        </p:nvSpPr>
        <p:spPr>
          <a:xfrm>
            <a:off x="-457200" y="5486400"/>
            <a:ext cx="2286000" cy="2286000"/>
          </a:xfrm>
          <a:prstGeom prst="ellipse">
            <a:avLst/>
          </a:prstGeom>
          <a:solidFill>
            <a:srgbClr val="F5A623">
              <a:alpha val="15000"/>
            </a:srgbClr>
          </a:solidFill>
          <a:ln/>
        </p:spPr>
      </p:sp>
      <p:sp>
        <p:nvSpPr>
          <p:cNvPr id="4" name="Text 2"/>
          <p:cNvSpPr/>
          <p:nvPr/>
        </p:nvSpPr>
        <p:spPr>
          <a:xfrm>
            <a:off x="640080" y="411480"/>
            <a:ext cx="7863840" cy="411480"/>
          </a:xfrm>
          <a:prstGeom prst="rect">
            <a:avLst/>
          </a:prstGeom>
          <a:noFill/>
          <a:ln/>
        </p:spPr>
        <p:txBody>
          <a:bodyPr wrap="square" rtlCol="0" anchor="ctr"/>
          <a:lstStyle/>
          <a:p>
            <a:pPr indent="0" marL="0">
              <a:buNone/>
            </a:pPr>
            <a:r>
              <a:rPr lang="en-US" sz="1400" b="1" spc="300" kern="0" dirty="0">
                <a:solidFill>
                  <a:srgbClr val="F5A623"/>
                </a:solidFill>
                <a:latin typeface="Calibri" pitchFamily="34" charset="0"/>
                <a:ea typeface="Calibri" pitchFamily="34" charset="-122"/>
                <a:cs typeface="Calibri" pitchFamily="34" charset="-120"/>
              </a:rPr>
              <a:t>Summary</a:t>
            </a:r>
            <a:endParaRPr lang="en-US" sz="1400" dirty="0"/>
          </a:p>
        </p:txBody>
      </p:sp>
      <p:sp>
        <p:nvSpPr>
          <p:cNvPr id="5" name="Shape 3"/>
          <p:cNvSpPr/>
          <p:nvPr/>
        </p:nvSpPr>
        <p:spPr>
          <a:xfrm>
            <a:off x="548640" y="932688"/>
            <a:ext cx="8046720" cy="685800"/>
          </a:xfrm>
          <a:prstGeom prst="roundRect">
            <a:avLst>
              <a:gd name="adj" fmla="val 9333"/>
            </a:avLst>
          </a:prstGeom>
          <a:solidFill>
            <a:srgbClr val="FFFFFF">
              <a:alpha val="8000"/>
            </a:srgbClr>
          </a:solidFill>
          <a:ln/>
        </p:spPr>
      </p:sp>
      <p:sp>
        <p:nvSpPr>
          <p:cNvPr id="6" name="Text 4"/>
          <p:cNvSpPr/>
          <p:nvPr/>
        </p:nvSpPr>
        <p:spPr>
          <a:xfrm>
            <a:off x="731520" y="1024128"/>
            <a:ext cx="1371600" cy="457200"/>
          </a:xfrm>
          <a:prstGeom prst="rect">
            <a:avLst/>
          </a:prstGeom>
          <a:noFill/>
          <a:ln/>
        </p:spPr>
        <p:txBody>
          <a:bodyPr wrap="square"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Question</a:t>
            </a:r>
            <a:endParaRPr lang="en-US" sz="1100" dirty="0"/>
          </a:p>
        </p:txBody>
      </p:sp>
      <p:sp>
        <p:nvSpPr>
          <p:cNvPr id="7" name="Text 5"/>
          <p:cNvSpPr/>
          <p:nvPr/>
        </p:nvSpPr>
        <p:spPr>
          <a:xfrm>
            <a:off x="2148840" y="1024128"/>
            <a:ext cx="6263640" cy="4572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Which specific dimensions of child material deprivation does the £25/week SCP reduce?</a:t>
            </a:r>
            <a:endParaRPr lang="en-US" sz="1100" dirty="0"/>
          </a:p>
        </p:txBody>
      </p:sp>
      <p:sp>
        <p:nvSpPr>
          <p:cNvPr id="8" name="Shape 6"/>
          <p:cNvSpPr/>
          <p:nvPr/>
        </p:nvSpPr>
        <p:spPr>
          <a:xfrm>
            <a:off x="548640" y="1728216"/>
            <a:ext cx="8046720" cy="685800"/>
          </a:xfrm>
          <a:prstGeom prst="roundRect">
            <a:avLst>
              <a:gd name="adj" fmla="val 9333"/>
            </a:avLst>
          </a:prstGeom>
          <a:solidFill>
            <a:srgbClr val="FFFFFF">
              <a:alpha val="8000"/>
            </a:srgbClr>
          </a:solidFill>
          <a:ln/>
        </p:spPr>
      </p:sp>
      <p:sp>
        <p:nvSpPr>
          <p:cNvPr id="9" name="Text 7"/>
          <p:cNvSpPr/>
          <p:nvPr/>
        </p:nvSpPr>
        <p:spPr>
          <a:xfrm>
            <a:off x="731520" y="1819656"/>
            <a:ext cx="1371600" cy="457200"/>
          </a:xfrm>
          <a:prstGeom prst="rect">
            <a:avLst/>
          </a:prstGeom>
          <a:noFill/>
          <a:ln/>
        </p:spPr>
        <p:txBody>
          <a:bodyPr wrap="square"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Data</a:t>
            </a:r>
            <a:endParaRPr lang="en-US" sz="1100" dirty="0"/>
          </a:p>
        </p:txBody>
      </p:sp>
      <p:sp>
        <p:nvSpPr>
          <p:cNvPr id="10" name="Text 8"/>
          <p:cNvSpPr/>
          <p:nvPr/>
        </p:nvSpPr>
        <p:spPr>
          <a:xfrm>
            <a:off x="2148840" y="1819656"/>
            <a:ext cx="6263640" cy="4572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HBAI individual microdata, 2016/17–2023/24, ~99k child-year observations with 12 binary MDCH items</a:t>
            </a:r>
            <a:endParaRPr lang="en-US" sz="1100" dirty="0"/>
          </a:p>
        </p:txBody>
      </p:sp>
      <p:sp>
        <p:nvSpPr>
          <p:cNvPr id="11" name="Shape 9"/>
          <p:cNvSpPr/>
          <p:nvPr/>
        </p:nvSpPr>
        <p:spPr>
          <a:xfrm>
            <a:off x="548640" y="2523744"/>
            <a:ext cx="8046720" cy="685800"/>
          </a:xfrm>
          <a:prstGeom prst="roundRect">
            <a:avLst>
              <a:gd name="adj" fmla="val 9333"/>
            </a:avLst>
          </a:prstGeom>
          <a:solidFill>
            <a:srgbClr val="FFFFFF">
              <a:alpha val="8000"/>
            </a:srgbClr>
          </a:solidFill>
          <a:ln/>
        </p:spPr>
      </p:sp>
      <p:sp>
        <p:nvSpPr>
          <p:cNvPr id="12" name="Text 10"/>
          <p:cNvSpPr/>
          <p:nvPr/>
        </p:nvSpPr>
        <p:spPr>
          <a:xfrm>
            <a:off x="731520" y="2615184"/>
            <a:ext cx="1371600" cy="457200"/>
          </a:xfrm>
          <a:prstGeom prst="rect">
            <a:avLst/>
          </a:prstGeom>
          <a:noFill/>
          <a:ln/>
        </p:spPr>
        <p:txBody>
          <a:bodyPr wrap="square"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Method</a:t>
            </a:r>
            <a:endParaRPr lang="en-US" sz="1100" dirty="0"/>
          </a:p>
        </p:txBody>
      </p:sp>
      <p:sp>
        <p:nvSpPr>
          <p:cNvPr id="13" name="Text 11"/>
          <p:cNvSpPr/>
          <p:nvPr/>
        </p:nvSpPr>
        <p:spPr>
          <a:xfrm>
            <a:off x="2148840" y="2615184"/>
            <a:ext cx="6263640" cy="4572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Three-stage: benchmark linear DiD → DML-DiD (Chang 2020) → item-level decomposition with FDR correction</a:t>
            </a:r>
            <a:endParaRPr lang="en-US" sz="1100" dirty="0"/>
          </a:p>
        </p:txBody>
      </p:sp>
      <p:sp>
        <p:nvSpPr>
          <p:cNvPr id="14" name="Shape 12"/>
          <p:cNvSpPr/>
          <p:nvPr/>
        </p:nvSpPr>
        <p:spPr>
          <a:xfrm>
            <a:off x="548640" y="3319272"/>
            <a:ext cx="8046720" cy="685800"/>
          </a:xfrm>
          <a:prstGeom prst="roundRect">
            <a:avLst>
              <a:gd name="adj" fmla="val 9333"/>
            </a:avLst>
          </a:prstGeom>
          <a:solidFill>
            <a:srgbClr val="FFFFFF">
              <a:alpha val="8000"/>
            </a:srgbClr>
          </a:solidFill>
          <a:ln/>
        </p:spPr>
      </p:sp>
      <p:sp>
        <p:nvSpPr>
          <p:cNvPr id="15" name="Text 13"/>
          <p:cNvSpPr/>
          <p:nvPr/>
        </p:nvSpPr>
        <p:spPr>
          <a:xfrm>
            <a:off x="731520" y="3410712"/>
            <a:ext cx="1371600" cy="457200"/>
          </a:xfrm>
          <a:prstGeom prst="rect">
            <a:avLst/>
          </a:prstGeom>
          <a:noFill/>
          <a:ln/>
        </p:spPr>
        <p:txBody>
          <a:bodyPr wrap="square"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Contribution</a:t>
            </a:r>
            <a:endParaRPr lang="en-US" sz="1100" dirty="0"/>
          </a:p>
        </p:txBody>
      </p:sp>
      <p:sp>
        <p:nvSpPr>
          <p:cNvPr id="16" name="Text 14"/>
          <p:cNvSpPr/>
          <p:nvPr/>
        </p:nvSpPr>
        <p:spPr>
          <a:xfrm>
            <a:off x="2148840" y="3410712"/>
            <a:ext cx="6263640" cy="4572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First item-level causal decomposition of SCP effects on 12 MDCH dimensions; robustness test of linear vs. DML covariate adjustment; measurement error framework for hardship outcome choice</a:t>
            </a:r>
            <a:endParaRPr lang="en-US" sz="1100" dirty="0"/>
          </a:p>
        </p:txBody>
      </p:sp>
      <p:sp>
        <p:nvSpPr>
          <p:cNvPr id="17" name="Shape 15"/>
          <p:cNvSpPr/>
          <p:nvPr/>
        </p:nvSpPr>
        <p:spPr>
          <a:xfrm>
            <a:off x="548640" y="4114800"/>
            <a:ext cx="8046720" cy="685800"/>
          </a:xfrm>
          <a:prstGeom prst="roundRect">
            <a:avLst>
              <a:gd name="adj" fmla="val 9333"/>
            </a:avLst>
          </a:prstGeom>
          <a:solidFill>
            <a:srgbClr val="FFFFFF">
              <a:alpha val="8000"/>
            </a:srgbClr>
          </a:solidFill>
          <a:ln/>
        </p:spPr>
      </p:sp>
      <p:sp>
        <p:nvSpPr>
          <p:cNvPr id="18" name="Text 16"/>
          <p:cNvSpPr/>
          <p:nvPr/>
        </p:nvSpPr>
        <p:spPr>
          <a:xfrm>
            <a:off x="731520" y="4206240"/>
            <a:ext cx="1371600" cy="457200"/>
          </a:xfrm>
          <a:prstGeom prst="rect">
            <a:avLst/>
          </a:prstGeom>
          <a:noFill/>
          <a:ln/>
        </p:spPr>
        <p:txBody>
          <a:bodyPr wrap="square"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Status</a:t>
            </a:r>
            <a:endParaRPr lang="en-US" sz="1100" dirty="0"/>
          </a:p>
        </p:txBody>
      </p:sp>
      <p:sp>
        <p:nvSpPr>
          <p:cNvPr id="19" name="Text 17"/>
          <p:cNvSpPr/>
          <p:nvPr/>
        </p:nvSpPr>
        <p:spPr>
          <a:xfrm>
            <a:off x="2148840" y="4206240"/>
            <a:ext cx="6263640" cy="4572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Literature reviewed; empirical strategy designed; HBAI data sourced (UKDA-5828); analysis pipeline built and ready to run.</a:t>
            </a:r>
            <a:endParaRPr lang="en-US" sz="1100" dirty="0"/>
          </a:p>
        </p:txBody>
      </p:sp>
      <p:sp>
        <p:nvSpPr>
          <p:cNvPr id="20" name="Text 18"/>
          <p:cNvSpPr/>
          <p:nvPr/>
        </p:nvSpPr>
        <p:spPr>
          <a:xfrm>
            <a:off x="640080" y="4526280"/>
            <a:ext cx="7863840" cy="292608"/>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Thank you — questions welcome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Scottish Child Payment — Dissertation Presentation</dc:title>
  <dc:subject>PptxGenJS Presentation</dc:subject>
  <dc:creator>PptxGenJS</dc:creator>
  <cp:lastModifiedBy>PptxGenJS</cp:lastModifiedBy>
  <cp:revision>1</cp:revision>
  <dcterms:created xsi:type="dcterms:W3CDTF">2026-06-23T08:08:26Z</dcterms:created>
  <dcterms:modified xsi:type="dcterms:W3CDTF">2026-06-23T08:08:26Z</dcterms:modified>
</cp:coreProperties>
</file>