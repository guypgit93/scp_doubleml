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Scotland (treated)</c:v>
                </c:pt>
              </c:strCache>
            </c:strRef>
          </c:tx>
          <c:spPr>
            <a:solidFill>
              <a:srgbClr val="6600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2016/17</c:v>
                  </c:pt>
                  <c:pt idx="1">
                    <c:v>2017/18</c:v>
                  </c:pt>
                  <c:pt idx="2">
                    <c:v>2018/19</c:v>
                  </c:pt>
                  <c:pt idx="3">
                    <c:v>2019/20</c:v>
                  </c:pt>
                  <c:pt idx="4">
                    <c:v>2021/22</c:v>
                  </c:pt>
                  <c:pt idx="5">
                    <c:v>2022/23</c:v>
                  </c:pt>
                  <c:pt idx="6">
                    <c:v>2023/24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5654</c:v>
                </c:pt>
                <c:pt idx="1">
                  <c:v>6001</c:v>
                </c:pt>
                <c:pt idx="2">
                  <c:v>5896</c:v>
                </c:pt>
                <c:pt idx="3">
                  <c:v>5563</c:v>
                </c:pt>
                <c:pt idx="4">
                  <c:v>3583</c:v>
                </c:pt>
                <c:pt idx="5">
                  <c:v>3872</c:v>
                </c:pt>
                <c:pt idx="6">
                  <c:v>3289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England (control)</c:v>
                </c:pt>
              </c:strCache>
            </c:strRef>
          </c:tx>
          <c:spPr>
            <a:solidFill>
              <a:srgbClr val="C4A8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2016/17</c:v>
                  </c:pt>
                  <c:pt idx="1">
                    <c:v>2017/18</c:v>
                  </c:pt>
                  <c:pt idx="2">
                    <c:v>2018/19</c:v>
                  </c:pt>
                  <c:pt idx="3">
                    <c:v>2019/20</c:v>
                  </c:pt>
                  <c:pt idx="4">
                    <c:v>2021/22</c:v>
                  </c:pt>
                  <c:pt idx="5">
                    <c:v>2022/23</c:v>
                  </c:pt>
                  <c:pt idx="6">
                    <c:v>2023/24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30909</c:v>
                </c:pt>
                <c:pt idx="1">
                  <c:v>31756</c:v>
                </c:pt>
                <c:pt idx="2">
                  <c:v>30688</c:v>
                </c:pt>
                <c:pt idx="3">
                  <c:v>31151</c:v>
                </c:pt>
                <c:pt idx="4">
                  <c:v>25484</c:v>
                </c:pt>
                <c:pt idx="5">
                  <c:v>42129</c:v>
                </c:pt>
                <c:pt idx="6">
                  <c:v>25892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5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20 minutes. No completed work required — I'll cover: the question and why it matters, data, methodology, initial descriptives, next steps, and anticipated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gap: Stewart et al. (CASE 2025) found 8-9pp reduction in composite material deprivation. But composite scores mask which items drive the effect. And their linear controls can't capture non-linear relationships between income, family structure and deprivation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staggered rollout is important: the 2021 introduction (under-6s) and 2022 expansion (under-16s) create two treatment cohorts. My main analysis focuses on the 2022 expansion since it's more substantial and affects the full child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I'm filling: Stewart et al. is the closest paper, but uses linear controls and a composite outcome. No paper combines DML with DiD for UK child deprivation, and no paper decomposes SCP effects across individual deprivation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ethnicity is NOT available in UKDS public-access HBAI (safe room only). The CASE paper included ethnicity as a control — this is a limitation I acknowledge. S_OE_AHC and the family type/tenure variables need to be added to the prep script before the DML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Scotland is notably smaller than England — important for power calculations in the DML stage. The 2022/23 England figure is larger due to survey design changes that year. The MDCH module ~99k is the subset with full deprivation data (not all children are asked all items depending on year and eligibility).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recoding fix was important — the raw TAB file codes 1=has item (not deprived) and 2=lacks item (deprived), opposite to what the original script assumed. Prevalence rates will be shown once the corrected script has been run. Official HBAI stats suggest ~15% material deprivation for all UK children, higher for low-income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stages build on each other. Stage 1 validates. Stage 2 tests robustness of Stage 1 to flexible adjustment. Stage 3 is where the original policy insight comes from — no existing paper has done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parallel trends assumption is the key one to verify. The pre-2022 years are 2016/17, 2017/18, 2018/19, 2019/20 and 2021/22. We have 5 pre-treatment years to test this. Best Start Foods (Scotland only, introduced 2019) is a potential confounder — it provides food vouchers to low-income families, which could affect both food security and material deprivation trends independently of SCP.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 of DML: by partialling out the effect of X on both Y and D before estimating the treatment effect, we remove confounding from X regardless of how complex that relationship is. The cross-fitting prevents overfitting bias. With ~99k observations and 5 folds, each fold has ~20k — adequate for ML learners with our covariate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CASE paper results are our anchor. If our Stage 1 estimate replicates theirs, that validates our data pipeline. The key question then is whether Stage 2 (DML) differs and what the item-level decomposition shows. Scripts need to be run to fill in TBC cells — priority for the next two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substantive issue is the staggered rollout — do I use just the 2022 expansion (cleaner but loses 2021 variation) or try to use both cohorts (more complex, needs Callaway-Sant'Anna)? My plan is to use 2022 as the main analysis and have the staggered version as a robustness check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13-day timeline is tight but feasible. The covariate addition to the prep script is a small code change (15 minutes). Parallel trends verification is the critical quality gate — if pre-trends look bad, the whole DiD is in trouble. The DML implementation using doubleml is well-documented and should be 1-2 days once the data is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emphasising: (1) the data is clean and ready to run, (2) the methodology is established and well-referenced, (3) the contribution is clear and differentiated from the existing literature. The item-level decomposition is the genuinely new thing — no existing paper has asked which deprivation dimensions £25/week affects.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9333C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5943600"/>
            <a:ext cx="2286000" cy="2286000"/>
          </a:xfrm>
          <a:prstGeom prst="ellipse">
            <a:avLst/>
          </a:prstGeom>
          <a:solidFill>
            <a:srgbClr val="F5A62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Economics Dissertation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Dimensions of Child Deprivation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Scottish Child Payment Reduce?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Double Machine Learning Difference-in-Differences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32004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 Pigott  |  University of Manchester  |  June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HBAI UKDA-5828 (2016/17–2023/24)  |  Methods: DML-DiD  |  20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32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pays £25/week per child to low-income Scottish families — the largest devolved social security innovation since 2016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exist (CASE/LSE 2025) but use composite deprivation outcomes and linear covariate controls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has asked: which specific items of child deprivation does the payment reduce?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has tested robustness to flexible, data-driven covariate adjustment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932688"/>
            <a:ext cx="3886200" cy="3474720"/>
          </a:xfrm>
          <a:prstGeom prst="roundRect">
            <a:avLst>
              <a:gd name="adj" fmla="val 3158"/>
            </a:avLst>
          </a:prstGeom>
          <a:solidFill>
            <a:srgbClr val="3B0064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dimensions of child material deprivation does the Scottish Child Payment reduce, and are these effects robust to flexible covariate adjustment?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contributions: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3090672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decomposition of MDCH (12 binary indicators)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DML-DiD vs. linear DiD robustness check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Background: The Scottish Child Payment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298448"/>
            <a:ext cx="196596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51560"/>
            <a:ext cx="502920" cy="502920"/>
          </a:xfrm>
          <a:prstGeom prst="ellipse">
            <a:avLst/>
          </a:prstGeom>
          <a:solidFill>
            <a:srgbClr val="9333C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41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2103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Introduced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£10/week per child under 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&amp; legacy benefits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~30,000 children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298448"/>
            <a:ext cx="196596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1051560"/>
            <a:ext cx="502920" cy="502920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841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1664208"/>
            <a:ext cx="2103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to £20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2148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doubles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unchanged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~55,000 children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1298448"/>
            <a:ext cx="196596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1051560"/>
            <a:ext cx="502920" cy="502920"/>
          </a:xfrm>
          <a:prstGeom prst="ellipse">
            <a:avLst/>
          </a:prstGeom>
          <a:solidFill>
            <a:srgbClr val="3B0064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841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1664208"/>
            <a:ext cx="2103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Expansion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2148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to all under-16s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again to £25/week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~300,000 children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105156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841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69480" y="1664208"/>
            <a:ext cx="2103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609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£26.70/week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60920" y="2148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Uprated with inflation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 gap vs. England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further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52044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EDE0F7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63016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identification feature: staggered rollout creates quasi-experimental variation. Scotland (treated) vs. England (control) — same UK macroeconomic environment, same FRS/HBAI survey, different benefit generosity.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Literature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32688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3268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3B0064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34440"/>
            <a:ext cx="2651760" cy="155448"/>
          </a:xfrm>
          <a:prstGeom prst="rect">
            <a:avLst/>
          </a:prstGeom>
          <a:solidFill>
            <a:srgbClr val="3B006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Evaluations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481328"/>
            <a:ext cx="243230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Stewart et al. (CASE, 2025): DiD on HBAI/FRS data — composite MDCH + food insecurity. Linear controls. Finds 8–9pp reduction.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(2024): Descriptive trends in Scottish child poverty vs. rest of UK.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composite outcomes. Neither uses DML or item-level analysis.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32688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3268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660099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234440"/>
            <a:ext cx="2651760" cy="155448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Measurement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481328"/>
            <a:ext cx="243230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Nolan &amp; Whelan (1996): Income and deprivation capture different populations.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Whelan &amp; Maître (2005): LCA reveals distinct deprivation profiles in EU-SILC.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Alkire &amp; Foster (2011): Multidimensional poverty counting — theoretical basis for item-level analysis.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932688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3268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9333C8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1234440"/>
            <a:ext cx="2651760" cy="155448"/>
          </a:xfrm>
          <a:prstGeom prst="rect">
            <a:avLst/>
          </a:prstGeom>
          <a:solidFill>
            <a:srgbClr val="9333C8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ML Methods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0488" y="1481328"/>
            <a:ext cx="243230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Chernozhukov et al. (2018): DML framework — Neyman orthogonality + cross-fitting for valid ML-based inference.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(2020): DML-DiD estimator — directly applicable to this design.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Sant'Anna &amp; Zhao (2020): Doubly robust DiD — additional robustness check.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HBAI Individual Microdata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326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Coverage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UKDA-5828: HBAI harmonised individual-level microdata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stacked TAB files covering 2016/17–2023/24 in constant 2023/24 prices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observation per child — unit of analysis is child-year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weight: GS_INDCH (official HBAI child weight)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Restrictions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0215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 (GVTREGN = 12) and England only — Wales and NI excluded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aged 16 and under (SCP eligibility)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2020/21 excluded — COVID survey disruption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Years: 2016/17 to 2023/24 (7 survey years)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932688"/>
            <a:ext cx="3840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0241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Indicators (12 binary)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1344168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MDCH_ACT, MDCH_BED, MDCH_CEL, MDCH_COAT, MDCH_EQP, MDCH_HOL, MDCH_LES, MDCH_PLAY, MDCH_PLY, MDCH_TEA, MDCH_TRP, MDCH_VEG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37760" y="2304288"/>
            <a:ext cx="3840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23957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/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2715768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FOODSEC (food security, 3-level), LOWINCMDCH (low income + deprivation), mdch_any, mdch_severe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3675888"/>
            <a:ext cx="3840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37673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Covariates (to add)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4087368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S_OE_AHC (equivalised income), NEWFAMBU_KID (family type), TENHBAI (tenure), DEPCHLDB (no. children), AGE, GVTREGN (region)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Description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3B0064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251,867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Child-year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2016/17–2023/24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2020/21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87752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7752" y="1078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99,157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87752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 module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87752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full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12-item deprivation data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64024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3B0064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64024" y="1078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28,299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64024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64024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 survey years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(treated group)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40296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0296" y="1078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222,008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40296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40296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 survey years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 group)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25146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by Year and Group (child-year observations)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" y="2788920"/>
          <a:ext cx="83210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Variables: 12 Binary MDCH Indicators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Material Deprivation Module — HBAI individual files (2010/11–2023/24)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280160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1261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9496" y="1591056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MDCH_ACT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9496" y="18105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trips, clubs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87752" y="11887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280160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12" name="Text 10"/>
          <p:cNvSpPr/>
          <p:nvPr/>
        </p:nvSpPr>
        <p:spPr>
          <a:xfrm>
            <a:off x="3026664" y="1261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Bed/bedroom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15768" y="1591056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MDCH_BED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15768" y="18105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64024" y="11887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73752" y="1280160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17" name="Text 15"/>
          <p:cNvSpPr/>
          <p:nvPr/>
        </p:nvSpPr>
        <p:spPr>
          <a:xfrm>
            <a:off x="5202936" y="1261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1591056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MDCH_CEL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92040" y="18105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Birthday, festivals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40296" y="11887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50024" y="1280160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22" name="Text 20"/>
          <p:cNvSpPr/>
          <p:nvPr/>
        </p:nvSpPr>
        <p:spPr>
          <a:xfrm>
            <a:off x="7379208" y="1261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coat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68312" y="1591056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MDCH_COAT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068312" y="18105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coat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226771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" y="2359152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equip.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9496" y="2670048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MDCH_EQP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9496" y="288950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uniform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87752" y="226771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97480" y="2359152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32" name="Text 30"/>
          <p:cNvSpPr/>
          <p:nvPr/>
        </p:nvSpPr>
        <p:spPr>
          <a:xfrm>
            <a:off x="3026664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15768" y="2670048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MDCH_HOL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15768" y="288950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home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64024" y="226771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73752" y="2359152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37" name="Text 35"/>
          <p:cNvSpPr/>
          <p:nvPr/>
        </p:nvSpPr>
        <p:spPr>
          <a:xfrm>
            <a:off x="5202936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2670048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MDCH_LES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92040" y="288950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activities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40296" y="226771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50024" y="2359152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42" name="Text 40"/>
          <p:cNvSpPr/>
          <p:nvPr/>
        </p:nvSpPr>
        <p:spPr>
          <a:xfrm>
            <a:off x="7379208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play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068312" y="2670048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MDCH_PLAY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068312" y="288950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Games/toys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1480" y="3346704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21208" y="3438144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" y="3419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play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9496" y="3749040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MDCH_PLY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9496" y="3968496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area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87752" y="3346704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697480" y="3438144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52" name="Text 50"/>
          <p:cNvSpPr/>
          <p:nvPr/>
        </p:nvSpPr>
        <p:spPr>
          <a:xfrm>
            <a:off x="3026664" y="3419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fruit/veg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715768" y="3749040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MDCH_TEA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715768" y="3968496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portions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64024" y="3346704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73752" y="3438144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57" name="Text 55"/>
          <p:cNvSpPr/>
          <p:nvPr/>
        </p:nvSpPr>
        <p:spPr>
          <a:xfrm>
            <a:off x="5202936" y="3419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Trips/outings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892040" y="3749040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MDCH_TRP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892040" y="3968496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trips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40296" y="3346704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050024" y="3438144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62" name="Text 60"/>
          <p:cNvSpPr/>
          <p:nvPr/>
        </p:nvSpPr>
        <p:spPr>
          <a:xfrm>
            <a:off x="7379208" y="3419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068312" y="3749040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MDCH_VEG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068312" y="3968496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vegetables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11480" y="4425696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EDE0F7"/>
          </a:solidFill>
          <a:ln/>
        </p:spPr>
      </p:sp>
      <p:sp>
        <p:nvSpPr>
          <p:cNvPr id="66" name="Text 64"/>
          <p:cNvSpPr/>
          <p:nvPr/>
        </p:nvSpPr>
        <p:spPr>
          <a:xfrm>
            <a:off x="548640" y="4498848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Coding: 1 = has item → 0 (not deprived)   |   2 = lacks due to cost → 1 (deprived)   |   3 / –9 = N/A → NaN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mdch_count = sum(12 items)  |  mdch_any = any deprivation  |  mdch_severe = 3+ items  |  Prevalence rates: TBC after script run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Three-Stage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→ Extension → Decomposition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51760" cy="3429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463040"/>
            <a:ext cx="457200" cy="457200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1463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892808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Stewart et al. (2025) design on HBAI data.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probability model: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= α + δ(Scot×Post) + βX + ε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composite mdch_any and mdch_severe.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our baseline — validates data pipeline against CASE paper.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3429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463040"/>
            <a:ext cx="457200" cy="457200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59352" y="1463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ML DiD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1892808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linear controls with flexible ML adjustment (Chang 2020).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~ f(X)  and  D ~ g(X)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regress residuals on residuals.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Learners: lasso + random forest.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Cross-fitting (k=5) for valid inference.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composite outcomes — compare to Stage 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51760" cy="3429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5352" y="1463040"/>
            <a:ext cx="457200" cy="457200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16" name="Text 14"/>
          <p:cNvSpPr/>
          <p:nvPr/>
        </p:nvSpPr>
        <p:spPr>
          <a:xfrm>
            <a:off x="624535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93992" y="1463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Decomposition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1892808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DML-DiD to each of 12 MDCH items separately.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specific deprivation dimensions respond to SCP.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testing correction: Benjamini-Hochberg FDR.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question: do effects concentrate on basics (coat, bed) or experiential items (holiday, trips)?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Difference-in-Differences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32688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Specification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3B006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9903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Y_it  =  α  +  δ (Scotland_i × Post_t)  +  β X_it  +  γ_t  +  ε_it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treatment effect of interest  |  </a:t>
            </a:r>
            <a:pPr indent="0" marL="0">
              <a:buNone/>
            </a:pPr>
            <a:r>
              <a:rPr lang="en-US" sz="10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 after Nov 2022 expansion  |  </a:t>
            </a:r>
            <a:pPr indent="0" marL="0">
              <a:buNone/>
            </a:pPr>
            <a:r>
              <a:rPr lang="en-US" sz="10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γ_t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year fixed effects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(X_it) — linear in benchmark: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07792"/>
            <a:ext cx="44805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Equivalised household income (S_OE_AHC)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type — lone parent vs. couple (NEWFAMBU_KID)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tenure (TENHBAI)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dependent children (DEPCHLDB)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age (AGE), year FE (γ_t)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93268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Assumption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12801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DE0F7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1389888"/>
            <a:ext cx="32918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trends: absent SCP, Scotland and England would have had parallel deprivation trends.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in pre-treatment period (2016/17–2021/22). Parallel trends plots shown once data is run.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threats: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3090672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Scotland's different industrial/housing composition — mitigated by controlling for tenure and family type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Start Foods and other Scottish benefits confound the Scotland×Post term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ethnicity variable (safe room only)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Double Machine Learning DiD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326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DML over linear DiD?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controls assume additive, separable effects — likely wrong for income × family type interactions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estimates nuisance functions f(X) and g(X) flexibly using ML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inference despite using ML: Neyman orthogonality + cross-fitting eliminate regularisation bias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comparable to Stage 1 — same data, same outcome, different adjustment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4930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Chang (2020), Econometrics Journal 23(2)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Python doubleml package (Bach et al. 2022)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92040" y="932688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(Chang 2020 DML-DiD)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1298448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3B0064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1453896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53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0064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389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16642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folds for cross-fitting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2194560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EDE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2350008"/>
            <a:ext cx="411480" cy="411480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2286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outcome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2120" y="25603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Ỹ = Y − f̂(X)  using lasso / random forest on out-of-fold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090672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3B0064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0" y="324612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0064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31821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treatment 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34564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D̃ = D − ĝ(X)  using same ML learner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986784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EDE0F7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4142232"/>
            <a:ext cx="411480" cy="411480"/>
          </a:xfrm>
          <a:prstGeom prst="ellipse">
            <a:avLst/>
          </a:prstGeom>
          <a:solidFill>
            <a:srgbClr val="660099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40782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435254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of Ỹ on D̃ — yields orthogonal, low-bias ATT estimate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point: Stewart et al. (CASE 2025) — same HBAI data, linear DiD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DE0F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 to −9 pp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material deprivation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23113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 vs. England, post-2022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29844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DE0F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 to −9 pp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23113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 vs. England, post-2022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129844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DE0F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children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223113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from deprivation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697480"/>
            <a:ext cx="8321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8346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Estimates — Pending Data Pipeline Run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218688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trends plots: pre-2022 trends in mdch_any for Scotland vs. England  [TBC]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DiD (Stage 1): replication of composite deprivation estimate  [TBC]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prevalences by year and group: which items drive the composite effect?  [TBC]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DML-DiD (Stage 2): estimate δ with flexible covariate adjustment — compare to Stage 1  [TBC]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Issues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3268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4241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66009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424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63040" y="10241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ethnicity covariate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1408176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Ethnicity (5 categories) is in the HBAI safe room only — not UKDS public access. CASE paper included it. Limitation: our conditional parallel trends assumption is less well-supported. Mitigation: include all other available covariates; acknowledge as limitation.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3268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4241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66009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424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0" y="10241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rollout (2021 vs 2022)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3752" y="1408176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introduced Feb 2021 (under-6s) and expanded Nov 2022 (all under-16s). Main analysis focuses on 2022 expansion. Risk: 2021 introduction partially affects pre-period. Mitigation: sensitivity test excluding 2021/22 from pre-treatment period.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85292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6265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626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63040" y="2944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 question revision in 2023/24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" y="3328416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DWP revised deprivation questions in 2023/24 (75/25 split sample). CASE paper notes relative DiD comparison remains valid if revision is not systematically different across countries. Monitoring required.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85292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6265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626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60720" y="2944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testing across 12 items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3752" y="3328416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DML-DiD on 12 items separately inflates false discovery rate. Mitigation: Benjamini-Hochberg FDR correction applied across all item p-values. Present both uncorrected and corrected results.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3268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32688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3B0064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88720"/>
            <a:ext cx="4023360" cy="155448"/>
          </a:xfrm>
          <a:prstGeom prst="rect">
            <a:avLst/>
          </a:prstGeom>
          <a:solidFill>
            <a:srgbClr val="3B006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08176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corrected HBAI prep script — produce hbai_lca.csv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covariates: S_OE_AHC, NEWFAMBU_KID, TENHBAI, NEWFAMBU_UC to KEEP_VARS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summary statistics and parallel trends plots (02_hbai_summary_stats.py)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3268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32688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3B0064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188720"/>
            <a:ext cx="4023360" cy="155448"/>
          </a:xfrm>
          <a:prstGeom prst="rect">
            <a:avLst/>
          </a:prstGeom>
          <a:solidFill>
            <a:srgbClr val="3B006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05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4–7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408176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run Stage 1: benchmark DiD on composite outcomes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parallel trends in pre-period — visual and formal test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CASE paper estimate as validation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89864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898648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3B0064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154680"/>
            <a:ext cx="4023360" cy="155448"/>
          </a:xfrm>
          <a:prstGeom prst="rect">
            <a:avLst/>
          </a:prstGeom>
          <a:solidFill>
            <a:srgbClr val="3B006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71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8–11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374136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Stage 2: DML-DiD using doubleml Python package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lasso and random forest learners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δ_DML to δ_linear across composite outcomes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89864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98648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3B0064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3154680"/>
            <a:ext cx="4023360" cy="155448"/>
          </a:xfrm>
          <a:prstGeom prst="rect">
            <a:avLst/>
          </a:prstGeom>
          <a:solidFill>
            <a:srgbClr val="3B0064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971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12–13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374136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Stage 3: item-level DML-DiD for all 12 MDCH items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Benjamini-Hochberg FDR correction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 initial results section and methodology chapter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B0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9333C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5486400"/>
            <a:ext cx="2286000" cy="22860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804672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241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024128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dimensions of child material deprivation does the £25/week SCP reduce?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28216"/>
            <a:ext cx="804672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196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819656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HBAI individual microdata, 2016/17–2023/24, ~99k child-year observations with 12 binary MDCH items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23744"/>
            <a:ext cx="804672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151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615184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Three-stage: benchmark linear DiD → DML-DiD (Chang 2020) → item-level decomposition with FDR correction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19272"/>
            <a:ext cx="804672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10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3410712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item-level causal decomposition of SCP effects; robustness test of CASE paper's linear controls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804672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420624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built; scripts corrected; ready to run. Results in 13 days.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Scottish Child Payment — Dissertation Presentation</dc:title>
  <dc:subject>PptxGenJS Presentation</dc:subject>
  <dc:creator>PptxGenJS</dc:creator>
  <cp:lastModifiedBy>PptxGenJS</cp:lastModifiedBy>
  <cp:revision>1</cp:revision>
  <dcterms:created xsi:type="dcterms:W3CDTF">2026-06-23T08:08:26Z</dcterms:created>
  <dcterms:modified xsi:type="dcterms:W3CDTF">2026-06-23T08:08:26Z</dcterms:modified>
</cp:coreProperties>
</file>